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70" r:id="rId9"/>
    <p:sldId id="269" r:id="rId10"/>
    <p:sldId id="262" r:id="rId11"/>
    <p:sldId id="263" r:id="rId12"/>
    <p:sldId id="264" r:id="rId13"/>
    <p:sldId id="265" r:id="rId14"/>
    <p:sldId id="266" r:id="rId15"/>
    <p:sldId id="26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03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NBA.com lines 149-160, 170-172, 179-188, 192-199, 207-214, 218-221.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NBA.com lines 149-160: week-long gathering in Chicago where prospects participate in skills drills, scrimmages, get official anthropometric measurements and meet NBA team officials.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NBA.com lines 165-172, 179-188, 192-199, 207-214, 218-221.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NBA.com lines 179-188 for required shooting drills; lines 192-199 and 218-221 for optional live action and five-on-five scrimmages; lines 207-214 for medical/movement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4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science.columbia.edu/news/2016/nba-hackers-put-hero-ball-hunch-to-the-test/?utm_source=chatgpt.co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5920" y="4703866"/>
            <a:ext cx="4899259" cy="1347055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r>
              <a:rPr lang="en" altLang="zh-CN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" altLang="zh-CN" dirty="0" err="1">
                <a:solidFill>
                  <a:schemeClr val="accent1">
                    <a:lumMod val="75000"/>
                  </a:schemeClr>
                </a:solidFill>
              </a:rPr>
              <a:t>www.nba.com</a:t>
            </a:r>
            <a:r>
              <a:rPr lang="en" altLang="zh-CN" dirty="0">
                <a:solidFill>
                  <a:schemeClr val="accent1">
                    <a:lumMod val="75000"/>
                  </a:schemeClr>
                </a:solidFill>
              </a:rPr>
              <a:t>/news/nba-draft-combine-overview-2026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/mnt/data/nba_combine_vertical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30352" y="685800"/>
            <a:ext cx="1691640" cy="320040"/>
          </a:xfrm>
          <a:prstGeom prst="roundRect">
            <a:avLst>
              <a:gd name="adj" fmla="val 20000"/>
            </a:avLst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40080" y="807077"/>
            <a:ext cx="1472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NBA DRAFT 2026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806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</a:rPr>
              <a:t>NBA Draft Combine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</a:rPr>
              <a:t>是什么？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30352" y="331012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新秀进入 NBA 前的集中评估：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体测、技能测试、对抗、医疗与球队面试。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30352" y="4617720"/>
            <a:ext cx="4480560" cy="0"/>
          </a:xfrm>
          <a:prstGeom prst="line">
            <a:avLst/>
          </a:prstGeom>
          <a:noFill/>
          <a:ln w="19050">
            <a:solidFill>
              <a:srgbClr val="C7D2E1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6"/>
          <p:cNvSpPr/>
          <p:nvPr/>
        </p:nvSpPr>
        <p:spPr>
          <a:xfrm>
            <a:off x="530352" y="4809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7635240" y="6291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May 10–17 · Chicago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38428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5B8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1. Combine 的核心定位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C8AA5"/>
                </a:solidFill>
              </a:rPr>
              <a:t>它不是单一“比赛”，而是一个多维度评估场。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3152" cy="1417320"/>
          </a:xfrm>
          <a:prstGeom prst="rect">
            <a:avLst/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77824" y="179222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集中在一周内进行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203704"/>
            <a:ext cx="28620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2026 AWS NBA Draft Combine </a:t>
            </a:r>
            <a:r>
              <a:rPr lang="en-US" sz="1050" dirty="0" err="1">
                <a:solidFill>
                  <a:srgbClr val="4B5563"/>
                </a:solidFill>
              </a:rPr>
              <a:t>在芝加哥举行，top</a:t>
            </a:r>
            <a:r>
              <a:rPr lang="en-US" sz="1050" dirty="0">
                <a:solidFill>
                  <a:srgbClr val="4B5563"/>
                </a:solidFill>
              </a:rPr>
              <a:t> Draft prospects 的 week‑long gathering。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EE5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73152" cy="141732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77824" y="3465576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</a:rPr>
              <a:t>面向 NBA 球队决策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3877056"/>
            <a:ext cx="28620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球员获得官方测量、训练测试、对抗机会，并可以与 NBA team officials 会面。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231136"/>
            <a:ext cx="274320" cy="320040"/>
          </a:xfrm>
          <a:prstGeom prst="chevron">
            <a:avLst/>
          </a:prstGeom>
          <a:solidFill>
            <a:srgbClr val="B5C3DA"/>
          </a:solidFill>
          <a:ln w="12700">
            <a:solidFill>
              <a:srgbClr val="B5C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193024" y="2231136"/>
            <a:ext cx="274320" cy="320040"/>
          </a:xfrm>
          <a:prstGeom prst="chevron">
            <a:avLst/>
          </a:prstGeom>
          <a:solidFill>
            <a:srgbClr val="B5C3DA"/>
          </a:solidFill>
          <a:ln w="12700">
            <a:solidFill>
              <a:srgbClr val="B5C3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1481328" cy="1060704"/>
          </a:xfrm>
          <a:prstGeom prst="roundRect">
            <a:avLst>
              <a:gd name="adj" fmla="val 6034"/>
            </a:avLst>
          </a:prstGeom>
          <a:solidFill>
            <a:srgbClr val="233876"/>
          </a:solidFill>
          <a:ln w="12700">
            <a:solidFill>
              <a:srgbClr val="23387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645152" y="212140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Prospects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新秀候选人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65392" y="1874520"/>
            <a:ext cx="1481328" cy="1060704"/>
          </a:xfrm>
          <a:prstGeom prst="roundRect">
            <a:avLst>
              <a:gd name="adj" fmla="val 6034"/>
            </a:avLst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638544" y="212140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Stations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测试/训练站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9640" y="1874520"/>
            <a:ext cx="1481328" cy="1060704"/>
          </a:xfrm>
          <a:prstGeom prst="roundRect">
            <a:avLst>
              <a:gd name="adj" fmla="val 6034"/>
            </a:avLst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22792" y="212140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球队评估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99432" y="3794760"/>
            <a:ext cx="59893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111827"/>
                </a:solidFill>
              </a:rPr>
              <a:t>最终不是看某一项“赢没赢”，而是把身体条件、运动能力、投篮、实战反应、健康风险与面试信息放在一起判断。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4617720" y="5001768"/>
            <a:ext cx="5715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B5563"/>
                </a:solidFill>
              </a:rPr>
              <a:t>一句话：Draft Combine 是 NBA 球队在选秀前集中收集“可比较数据 + 篮球场景表现”的平台。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1138428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5B8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2. 具体会测什么？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7C8AA5"/>
                </a:solidFill>
              </a:rPr>
              <a:t>五类评估模块：身体、运动能力、投篮、实战、健康</a:t>
            </a:r>
            <a:r>
              <a:rPr lang="en-US" sz="1250" dirty="0">
                <a:solidFill>
                  <a:srgbClr val="7C8AA5"/>
                </a:solidFill>
              </a:rPr>
              <a:t>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03504" y="1417320"/>
            <a:ext cx="29992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32104" y="1618488"/>
            <a:ext cx="713232" cy="713232"/>
          </a:xfrm>
          <a:prstGeom prst="ellipse">
            <a:avLst/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32104" y="1801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36776" y="16184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Anthropometric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身体静态测量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832104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5563"/>
                </a:solidFill>
              </a:rPr>
              <a:t>身高（裸足）、体重、臂展、站立摸高、手长/手宽、体脂率。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99432" y="1417320"/>
            <a:ext cx="29992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828032" y="1618488"/>
            <a:ext cx="713232" cy="713232"/>
          </a:xfrm>
          <a:prstGeom prst="ellipse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28032" y="1801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32704" y="16184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Strength &amp; Agility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力量与敏捷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828032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5563"/>
                </a:solidFill>
              </a:rPr>
              <a:t>No-step vertical、Max vertical、Pro Lane Drill、3/4 场冲刺、Lane Shuttle。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8595360" y="1417320"/>
            <a:ext cx="29992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823960" y="161848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823960" y="18013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28632" y="161848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Shooting Drills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投篮测试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8823960" y="2377440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5563"/>
                </a:solidFill>
              </a:rPr>
              <a:t>Off-the-dribble、Spot-up、Star Drill、Side-mid-side、Free throw。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606040" y="3685032"/>
            <a:ext cx="29992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834640" y="3886200"/>
            <a:ext cx="713232" cy="7132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834640" y="40690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39312" y="3886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Live Action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攻防场景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2834640" y="464515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5563"/>
                </a:solidFill>
              </a:rPr>
              <a:t>2v2/3v3 模拟动作、4v4 转换、4v4 半场；属于 optional。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611112" y="3685032"/>
            <a:ext cx="29992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839712" y="3886200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839712" y="40690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44384" y="3886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Medical &amp; Movement</a:t>
            </a:r>
            <a:endParaRPr lang="en-US" sz="1360" dirty="0"/>
          </a:p>
          <a:p>
            <a:pPr marL="0" indent="0">
              <a:buNone/>
            </a:pPr>
            <a:r>
              <a:rPr lang="en-US" sz="1360" b="1" dirty="0">
                <a:solidFill>
                  <a:srgbClr val="111827"/>
                </a:solidFill>
              </a:rPr>
              <a:t>医学与动作评估</a:t>
            </a:r>
            <a:endParaRPr lang="en-US" sz="1360" dirty="0"/>
          </a:p>
        </p:txBody>
      </p:sp>
      <p:sp>
        <p:nvSpPr>
          <p:cNvPr id="28" name="Text 26"/>
          <p:cNvSpPr/>
          <p:nvPr/>
        </p:nvSpPr>
        <p:spPr>
          <a:xfrm>
            <a:off x="6839712" y="464515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4B5563"/>
                </a:solidFill>
              </a:rPr>
              <a:t>生物力学、功能动作、等长力量、体检、病史、血检与 DEXA。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1645920" y="56235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0B1F44"/>
                </a:solidFill>
              </a:rPr>
              <a:t>Combine 数据具有“横向可比性”——同一批新秀在同一标准流程下完成测试，球队更容易做对比。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1138428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5B8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</a:rPr>
              <a:t>3. 球队如何使用 Combine 信息？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7C8AA5"/>
                </a:solidFill>
              </a:rPr>
              <a:t>把“测试数字”放回篮球场景，而不是机械排名。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2514600" cy="987552"/>
          </a:xfrm>
          <a:prstGeom prst="roundRect">
            <a:avLst>
              <a:gd name="adj" fmla="val 6481"/>
            </a:avLst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33272" y="1764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官方数据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33272" y="215798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</a:rPr>
              <a:t>尺寸 / 弹跳 / 速度 / 投篮命中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419856" y="1929384"/>
            <a:ext cx="137160" cy="256032"/>
          </a:xfrm>
          <a:prstGeom prst="chevron">
            <a:avLst/>
          </a:prstGeom>
          <a:solidFill>
            <a:srgbClr val="BBC7D8"/>
          </a:solidFill>
          <a:ln w="12700">
            <a:solidFill>
              <a:srgbClr val="BBC7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02736" y="1600200"/>
            <a:ext cx="2514600" cy="987552"/>
          </a:xfrm>
          <a:prstGeom prst="roundRect">
            <a:avLst>
              <a:gd name="adj" fmla="val 6481"/>
            </a:avLst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767328" y="1764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场景表现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3767328" y="215798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</a:rPr>
              <a:t>对抗选择 / 防守习惯 / 处理球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153912" y="1929384"/>
            <a:ext cx="137160" cy="256032"/>
          </a:xfrm>
          <a:prstGeom prst="chevron">
            <a:avLst/>
          </a:prstGeom>
          <a:solidFill>
            <a:srgbClr val="BBC7D8"/>
          </a:solidFill>
          <a:ln w="12700">
            <a:solidFill>
              <a:srgbClr val="BBC7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336792" y="1600200"/>
            <a:ext cx="2514600" cy="987552"/>
          </a:xfrm>
          <a:prstGeom prst="roundRect">
            <a:avLst>
              <a:gd name="adj" fmla="val 648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01384" y="1764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健康风险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501384" y="215798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</a:rPr>
              <a:t>体检 / 病史 / 动作功能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887968" y="1929384"/>
            <a:ext cx="137160" cy="256032"/>
          </a:xfrm>
          <a:prstGeom prst="chevron">
            <a:avLst/>
          </a:prstGeom>
          <a:solidFill>
            <a:srgbClr val="BBC7D8"/>
          </a:solidFill>
          <a:ln w="12700">
            <a:solidFill>
              <a:srgbClr val="BBC7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070848" y="1600200"/>
            <a:ext cx="2514600" cy="987552"/>
          </a:xfrm>
          <a:prstGeom prst="roundRect">
            <a:avLst>
              <a:gd name="adj" fmla="val 648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35440" y="1764792"/>
            <a:ext cx="2185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</a:rPr>
              <a:t>球队判断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235440" y="215798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FFFFFF"/>
                </a:solidFill>
              </a:rPr>
              <a:t>顺位价值 / 角色适配 / 风险收益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4965192" cy="2240280"/>
          </a:xfrm>
          <a:prstGeom prst="roundRect">
            <a:avLst>
              <a:gd name="adj" fmla="val 3265"/>
            </a:avLst>
          </a:prstGeom>
          <a:solidFill>
            <a:srgbClr val="F5F7F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52144" y="34107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</a:rPr>
              <a:t>哪些是“必须完成”？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70432" y="3977640"/>
            <a:ext cx="4343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B5563"/>
                </a:solidFill>
              </a:rPr>
              <a:t>shooting drills are required of each participant</a:t>
            </a:r>
            <a:r>
              <a:rPr lang="zh-CN" altLang="en-US" sz="1340" dirty="0">
                <a:solidFill>
                  <a:srgbClr val="4B5563"/>
                </a:solidFill>
              </a:rPr>
              <a:t>。</a:t>
            </a:r>
            <a:r>
              <a:rPr lang="en-US" sz="1340" dirty="0" err="1">
                <a:solidFill>
                  <a:srgbClr val="4B5563"/>
                </a:solidFill>
              </a:rPr>
              <a:t>投篮测试是每位参加者都要完成的标准项目</a:t>
            </a:r>
            <a:r>
              <a:rPr lang="en-US" sz="1340" dirty="0">
                <a:solidFill>
                  <a:srgbClr val="4B5563"/>
                </a:solidFill>
              </a:rPr>
              <a:t>。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6355080" y="3154680"/>
            <a:ext cx="4965192" cy="2240280"/>
          </a:xfrm>
          <a:prstGeom prst="roundRect">
            <a:avLst>
              <a:gd name="adj" fmla="val 3265"/>
            </a:avLst>
          </a:prstGeom>
          <a:solidFill>
            <a:srgbClr val="F5F7FB"/>
          </a:solidFill>
          <a:ln w="1270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638544" y="34107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</a:rPr>
              <a:t>哪些是“可选择”？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656832" y="3977640"/>
            <a:ext cx="4343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4B5563"/>
                </a:solidFill>
              </a:rPr>
              <a:t>Live action offense vs. defense drills 和 five-on-five scrimmages</a:t>
            </a:r>
            <a:r>
              <a:rPr lang="zh-CN" altLang="en-US" sz="1340" dirty="0">
                <a:solidFill>
                  <a:srgbClr val="4B5563"/>
                </a:solidFill>
              </a:rPr>
              <a:t>。</a:t>
            </a:r>
            <a:r>
              <a:rPr lang="en-US" sz="1340" dirty="0" err="1">
                <a:solidFill>
                  <a:srgbClr val="4B5563"/>
                </a:solidFill>
              </a:rPr>
              <a:t>对抗并非等于所有球员都完整参加</a:t>
            </a:r>
            <a:r>
              <a:rPr lang="en-US" sz="1340" dirty="0">
                <a:solidFill>
                  <a:srgbClr val="4B5563"/>
                </a:solidFill>
              </a:rPr>
              <a:t>。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868680" y="5742432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78408" y="585216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核心结论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2176272" y="577900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44"/>
                </a:solidFill>
              </a:rPr>
              <a:t>Combine = 官方标准化数据 + 篮球场景验证 + 医疗与面试补充，用来支持球队选秀决策。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1384280" y="64282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5B8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54EBD6-1577-34B7-0BF2-664D2582A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" y="0"/>
            <a:ext cx="12177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0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58CF47-F874-24E4-2F5D-F9CB34BF7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5575" cy="68621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632F7D-55BA-D69E-1F92-4831E138FA09}"/>
              </a:ext>
            </a:extLst>
          </p:cNvPr>
          <p:cNvSpPr txBox="1"/>
          <p:nvPr/>
        </p:nvSpPr>
        <p:spPr>
          <a:xfrm>
            <a:off x="8553650" y="3105834"/>
            <a:ext cx="2569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/>
              <a:t>运球后投篮</a:t>
            </a:r>
          </a:p>
        </p:txBody>
      </p:sp>
    </p:spTree>
    <p:extLst>
      <p:ext uri="{BB962C8B-B14F-4D97-AF65-F5344CB8AC3E}">
        <p14:creationId xmlns:p14="http://schemas.microsoft.com/office/powerpoint/2010/main" val="325921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6327348-A5CE-17AE-DFC6-7D837E53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340600" cy="690141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4A7555-218A-FE65-EDED-B01A9B5E50C2}"/>
              </a:ext>
            </a:extLst>
          </p:cNvPr>
          <p:cNvSpPr txBox="1"/>
          <p:nvPr/>
        </p:nvSpPr>
        <p:spPr>
          <a:xfrm>
            <a:off x="7825339" y="3105834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/>
              <a:t>三分定点接球投篮</a:t>
            </a:r>
          </a:p>
        </p:txBody>
      </p:sp>
    </p:spTree>
    <p:extLst>
      <p:ext uri="{BB962C8B-B14F-4D97-AF65-F5344CB8AC3E}">
        <p14:creationId xmlns:p14="http://schemas.microsoft.com/office/powerpoint/2010/main" val="289891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C9252C-FE3D-905D-D5E0-3BDBDB2FB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1344"/>
            <a:ext cx="7064439" cy="33953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97CB94D-050E-FD83-418A-53D1507DB85C}"/>
              </a:ext>
            </a:extLst>
          </p:cNvPr>
          <p:cNvSpPr txBox="1"/>
          <p:nvPr/>
        </p:nvSpPr>
        <p:spPr>
          <a:xfrm>
            <a:off x="7623209" y="3105834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/>
              <a:t>星形路线投篮测试</a:t>
            </a:r>
          </a:p>
        </p:txBody>
      </p:sp>
    </p:spTree>
    <p:extLst>
      <p:ext uri="{BB962C8B-B14F-4D97-AF65-F5344CB8AC3E}">
        <p14:creationId xmlns:p14="http://schemas.microsoft.com/office/powerpoint/2010/main" val="313660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9B72F2A-431B-4DDA-4424-7569C5FF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7478829" cy="69018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5F42BCD-2E88-913F-A3C3-A2972A789114}"/>
              </a:ext>
            </a:extLst>
          </p:cNvPr>
          <p:cNvSpPr txBox="1"/>
          <p:nvPr/>
        </p:nvSpPr>
        <p:spPr>
          <a:xfrm>
            <a:off x="7703419" y="2850747"/>
            <a:ext cx="4192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/>
              <a:t>侧翼</a:t>
            </a:r>
            <a:r>
              <a:rPr kumimoji="1" lang="en-US" altLang="zh-CN" sz="3600" dirty="0"/>
              <a:t>-</a:t>
            </a:r>
            <a:r>
              <a:rPr kumimoji="1" lang="zh-CN" altLang="en-US" sz="3600" dirty="0"/>
              <a:t>中路</a:t>
            </a:r>
            <a:r>
              <a:rPr kumimoji="1" lang="en-US" altLang="zh-CN" sz="3600" dirty="0"/>
              <a:t>-</a:t>
            </a:r>
            <a:r>
              <a:rPr kumimoji="1" lang="zh-CN" altLang="en-US" sz="3600" dirty="0"/>
              <a:t>侧翼移动</a:t>
            </a:r>
            <a:endParaRPr kumimoji="1" lang="en-US" altLang="zh-CN" sz="3600" dirty="0"/>
          </a:p>
          <a:p>
            <a:r>
              <a:rPr kumimoji="1" lang="zh-CN" altLang="en-US" sz="3600" dirty="0"/>
              <a:t>投篮测试</a:t>
            </a:r>
          </a:p>
        </p:txBody>
      </p:sp>
    </p:spTree>
    <p:extLst>
      <p:ext uri="{BB962C8B-B14F-4D97-AF65-F5344CB8AC3E}">
        <p14:creationId xmlns:p14="http://schemas.microsoft.com/office/powerpoint/2010/main" val="4082873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41C2E"/>
                </a:solidFill>
                <a:latin typeface="Arial"/>
              </a:rPr>
              <a:t>SPORTS DATA /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12264C"/>
                </a:solidFill>
                <a:latin typeface="Arial"/>
              </a:rPr>
              <a:t>NBA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5C6370"/>
                </a:solidFill>
                <a:latin typeface="Arial"/>
              </a:rPr>
              <a:t>2016–2019 NBA </a:t>
            </a:r>
            <a:r>
              <a:rPr sz="1500" b="0" dirty="0" err="1">
                <a:solidFill>
                  <a:srgbClr val="5C6370"/>
                </a:solidFill>
                <a:latin typeface="Arial"/>
              </a:rPr>
              <a:t>官方</a:t>
            </a:r>
            <a:r>
              <a:rPr sz="1500" b="0" dirty="0">
                <a:solidFill>
                  <a:srgbClr val="5C6370"/>
                </a:solidFill>
                <a:latin typeface="Arial"/>
              </a:rPr>
              <a:t> Hackathon </a:t>
            </a:r>
            <a:r>
              <a:rPr sz="1500" b="0" dirty="0" err="1">
                <a:solidFill>
                  <a:srgbClr val="5C6370"/>
                </a:solidFill>
                <a:latin typeface="Arial"/>
              </a:rPr>
              <a:t>活动参考</a:t>
            </a:r>
            <a:r>
              <a:rPr lang="zh-CN" altLang="en-US" sz="1500" b="0" dirty="0">
                <a:solidFill>
                  <a:srgbClr val="5C6370"/>
                </a:solidFill>
                <a:latin typeface="Arial"/>
              </a:rPr>
              <a:t> </a:t>
            </a:r>
            <a:r>
              <a:rPr lang="en-US" altLang="zh-CN" sz="1500" dirty="0">
                <a:solidFill>
                  <a:srgbClr val="5C6370"/>
                </a:solidFill>
                <a:latin typeface="Arial"/>
              </a:rPr>
              <a:t>https://</a:t>
            </a:r>
            <a:r>
              <a:rPr lang="en-US" altLang="zh-CN" sz="1500" dirty="0" err="1">
                <a:solidFill>
                  <a:srgbClr val="5C6370"/>
                </a:solidFill>
                <a:latin typeface="Arial"/>
              </a:rPr>
              <a:t>pr.nba.com</a:t>
            </a:r>
            <a:r>
              <a:rPr lang="en-US" altLang="zh-CN" sz="1500" dirty="0">
                <a:solidFill>
                  <a:srgbClr val="5C6370"/>
                </a:solidFill>
                <a:latin typeface="Arial"/>
              </a:rPr>
              <a:t>/</a:t>
            </a:r>
            <a:r>
              <a:rPr lang="en-US" altLang="zh-CN" sz="1500" dirty="0" err="1">
                <a:solidFill>
                  <a:srgbClr val="5C6370"/>
                </a:solidFill>
                <a:latin typeface="Arial"/>
              </a:rPr>
              <a:t>nba</a:t>
            </a:r>
            <a:r>
              <a:rPr lang="en-US" altLang="zh-CN" sz="1500" dirty="0">
                <a:solidFill>
                  <a:srgbClr val="5C6370"/>
                </a:solidFill>
                <a:latin typeface="Arial"/>
              </a:rPr>
              <a:t>-hackathon-returns</a:t>
            </a:r>
            <a:r>
              <a:rPr lang="zh-CN" altLang="zh-CN" sz="1500" dirty="0">
                <a:solidFill>
                  <a:srgbClr val="5C6370"/>
                </a:solidFill>
                <a:latin typeface="Arial"/>
              </a:rPr>
              <a:t> </a:t>
            </a:r>
            <a:endParaRPr sz="1500" dirty="0">
              <a:solidFill>
                <a:srgbClr val="5C637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C2E"/>
                </a:solidFill>
                <a:latin typeface="Arial"/>
              </a:rPr>
              <a:t>活动定位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 err="1">
                <a:solidFill>
                  <a:srgbClr val="1E232D"/>
                </a:solidFill>
                <a:latin typeface="Arial"/>
              </a:rPr>
              <a:t>面向本科生、硕士生、博士生中的统计学家、工程师和开发者，围绕篮球与商业分析开发工具和解决方案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C2E"/>
                </a:solidFill>
                <a:latin typeface="Arial"/>
              </a:rPr>
              <a:t>核心赛制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团队进行 24 小时工作，并向 NBA 高管、教授、媒体成员组成的评审团展示成果。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C2E"/>
                </a:solidFill>
                <a:latin typeface="Arial"/>
              </a:rPr>
              <a:t>奖励机制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每个赛道前三名团队获奖；优胜团队曾获得 NBA 全明星赛行程及与 NBA 总裁共进午餐机会。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C4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1C2E"/>
                </a:solidFill>
                <a:latin typeface="Arial"/>
              </a:rPr>
              <a:t>可借鉴点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用真实篮球/商业数据作为命题基础；设置专家评审；强化“数据洞察 + 可视化 + 商业价值”。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NBA Hackathon official news /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Arial"/>
              </a:rPr>
              <a:t>CASE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64C"/>
                </a:solidFill>
                <a:latin typeface="Arial"/>
              </a:rPr>
              <a:t>NBA Hackathon 历年赛题演变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370"/>
                </a:solidFill>
                <a:latin typeface="Arial"/>
              </a:rPr>
              <a:t>从篮球策略到商业分析双赛道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F4E79"/>
                </a:solidFill>
                <a:latin typeface="Arial"/>
              </a:rPr>
              <a:t>2016｜The Case Against Hero Ball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 err="1">
                <a:solidFill>
                  <a:srgbClr val="1E232D"/>
                </a:solidFill>
                <a:latin typeface="Arial"/>
              </a:rPr>
              <a:t>首届活动聚焦篮球策略分析，团队用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 NBA </a:t>
            </a:r>
            <a:r>
              <a:rPr sz="1350" b="0" dirty="0" err="1">
                <a:solidFill>
                  <a:srgbClr val="1E232D"/>
                </a:solidFill>
                <a:latin typeface="Arial"/>
              </a:rPr>
              <a:t>比赛数据检验“Hero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E232D"/>
                </a:solidFill>
                <a:latin typeface="Arial"/>
              </a:rPr>
              <a:t>Ball”在季后赛是否更常见，并构建可视化分析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。</a:t>
            </a:r>
            <a:endParaRPr lang="en-US" sz="1350" b="0" dirty="0">
              <a:solidFill>
                <a:srgbClr val="1E232D"/>
              </a:solidFill>
              <a:latin typeface="Arial"/>
            </a:endParaRPr>
          </a:p>
          <a:p>
            <a:pPr>
              <a:lnSpc>
                <a:spcPct val="112000"/>
              </a:lnSpc>
            </a:pPr>
            <a:r>
              <a:rPr lang="en-US" altLang="zh-CN" sz="12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https://datascience.columbia.edu/news/2016/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nba-hackers-put-hero-ball-hunch-to-the-test</a:t>
            </a:r>
            <a:endParaRPr sz="1200" b="0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2017｜Business Analytics Champion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 err="1">
                <a:solidFill>
                  <a:srgbClr val="1E232D"/>
                </a:solidFill>
                <a:latin typeface="Arial"/>
              </a:rPr>
              <a:t>增加商业分析赛道，获奖项目开发“比赛娱乐价值”决策工具，用于评估观赏性及相关经济价值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。</a:t>
            </a:r>
            <a:endParaRPr lang="en-US" sz="1350" b="0" dirty="0">
              <a:solidFill>
                <a:srgbClr val="1E232D"/>
              </a:solidFill>
              <a:latin typeface="Arial"/>
            </a:endParaRPr>
          </a:p>
          <a:p>
            <a:pPr>
              <a:lnSpc>
                <a:spcPct val="112000"/>
              </a:lnSpc>
            </a:pP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www.dailyprincetonian.com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/article/2017/10/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princeton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-alumni-win-in-second-annual-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nba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-hosted-hackathon</a:t>
            </a:r>
            <a:endParaRPr sz="1200" b="0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2018｜Basketball Operations / Business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 err="1">
                <a:solidFill>
                  <a:srgbClr val="1E232D"/>
                </a:solidFill>
                <a:latin typeface="Arial"/>
              </a:rPr>
              <a:t>延续篮球运营与商业赛道双结构，强调体育表现与商业场景并行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。</a:t>
            </a:r>
            <a:endParaRPr lang="en-US" sz="1350" b="0" dirty="0">
              <a:solidFill>
                <a:srgbClr val="1E232D"/>
              </a:solidFill>
              <a:latin typeface="Arial"/>
            </a:endParaRPr>
          </a:p>
          <a:p>
            <a:pPr>
              <a:lnSpc>
                <a:spcPct val="112000"/>
              </a:lnSpc>
            </a:pPr>
            <a:endParaRPr lang="en-US" altLang="zh-CN" sz="1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2000"/>
              </a:lnSpc>
            </a:pP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x.com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nbastats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/status/1043648582992252929</a:t>
            </a:r>
            <a:endParaRPr sz="1200" b="0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Arial"/>
              </a:rPr>
              <a:t>2019｜Business Track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dirty="0" err="1">
                <a:solidFill>
                  <a:srgbClr val="1E232D"/>
                </a:solidFill>
                <a:latin typeface="Arial"/>
              </a:rPr>
              <a:t>商业赛道项目研究阵容交易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/</a:t>
            </a:r>
            <a:r>
              <a:rPr sz="1350" b="0" dirty="0" err="1">
                <a:solidFill>
                  <a:srgbClr val="1E232D"/>
                </a:solidFill>
                <a:latin typeface="Arial"/>
              </a:rPr>
              <a:t>签约如何影响球队商业模型，并提出动态票价优化方案</a:t>
            </a:r>
            <a:r>
              <a:rPr sz="1350" b="0" dirty="0">
                <a:solidFill>
                  <a:srgbClr val="1E232D"/>
                </a:solidFill>
                <a:latin typeface="Arial"/>
              </a:rPr>
              <a:t>。</a:t>
            </a:r>
            <a:endParaRPr lang="en-US" sz="1350" b="0" dirty="0">
              <a:solidFill>
                <a:srgbClr val="1E232D"/>
              </a:solidFill>
              <a:latin typeface="Arial"/>
            </a:endParaRPr>
          </a:p>
          <a:p>
            <a:pPr>
              <a:lnSpc>
                <a:spcPct val="112000"/>
              </a:lnSpc>
            </a:pPr>
            <a:endParaRPr lang="en-US" altLang="zh-CN" sz="1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12000"/>
              </a:lnSpc>
            </a:pP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https://</a:t>
            </a:r>
            <a:r>
              <a:rPr lang="en-US" altLang="zh-CN" sz="1200" dirty="0" err="1">
                <a:solidFill>
                  <a:schemeClr val="accent1">
                    <a:lumMod val="75000"/>
                  </a:schemeClr>
                </a:solidFill>
              </a:rPr>
              <a:t>www.instagram.com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</a:rPr>
              <a:t>/p/B3CpBZ3oHDb</a:t>
            </a:r>
            <a:endParaRPr sz="1200" b="0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NBA Hackathon cases /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  <a:latin typeface="Arial"/>
              </a:rPr>
              <a:t>ENTERPRISE AI / FINANCE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64C"/>
                </a:solidFill>
                <a:latin typeface="Arial"/>
              </a:rPr>
              <a:t>AWS Hackathon｜云简业财 &amp;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370"/>
                </a:solidFill>
                <a:latin typeface="Arial"/>
              </a:rPr>
              <a:t>2025「智绘未来 AI 黑客松」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活动背景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由云简业财主办、AWS 云科技协办，并获得中欧国际工商学院支持。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参赛规模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自 3 月启动，吸引近 20 支企业战队参与；历经两个月实战比拼，6 支团队进入决赛。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技术平台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基于 Cloudpense.AI 平台开发 AI 应用解决方案。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主题方向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围绕真实业务场景，聚焦流程优化、费控管理、合规提升等企业场景。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7D50"/>
                </a:solidFill>
                <a:latin typeface="Arial"/>
              </a:rPr>
              <a:t>AI APPLICATION / EVENT ENABLEMENT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64C"/>
                </a:solidFill>
                <a:latin typeface="Arial"/>
              </a:rPr>
              <a:t>易点天下首届 AI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370"/>
                </a:solidFill>
                <a:latin typeface="Arial"/>
              </a:rPr>
              <a:t>多方技术与组织能力支持的 AI 创新赛事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D50"/>
                </a:solidFill>
                <a:latin typeface="Arial"/>
              </a:rPr>
              <a:t>主办方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易点天下主办首届 AI Hackathon。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D50"/>
                </a:solidFill>
                <a:latin typeface="Arial"/>
              </a:rPr>
              <a:t>合作伙伴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亚马逊云科技、飞书、智谱 AI 为赛事提供组织管理与技术能力底座。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D50"/>
                </a:solidFill>
                <a:latin typeface="Arial"/>
              </a:rPr>
              <a:t>支持范围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贯穿赛事平台搭建、团队运营、作品管理、赛事培训、决赛活动筹办等环节。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2D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7D50"/>
                </a:solidFill>
                <a:latin typeface="Arial"/>
              </a:rPr>
              <a:t>可借鉴点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适合设计为“技术平台 + 协作工具 + 模型能力 + 赛事运营”的组合型创新活动。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56BE"/>
                </a:solidFill>
                <a:latin typeface="Arial"/>
              </a:rPr>
              <a:t>F1 / AI AGENT / FAN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64C"/>
                </a:solidFill>
                <a:latin typeface="Arial"/>
              </a:rPr>
              <a:t>Williams F1 Team｜Airia Virtual AI Agent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370"/>
                </a:solidFill>
                <a:latin typeface="Arial"/>
              </a:rPr>
              <a:t>Race Beyond the Track: Airia’s Virtual AI Agent Hackathon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56BE"/>
                </a:solidFill>
                <a:latin typeface="Arial"/>
              </a:rPr>
              <a:t>活动时间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2026 年 2 月 25 日，Williams F1 Team 介绍由合作伙伴 Airia 主办的线上 Hackathon。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56BE"/>
                </a:solidFill>
                <a:latin typeface="Arial"/>
              </a:rPr>
              <a:t>核心主题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围绕自主性强的 AI Agent，探索语言模型作为“智能助手”的应用。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56BE"/>
                </a:solidFill>
                <a:latin typeface="Arial"/>
              </a:rPr>
              <a:t>应用方向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提升 F1 车队运营效率、优化粉丝体验，或服务其他相关业务场景。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145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56BE"/>
                </a:solidFill>
                <a:latin typeface="Arial"/>
              </a:rPr>
              <a:t>项目目标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构建能提高效率、自动化流程或带来创意价值的 AI 系统。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122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-502920"/>
            <a:ext cx="2194560" cy="2194560"/>
          </a:xfrm>
          <a:prstGeom prst="ellipse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13369"/>
                </a:solidFill>
                <a:latin typeface="Arial"/>
              </a:rPr>
              <a:t>SPORTS ANALYTICS / NEXT GEN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6384"/>
            <a:ext cx="9692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2264C"/>
                </a:solidFill>
                <a:latin typeface="Arial"/>
              </a:rPr>
              <a:t>AWS × NFL Big Data Bowl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5331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370"/>
                </a:solidFill>
                <a:latin typeface="Arial"/>
              </a:rPr>
              <a:t>体育追踪数据驱动的 AI / 数据分析竞赛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938528"/>
            <a:ext cx="73152" cy="1490472"/>
          </a:xfrm>
          <a:prstGeom prst="rect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369"/>
                </a:solidFill>
                <a:latin typeface="Arial"/>
              </a:rPr>
              <a:t>活动定位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由 NFL 运营部门举办的年度体育数据分析竞赛，AWS 提供技术支持。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38528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938528"/>
            <a:ext cx="73152" cy="1490472"/>
          </a:xfrm>
          <a:prstGeom prst="rect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2057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369"/>
                </a:solidFill>
                <a:latin typeface="Arial"/>
              </a:rPr>
              <a:t>核心数据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14016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使用 NFL Next Gen Stats 球员追踪数据作为核心数据集。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913632"/>
            <a:ext cx="73152" cy="1490472"/>
          </a:xfrm>
          <a:prstGeom prst="rect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369"/>
                </a:solidFill>
                <a:latin typeface="Arial"/>
              </a:rPr>
              <a:t>技术方向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基于 AI 与图神经网络等技术，构建新统计指标或预测球员移动。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913632"/>
            <a:ext cx="5166360" cy="149047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913632"/>
            <a:ext cx="73152" cy="1490472"/>
          </a:xfrm>
          <a:prstGeom prst="rect">
            <a:avLst/>
          </a:prstGeom>
          <a:solidFill>
            <a:srgbClr val="013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13369"/>
                </a:solidFill>
                <a:latin typeface="Arial"/>
              </a:rPr>
              <a:t>赛道设置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4818888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1E232D"/>
                </a:solidFill>
                <a:latin typeface="Arial"/>
              </a:rPr>
              <a:t>预测模型赛道 / 数据可视化赛道；流程包括报名、学习资源、下载数据、建模/可视化、撰写说明、提交评审。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6446520"/>
            <a:ext cx="74980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28791"/>
                </a:solidFill>
                <a:latin typeface="Arial"/>
              </a:rPr>
              <a:t>Source: AWS Builder Center / user document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370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890</Words>
  <Application>Microsoft Macintosh PowerPoint</Application>
  <PresentationFormat>宽屏</PresentationFormat>
  <Paragraphs>161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NBA Draft Combine 是什么？</dc:title>
  <dc:subject>NBA Draft Combine introduction</dc:subject>
  <dc:creator>OpenAI</dc:creator>
  <cp:lastModifiedBy>Li, Zeyu</cp:lastModifiedBy>
  <cp:revision>11</cp:revision>
  <dcterms:created xsi:type="dcterms:W3CDTF">2026-05-14T03:34:16Z</dcterms:created>
  <dcterms:modified xsi:type="dcterms:W3CDTF">2026-05-18T00:58:10Z</dcterms:modified>
</cp:coreProperties>
</file>