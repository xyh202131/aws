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这一页先给观众一个直观印象：DraftOps 不是一张静态名单，而是一个可以查看、复核、导出的项目交付驾驶舱。它把 101 人官方候选池、124 人本地答题候选池、球队上下文和 Agent 证据统一到可运行界面里，最终服务 30 顺位预测和 7 个里程碑答案。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这一页不复述外部规则，而是收束 PPT 的讲解范围。后面只讲 DraftOps 的项目重点：可信数据底座、多 Agent 文件流程、可解释预测引擎、产品界面和可导出提交物。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我们的第一层工作是建立可信数据链路。官方候选池、本地答题候选池和外部来源先进入 raw 登记，再经过 normalized、clean、final、boards 多层产物，最后由前端读取和导出。当前状态里，30 个 pick 无重复，101 人官方池、124 人本地池和 7 个里程碑答案都有对应文件承载。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 Agent 协作不是大家一起聊天，而是每个 Agent 负责一个清晰环节。数据采集不直接改结果，预测生成不直接采集来源，最终由 Supervisor 和提交检查把结构、证据、重复、空值和规则边界统一验收。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逻辑可以讲得很直白：对每一个球队和球员组合打分，再按真实选秀顺序从第一顺位到第三十顺位依次选择。选中后移出候选池，所以不会重复。分数来自共识、球队需求、球员能力、上限、热度和风险惩罚；代码里有明确权重，路演里只需要解释因素、护栏和校验结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这一页用真实截图证明系统已经跑起来。左侧可以看到 30 顺位完整预测板，右侧可以看到单个球员的证据、风险、适配和来源。顶部导出的不是普通截图，而是 submission JSON 和 roadshow brief，直接服务最终提交。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AWS/RAG 层让系统不仅能展示结果，还能回答项目、数据、预测、里程碑和架构相关问题。当前 RAG manifest 是 5 个索引、1304 个保留 chunks、55 个来源；DynamoDB 同步 124 条球员特征记录，Lambda/API 作为只读问答入口。这里按可部署 API 层来讲，不把它夸大成已经完整 IaC 化的全量云原生平台。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最后回到交付价值：我们提交的不是一段模型回答，而是一套可复核资产。它包括锁定的 30 顺位预测板、7 个里程碑答案、填好的答题卡、submission JSON、roadshow brief、前端演示、代码仓库、RAG 同步和验证报告。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f9ac74e1678307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c842a1e985900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70B10"/>
                </a:gs>
                <a:gs pos="100000">
                  <a:srgbClr val="102033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419100"/>
              <a:ext cx="11391900" cy="6019800"/>
            </a:xfrm>
            <a:prstGeom prst="roundRect">
              <a:avLst>
                <a:gd name="adj" fmla="val 2848"/>
              </a:avLst>
            </a:prstGeom>
            <a:solidFill>
              <a:srgbClr val="101820">
                <a:alpha val="78000"/>
              </a:srgbClr>
            </a:solidFill>
            <a:ln w="14288">
              <a:solidFill>
                <a:srgbClr val="28455E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66750" y="742950"/>
            <a:ext cx="5410200" cy="3226594"/>
            <a:chOff x="666750" y="742950"/>
            <a:chExt cx="5410200" cy="3226594"/>
          </a:xfrm>
        </p:grpSpPr>
        <p:sp>
          <p:nvSpPr>
            <p:cNvPr id="5" name="Ellipse 5"/>
            <p:cNvSpPr/>
            <p:nvPr/>
          </p:nvSpPr>
          <p:spPr>
            <a:xfrm>
              <a:off x="666750" y="742950"/>
              <a:ext cx="647700" cy="647700"/>
            </a:xfrm>
            <a:prstGeom prst="ellipse">
              <a:avLst/>
            </a:prstGeom>
            <a:solidFill>
              <a:srgbClr val="142231"/>
            </a:solidFill>
            <a:ln w="19050">
              <a:solidFill>
                <a:srgbClr val="62B8FF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3437" y="909637"/>
              <a:ext cx="314325" cy="314325"/>
              <a:chOff x="833437" y="909637"/>
              <a:chExt cx="314325" cy="3143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33437" y="9096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0"/>
                    </a:moveTo>
                    <a:lnTo>
                      <a:pt x="221773" y="22177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221773"/>
                    </a:moveTo>
                    <a:lnTo>
                      <a:pt x="22177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0600" y="909637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0" y="86798"/>
                      <a:pt x="70364" y="157162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3437" y="1066800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86798" y="0"/>
                      <a:pt x="157162" y="70364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50658" y="852964"/>
              <a:ext cx="26745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DraftOps Project Walkthrough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990" y="1482090"/>
              <a:ext cx="321350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DraftOps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249805"/>
              <a:ext cx="51219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面向 2026 NBA 选秀的 Agent 提交驾驶舱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2876550"/>
              <a:ext cx="5334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9138" y="3226594"/>
              <a:ext cx="4702969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把 101 官方池、124 本地池和多 Agent 复核</a:t>
              </a: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收束成可解释、可导出的项目交付资产。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24700" y="781050"/>
            <a:ext cx="4171950" cy="2876550"/>
            <a:chOff x="7124700" y="781050"/>
            <a:chExt cx="4171950" cy="2876550"/>
          </a:xfrm>
        </p:grpSpPr>
        <p:sp>
          <p:nvSpPr>
            <p:cNvPr id="18" name="Rectangle 18"/>
            <p:cNvSpPr/>
            <p:nvPr/>
          </p:nvSpPr>
          <p:spPr>
            <a:xfrm>
              <a:off x="7124700" y="781050"/>
              <a:ext cx="4171950" cy="2819400"/>
            </a:xfrm>
            <a:prstGeom prst="roundRect">
              <a:avLst>
                <a:gd name="adj" fmla="val 4730"/>
              </a:avLst>
            </a:prstGeom>
            <a:solidFill>
              <a:srgbClr val="070B10"/>
            </a:solidFill>
            <a:ln w="11430">
              <a:solidFill>
                <a:srgbClr val="28455E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3879" y="952500"/>
              <a:ext cx="3593592" cy="249555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7315200" y="952500"/>
              <a:ext cx="3790950" cy="2495550"/>
            </a:xfrm>
            <a:prstGeom prst="rect">
              <a:avLst/>
            </a:prstGeom>
            <a:solidFill>
              <a:srgbClr val="070B10">
                <a:alpha val="18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934450" y="3276600"/>
              <a:ext cx="1962150" cy="381000"/>
            </a:xfrm>
            <a:prstGeom prst="roundRect">
              <a:avLst>
                <a:gd name="adj" fmla="val 5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134475" y="3390900"/>
              <a:ext cx="171450" cy="161925"/>
              <a:chOff x="9134475" y="3390900"/>
              <a:chExt cx="171450" cy="1619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134475" y="339090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76200"/>
                    </a:moveTo>
                    <a:lnTo>
                      <a:pt x="171450" y="104775"/>
                    </a:lnTo>
                    <a:cubicBezTo>
                      <a:pt x="171450" y="110036"/>
                      <a:pt x="167186" y="114300"/>
                      <a:pt x="1619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172575" y="3543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19162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24877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267825" y="3390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258300" y="33909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47625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395460" y="34042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真实界面截图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2950" y="4572000"/>
            <a:ext cx="6781800" cy="895350"/>
            <a:chOff x="742950" y="4572000"/>
            <a:chExt cx="6781800" cy="895350"/>
          </a:xfrm>
        </p:grpSpPr>
        <p:sp>
          <p:nvSpPr>
            <p:cNvPr id="31" name="Rectangle 31"/>
            <p:cNvSpPr/>
            <p:nvPr/>
          </p:nvSpPr>
          <p:spPr>
            <a:xfrm>
              <a:off x="7429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6310" y="4718685"/>
              <a:ext cx="110821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44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完整预测板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955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089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124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270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本地候选池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2481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615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RAG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9608" y="5158264"/>
              <a:ext cx="9079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问答层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007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14110" y="47186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322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里程碑答案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27710" y="5890260"/>
            <a:ext cx="3262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4A8BC"/>
                </a:solidFill>
                <a:latin typeface="Arial"/>
                <a:ea typeface="Arial"/>
                <a:cs typeface="Arial"/>
              </a:rPr>
              <a:t>30 picks / 7 answers / no manual override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467683" cy="844867"/>
            <a:chOff x="569595" y="402908"/>
            <a:chExt cx="7467683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46768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项目重点：数据、Agent、算法、产品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7289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这份 PPT 只解释 DraftOps 如何把预测、证据和导出做成一个可运行系统。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1562100"/>
            <a:ext cx="10820400" cy="1447800"/>
            <a:chOff x="685800" y="1562100"/>
            <a:chExt cx="10820400" cy="1447800"/>
          </a:xfrm>
        </p:grpSpPr>
        <p:sp>
          <p:nvSpPr>
            <p:cNvPr id="6" name="Rectangle 6"/>
            <p:cNvSpPr/>
            <p:nvPr/>
          </p:nvSpPr>
          <p:spPr>
            <a:xfrm>
              <a:off x="685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969" y="1850231"/>
              <a:ext cx="188913" cy="242889"/>
              <a:chOff x="1019969" y="1850231"/>
              <a:chExt cx="188913" cy="24288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19969" y="1877219"/>
                <a:ext cx="18891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15901">
                    <a:moveTo>
                      <a:pt x="53975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3"/>
                    </a:lnTo>
                    <a:cubicBezTo>
                      <a:pt x="0" y="203818"/>
                      <a:pt x="12083" y="215901"/>
                      <a:pt x="26988" y="215901"/>
                    </a:cubicBezTo>
                    <a:lnTo>
                      <a:pt x="161925" y="215901"/>
                    </a:lnTo>
                    <a:cubicBezTo>
                      <a:pt x="176830" y="215901"/>
                      <a:pt x="188913" y="203818"/>
                      <a:pt x="188913" y="188913"/>
                    </a:cubicBezTo>
                    <a:lnTo>
                      <a:pt x="188913" y="26988"/>
                    </a:lnTo>
                    <a:cubicBezTo>
                      <a:pt x="188913" y="12083"/>
                      <a:pt x="176830" y="0"/>
                      <a:pt x="161925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73944" y="1850231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cubicBezTo>
                      <a:pt x="80963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3944" y="197167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18210" y="2185035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6404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数据底座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8212" y="26217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101/124 双池与审计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433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850481" y="1863725"/>
              <a:ext cx="242888" cy="225426"/>
              <a:chOff x="3850481" y="1863725"/>
              <a:chExt cx="242888" cy="2254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850481" y="1863725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63975" y="1863725"/>
                <a:ext cx="215901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61925">
                    <a:moveTo>
                      <a:pt x="0" y="0"/>
                    </a:moveTo>
                    <a:lnTo>
                      <a:pt x="0" y="134938"/>
                    </a:lnTo>
                    <a:cubicBezTo>
                      <a:pt x="0" y="149843"/>
                      <a:pt x="12083" y="161925"/>
                      <a:pt x="26988" y="161925"/>
                    </a:cubicBezTo>
                    <a:lnTo>
                      <a:pt x="188913" y="161925"/>
                    </a:lnTo>
                    <a:cubicBezTo>
                      <a:pt x="203818" y="161925"/>
                      <a:pt x="215901" y="149843"/>
                      <a:pt x="215901" y="134938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71925" y="20256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31444" y="2079626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917950" y="1917700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40481" y="13494"/>
                    </a:lnTo>
                    <a:lnTo>
                      <a:pt x="67469" y="40481"/>
                    </a:ln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775710" y="2185035"/>
              <a:ext cx="105150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FLOW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21542" y="2242661"/>
              <a:ext cx="126354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Agent 流程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5712" y="2621756"/>
              <a:ext cx="15887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文件交付 + Supervisor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00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707981" y="1850231"/>
              <a:ext cx="242888" cy="242888"/>
              <a:chOff x="6707981" y="18502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815932" y="195818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61956" y="190420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07981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633210" y="2185035"/>
              <a:ext cx="8057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PICK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904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预测引擎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3212" y="26217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打分、去重、低置信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58300" y="1562100"/>
              <a:ext cx="224790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555933" y="1841094"/>
              <a:ext cx="257304" cy="252025"/>
              <a:chOff x="9555933" y="1841094"/>
              <a:chExt cx="257304" cy="252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555933" y="1841094"/>
                <a:ext cx="257304" cy="251864"/>
              </a:xfrm>
              <a:custGeom>
                <a:avLst/>
                <a:gdLst/>
                <a:ahLst/>
                <a:cxnLst/>
                <a:rect l="l" t="t" r="r" b="b"/>
                <a:pathLst>
                  <a:path w="257304" h="251864">
                    <a:moveTo>
                      <a:pt x="251654" y="144359"/>
                    </a:moveTo>
                    <a:cubicBezTo>
                      <a:pt x="257304" y="94875"/>
                      <a:pt x="232168" y="46958"/>
                      <a:pt x="188244" y="23479"/>
                    </a:cubicBezTo>
                    <a:cubicBezTo>
                      <a:pt x="144320" y="0"/>
                      <a:pt x="90513" y="5720"/>
                      <a:pt x="52507" y="37908"/>
                    </a:cubicBezTo>
                    <a:cubicBezTo>
                      <a:pt x="14500" y="70097"/>
                      <a:pt x="0" y="122228"/>
                      <a:pt x="15927" y="169418"/>
                    </a:cubicBezTo>
                    <a:cubicBezTo>
                      <a:pt x="31854" y="216608"/>
                      <a:pt x="74979" y="249290"/>
                      <a:pt x="124718" y="251864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86925" y="1904206"/>
                <a:ext cx="4048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107950">
                    <a:moveTo>
                      <a:pt x="0" y="0"/>
                    </a:moveTo>
                    <a:lnTo>
                      <a:pt x="0" y="67469"/>
                    </a:lnTo>
                    <a:lnTo>
                      <a:pt x="40481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27407" y="20391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90710" y="2185035"/>
              <a:ext cx="8057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SHIP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74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产品交付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10712" y="2621756"/>
              <a:ext cx="1558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JSON / brief / 答题卡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66800" y="3600450"/>
            <a:ext cx="10058400" cy="1695450"/>
            <a:chOff x="1066800" y="3600450"/>
            <a:chExt cx="10058400" cy="1695450"/>
          </a:xfrm>
        </p:grpSpPr>
        <p:sp>
          <p:nvSpPr>
            <p:cNvPr id="41" name="Rectangle 41"/>
            <p:cNvSpPr/>
            <p:nvPr/>
          </p:nvSpPr>
          <p:spPr>
            <a:xfrm>
              <a:off x="1066800" y="3600450"/>
              <a:ext cx="10058400" cy="1695450"/>
            </a:xfrm>
            <a:prstGeom prst="roundRect">
              <a:avLst>
                <a:gd name="adj" fmla="val 10112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21130" y="38309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四个讲解重点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476375" y="446722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675448" y="4421029"/>
              <a:ext cx="340042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数据层：来源、候选池、审计产物。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476375" y="4905375"/>
              <a:ext cx="95250" cy="95250"/>
            </a:xfrm>
            <a:prstGeom prst="ellipse">
              <a:avLst/>
            </a:prstGeom>
            <a:solidFill>
              <a:srgbClr val="62B8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75448" y="4859179"/>
              <a:ext cx="34109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Agent 层：分工、退回、完整重跑。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57900" y="4362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28455E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543675" y="4467225"/>
              <a:ext cx="95250" cy="95250"/>
            </a:xfrm>
            <a:prstGeom prst="ellipse">
              <a:avLst/>
            </a:prstGeom>
            <a:solidFill>
              <a:srgbClr val="FFD16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2748" y="4421029"/>
              <a:ext cx="30958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每个 pick 都要解释风险和备选。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43675" y="4905375"/>
              <a:ext cx="95250" cy="95250"/>
            </a:xfrm>
            <a:prstGeom prst="ellipse">
              <a:avLst/>
            </a:prstGeom>
            <a:solidFill>
              <a:srgbClr val="33E18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2748" y="4859179"/>
              <a:ext cx="379947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交付层：JSON、brief、答题卡可导出。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95312" y="5734050"/>
            <a:ext cx="8739188" cy="792956"/>
            <a:chOff x="595312" y="5734050"/>
            <a:chExt cx="8739188" cy="792956"/>
          </a:xfrm>
        </p:grpSpPr>
        <p:sp>
          <p:nvSpPr>
            <p:cNvPr id="53" name="Rectangle 53"/>
            <p:cNvSpPr/>
            <p:nvPr/>
          </p:nvSpPr>
          <p:spPr>
            <a:xfrm>
              <a:off x="2857500" y="5734050"/>
              <a:ext cx="6477000" cy="457200"/>
            </a:xfrm>
            <a:prstGeom prst="roundRect">
              <a:avLst>
                <a:gd name="adj" fmla="val 20833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124200" y="5867400"/>
              <a:ext cx="598184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所以 PPT 要讲清：数据从哪来、Agent 怎么跑、结果怎么交付。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5312" y="6298406"/>
              <a:ext cx="531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Consolas"/>
                  <a:ea typeface="Consolas"/>
                  <a:cs typeface="Consola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4931616" cy="844867"/>
            <a:chOff x="569595" y="402908"/>
            <a:chExt cx="4931616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93161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数据先可信，预测才可信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4638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官方池、本地答题池和派生产物都进入可追溯链路。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76325" y="1695450"/>
            <a:ext cx="10407377" cy="1200150"/>
            <a:chOff x="1076325" y="1695450"/>
            <a:chExt cx="10407377" cy="1200150"/>
          </a:xfrm>
        </p:grpSpPr>
        <p:sp>
          <p:nvSpPr>
            <p:cNvPr id="6" name="Rectangle 6"/>
            <p:cNvSpPr/>
            <p:nvPr/>
          </p:nvSpPr>
          <p:spPr>
            <a:xfrm>
              <a:off x="10763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41450" y="2007394"/>
              <a:ext cx="241299" cy="271462"/>
              <a:chOff x="1441450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41450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41450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41450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72615" y="2015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官方数据包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5885" y="2480310"/>
              <a:ext cx="1286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数据/ 只读原始区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1527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6861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95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169569" y="2007394"/>
              <a:ext cx="271462" cy="271462"/>
              <a:chOff x="4169569" y="2007394"/>
              <a:chExt cx="271462" cy="27146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169569" y="2218531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380706" y="2007394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30162" y="60325"/>
                    </a:move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  <a:cubicBezTo>
                      <a:pt x="0" y="46821"/>
                      <a:pt x="13504" y="60325"/>
                      <a:pt x="30162" y="603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199731" y="2037556"/>
                <a:ext cx="226218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226218" h="211137">
                    <a:moveTo>
                      <a:pt x="90487" y="211137"/>
                    </a:moveTo>
                    <a:lnTo>
                      <a:pt x="173434" y="211137"/>
                    </a:lnTo>
                    <a:cubicBezTo>
                      <a:pt x="202586" y="211137"/>
                      <a:pt x="226218" y="187505"/>
                      <a:pt x="226218" y="158353"/>
                    </a:cubicBezTo>
                    <a:cubicBezTo>
                      <a:pt x="226218" y="129201"/>
                      <a:pt x="202586" y="105569"/>
                      <a:pt x="173434" y="105569"/>
                    </a:cubicBezTo>
                    <a:lnTo>
                      <a:pt x="52784" y="105569"/>
                    </a:ln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615815" y="20154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raw 登记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09085" y="24803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来源、时间、可信度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8959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4293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627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927850" y="2022475"/>
              <a:ext cx="241300" cy="241300"/>
              <a:chOff x="6927850" y="2022475"/>
              <a:chExt cx="241300" cy="2413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988175" y="202247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27850" y="2082800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359015" y="2015490"/>
              <a:ext cx="13562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normalized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24803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名单、字段、口径统一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639175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9172575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05925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686131" y="2007394"/>
              <a:ext cx="211137" cy="271461"/>
              <a:chOff x="9686131" y="2007394"/>
              <a:chExt cx="211137" cy="2714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686131" y="2037556"/>
                <a:ext cx="21113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241299">
                    <a:moveTo>
                      <a:pt x="60325" y="0"/>
                    </a:moveTo>
                    <a:lnTo>
                      <a:pt x="30162" y="0"/>
                    </a:lnTo>
                    <a:cubicBezTo>
                      <a:pt x="13504" y="0"/>
                      <a:pt x="0" y="13504"/>
                      <a:pt x="0" y="30162"/>
                    </a:cubicBezTo>
                    <a:lnTo>
                      <a:pt x="0" y="211137"/>
                    </a:lnTo>
                    <a:cubicBezTo>
                      <a:pt x="0" y="227795"/>
                      <a:pt x="13504" y="241299"/>
                      <a:pt x="30162" y="241299"/>
                    </a:cubicBezTo>
                    <a:lnTo>
                      <a:pt x="180975" y="241299"/>
                    </a:lnTo>
                    <a:cubicBezTo>
                      <a:pt x="197633" y="241299"/>
                      <a:pt x="211137" y="227795"/>
                      <a:pt x="211137" y="211137"/>
                    </a:cubicBezTo>
                    <a:lnTo>
                      <a:pt x="211137" y="30162"/>
                    </a:lnTo>
                    <a:cubicBezTo>
                      <a:pt x="211137" y="13504"/>
                      <a:pt x="197633" y="0"/>
                      <a:pt x="180975" y="0"/>
                    </a:cubicBezTo>
                    <a:lnTo>
                      <a:pt x="150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746456" y="2007394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7" y="13504"/>
                      <a:pt x="90487" y="30162"/>
                    </a:cubicBezTo>
                    <a:cubicBezTo>
                      <a:pt x="90487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46456" y="2143125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102215" y="2015490"/>
              <a:ext cx="13814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clean/final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95485" y="24803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质检后进入预测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7750" y="3752850"/>
            <a:ext cx="10096500" cy="1390650"/>
            <a:chOff x="1047750" y="3752850"/>
            <a:chExt cx="10096500" cy="1390650"/>
          </a:xfrm>
        </p:grpSpPr>
        <p:sp>
          <p:nvSpPr>
            <p:cNvPr id="40" name="Rectangle 40"/>
            <p:cNvSpPr/>
            <p:nvPr/>
          </p:nvSpPr>
          <p:spPr>
            <a:xfrm>
              <a:off x="1047750" y="3752850"/>
              <a:ext cx="10096500" cy="1390650"/>
            </a:xfrm>
            <a:prstGeom prst="roundRect">
              <a:avLst>
                <a:gd name="adj" fmla="val 12329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83982" y="39533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当前验证状态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4097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02105" y="4578668"/>
              <a:ext cx="1527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30 picks / 0 重复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90525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09765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101 官方候选池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008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320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124 本地答题池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96350" y="4457700"/>
              <a:ext cx="188595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8755" y="4578668"/>
              <a:ext cx="114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7 里程碑答案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038350" y="5619750"/>
            <a:ext cx="8115300" cy="514350"/>
            <a:chOff x="2038350" y="5619750"/>
            <a:chExt cx="8115300" cy="514350"/>
          </a:xfrm>
        </p:grpSpPr>
        <p:sp>
          <p:nvSpPr>
            <p:cNvPr id="51" name="Rectangle 51"/>
            <p:cNvSpPr/>
            <p:nvPr/>
          </p:nvSpPr>
          <p:spPr>
            <a:xfrm>
              <a:off x="2038350" y="5619750"/>
              <a:ext cx="81153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03145" y="5775008"/>
              <a:ext cx="65107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模型回答前，先有证据结构；预测输出后，还能回到证据结构。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850206" cy="844867"/>
            <a:chOff x="569595" y="402908"/>
            <a:chExt cx="6850206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8502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多 Agent 协作：分工，而不是群聊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188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每个 Agent 只交付结构化文件，Supervisor 用证据和规则统一验收。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04925" y="1562100"/>
            <a:ext cx="9582150" cy="1200150"/>
            <a:chOff x="1304925" y="1562100"/>
            <a:chExt cx="9582150" cy="1200150"/>
          </a:xfrm>
        </p:grpSpPr>
        <p:sp>
          <p:nvSpPr>
            <p:cNvPr id="6" name="Rectangle 6"/>
            <p:cNvSpPr/>
            <p:nvPr/>
          </p:nvSpPr>
          <p:spPr>
            <a:xfrm>
              <a:off x="1304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606550" y="1850231"/>
              <a:ext cx="215901" cy="242888"/>
              <a:chOff x="1606550" y="1850231"/>
              <a:chExt cx="215901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06550" y="18502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606550" y="18907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606550" y="19716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A1 采集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9240" y="24965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raw sources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051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606800" y="1863725"/>
              <a:ext cx="215900" cy="215900"/>
              <a:chOff x="3606800" y="1863725"/>
              <a:chExt cx="215900" cy="2159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660775" y="18637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606800" y="19177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53377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A2/A3 清洗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39490" y="24965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normalized / clean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054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593556" y="1850231"/>
              <a:ext cx="242888" cy="242888"/>
              <a:chOff x="5593556" y="1850231"/>
              <a:chExt cx="242888" cy="2428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715000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620544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782469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715000" y="18502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593556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620544" y="18502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534025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A4/A5 画像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39740" y="24965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球员与球队偏好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0567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607300" y="1863725"/>
              <a:ext cx="215901" cy="215901"/>
              <a:chOff x="7607300" y="1863725"/>
              <a:chExt cx="215901" cy="21590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607300" y="19177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34288" y="18637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34288" y="19716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688263" y="19986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15250" y="18637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15250" y="20526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69226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96213" y="18637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96213" y="19311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53427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A6 参数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39990" y="2496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规则与场景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05925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594056" y="1850231"/>
              <a:ext cx="242888" cy="242888"/>
              <a:chOff x="9594056" y="185023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9594056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648031" y="190420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782969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715500" y="19851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690672" y="1953054"/>
                <a:ext cx="31575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31575" h="38862">
                    <a:moveTo>
                      <a:pt x="0" y="0"/>
                    </a:moveTo>
                    <a:lnTo>
                      <a:pt x="31575" y="388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757169" y="1927713"/>
                <a:ext cx="38282" cy="61882"/>
              </a:xfrm>
              <a:custGeom>
                <a:avLst/>
                <a:gdLst/>
                <a:ahLst/>
                <a:cxnLst/>
                <a:rect l="l" t="t" r="r" b="b"/>
                <a:pathLst>
                  <a:path w="38282" h="61882">
                    <a:moveTo>
                      <a:pt x="0" y="61882"/>
                    </a:moveTo>
                    <a:lnTo>
                      <a:pt x="3828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534525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A7 预测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40240" y="2496502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locked board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28860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31718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48863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51720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88657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17232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8886825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9172575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00150" y="3562350"/>
            <a:ext cx="10475405" cy="1676400"/>
            <a:chOff x="1200150" y="3562350"/>
            <a:chExt cx="10475405" cy="1676400"/>
          </a:xfrm>
        </p:grpSpPr>
        <p:sp>
          <p:nvSpPr>
            <p:cNvPr id="61" name="Rectangle 61"/>
            <p:cNvSpPr/>
            <p:nvPr/>
          </p:nvSpPr>
          <p:spPr>
            <a:xfrm>
              <a:off x="120015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1569251" y="3952875"/>
              <a:ext cx="310011" cy="285751"/>
              <a:chOff x="1569251" y="3952875"/>
              <a:chExt cx="310011" cy="28575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5692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7811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2087880" y="3945255"/>
              <a:ext cx="25673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Supervisor 守边界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522095" y="452723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缺来源、字段不完整、结构不合法，全部退回。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525905" y="48834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预测变化只能来自数据、参数、护栏或完整重跑。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1510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937375" y="3952875"/>
              <a:ext cx="254001" cy="301626"/>
              <a:chOff x="6937375" y="3952875"/>
              <a:chExt cx="254001" cy="3016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080250" y="39528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37375" y="3952875"/>
                <a:ext cx="254001" cy="301626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301626">
                    <a:moveTo>
                      <a:pt x="103188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158750"/>
                    </a:lnTo>
                    <a:moveTo>
                      <a:pt x="142875" y="254001"/>
                    </a:moveTo>
                    <a:lnTo>
                      <a:pt x="254001" y="254001"/>
                    </a:lnTo>
                    <a:moveTo>
                      <a:pt x="206375" y="206375"/>
                    </a:moveTo>
                    <a:lnTo>
                      <a:pt x="254001" y="254001"/>
                    </a:lnTo>
                    <a:lnTo>
                      <a:pt x="206375" y="30162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402830" y="39452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前端只展示与导出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37045" y="4527232"/>
              <a:ext cx="48385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查看证据、风险、备选项，导出 JSON 和 brief。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40855" y="48834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不开放人工换人、人工调权、人工重排。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362200" y="5715000"/>
            <a:ext cx="7467600" cy="476250"/>
            <a:chOff x="2362200" y="5715000"/>
            <a:chExt cx="7467600" cy="476250"/>
          </a:xfrm>
        </p:grpSpPr>
        <p:sp>
          <p:nvSpPr>
            <p:cNvPr id="76" name="Rectangle 76"/>
            <p:cNvSpPr/>
            <p:nvPr/>
          </p:nvSpPr>
          <p:spPr>
            <a:xfrm>
              <a:off x="2362200" y="5715000"/>
              <a:ext cx="74676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666048" y="5849779"/>
              <a:ext cx="6677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这套流程把“模型可能胡说”的风险，压回到文件证据和脚本验证里。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320940" cy="844867"/>
            <a:chOff x="569595" y="402908"/>
            <a:chExt cx="6320940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3209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预测算法：顺位贪心 + 风险校验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3687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对每个“球队-球员”组合打分，再按真实选秀顺序依次选择。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7750" y="1676400"/>
            <a:ext cx="10820400" cy="1333500"/>
            <a:chOff x="1047750" y="1676400"/>
            <a:chExt cx="10820400" cy="1333500"/>
          </a:xfrm>
        </p:grpSpPr>
        <p:sp>
          <p:nvSpPr>
            <p:cNvPr id="6" name="Rectangle 6"/>
            <p:cNvSpPr/>
            <p:nvPr/>
          </p:nvSpPr>
          <p:spPr>
            <a:xfrm>
              <a:off x="1047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31925" y="2007394"/>
              <a:ext cx="241299" cy="271462"/>
              <a:chOff x="1431925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31925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31925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31925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81188" y="2026444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构造候选池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4455" y="2521268"/>
              <a:ext cx="30766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101 官方池、124 本地池、球队顺位。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9052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5339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672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051425" y="2022475"/>
              <a:ext cx="241299" cy="241300"/>
              <a:chOff x="5051425" y="2022475"/>
              <a:chExt cx="241299" cy="2413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051425" y="20828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81587" y="202247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081587" y="214312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141912" y="217328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172075" y="202247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172075" y="223361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232399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2" y="202247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62562" y="209788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500688" y="202644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逐队逐人打分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3955" y="25212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共识、需求、能力、潜力、热度，扣风险。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5247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1534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6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655844" y="2007394"/>
              <a:ext cx="271462" cy="271462"/>
              <a:chOff x="8655844" y="2007394"/>
              <a:chExt cx="271462" cy="2714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655844" y="20073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0"/>
                    </a:moveTo>
                    <a:lnTo>
                      <a:pt x="0" y="271462"/>
                    </a:lnTo>
                    <a:lnTo>
                      <a:pt x="271462" y="2714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6169" y="2067719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866981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91575" y="215820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63825" y="2122313"/>
                <a:ext cx="35290" cy="43434"/>
              </a:xfrm>
              <a:custGeom>
                <a:avLst/>
                <a:gdLst/>
                <a:ahLst/>
                <a:cxnLst/>
                <a:rect l="l" t="t" r="r" b="b"/>
                <a:pathLst>
                  <a:path w="35290" h="43434">
                    <a:moveTo>
                      <a:pt x="0" y="0"/>
                    </a:moveTo>
                    <a:lnTo>
                      <a:pt x="35290" y="43434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838145" y="2093990"/>
                <a:ext cx="42785" cy="69162"/>
              </a:xfrm>
              <a:custGeom>
                <a:avLst/>
                <a:gdLst/>
                <a:ahLst/>
                <a:cxnLst/>
                <a:rect l="l" t="t" r="r" b="b"/>
                <a:pathLst>
                  <a:path w="42785" h="69162">
                    <a:moveTo>
                      <a:pt x="0" y="69162"/>
                    </a:moveTo>
                    <a:lnTo>
                      <a:pt x="4278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20188" y="2026444"/>
              <a:ext cx="225290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输出 locked 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93455" y="25212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picks、无重复、含证据和 warning。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43000" y="3638550"/>
            <a:ext cx="9906000" cy="1016794"/>
            <a:chOff x="1143000" y="3638550"/>
            <a:chExt cx="9906000" cy="1016794"/>
          </a:xfrm>
        </p:grpSpPr>
        <p:sp>
          <p:nvSpPr>
            <p:cNvPr id="41" name="Rectangle 41"/>
            <p:cNvSpPr/>
            <p:nvPr/>
          </p:nvSpPr>
          <p:spPr>
            <a:xfrm>
              <a:off x="1143000" y="3638550"/>
              <a:ext cx="9906000" cy="990600"/>
            </a:xfrm>
            <a:prstGeom prst="roundRect">
              <a:avLst>
                <a:gd name="adj" fmla="val 17308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516856" y="3974306"/>
              <a:ext cx="300038" cy="300038"/>
              <a:chOff x="1516856" y="3974306"/>
              <a:chExt cx="300038" cy="30003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650206" y="410765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583531" y="404098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516856" y="3974306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0" y="150019"/>
                    </a:moveTo>
                    <a:cubicBezTo>
                      <a:pt x="0" y="232872"/>
                      <a:pt x="67166" y="300038"/>
                      <a:pt x="150019" y="300038"/>
                    </a:cubicBezTo>
                    <a:cubicBezTo>
                      <a:pt x="232872" y="300038"/>
                      <a:pt x="300038" y="232872"/>
                      <a:pt x="300038" y="150019"/>
                    </a:cubicBezTo>
                    <a:cubicBezTo>
                      <a:pt x="300038" y="67166"/>
                      <a:pt x="232872" y="0"/>
                      <a:pt x="150019" y="0"/>
                    </a:cubicBezTo>
                    <a:cubicBezTo>
                      <a:pt x="67166" y="0"/>
                      <a:pt x="0" y="67166"/>
                      <a:pt x="0" y="15001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069782" y="4010501"/>
              <a:ext cx="597732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总分 = 共识 + 需求 + 能力 + 潜力 + 热度 - 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79308" y="4396264"/>
              <a:ext cx="51840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代码使用 35/25/20/10/10 权重；路演只讲因素、护栏和结果校验。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76400" y="5219700"/>
            <a:ext cx="9124950" cy="666750"/>
            <a:chOff x="1676400" y="5219700"/>
            <a:chExt cx="9124950" cy="666750"/>
          </a:xfrm>
        </p:grpSpPr>
        <p:sp>
          <p:nvSpPr>
            <p:cNvPr id="49" name="Rectangle 49"/>
            <p:cNvSpPr/>
            <p:nvPr/>
          </p:nvSpPr>
          <p:spPr>
            <a:xfrm>
              <a:off x="16764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1983581" y="5438775"/>
              <a:ext cx="178595" cy="202406"/>
              <a:chOff x="1983581" y="5438775"/>
              <a:chExt cx="178595" cy="20240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983581" y="5438775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54947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090738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031206" y="5486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031206" y="553402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23241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无重复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07995" y="5441632"/>
              <a:ext cx="6469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0386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321969" y="5462588"/>
              <a:ext cx="214312" cy="142875"/>
              <a:chOff x="4321969" y="5462588"/>
              <a:chExt cx="214312" cy="14287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405312" y="55102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321969" y="546258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6863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低置信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7019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008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8101" y="5426869"/>
              <a:ext cx="232508" cy="214312"/>
              <a:chOff x="6668101" y="5426869"/>
              <a:chExt cx="232508" cy="214312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8101" y="54268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27044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0485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证据承载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1945" y="5441632"/>
              <a:ext cx="5259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PASS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7630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9070181" y="5426869"/>
              <a:ext cx="166688" cy="214312"/>
              <a:chOff x="9070181" y="5426869"/>
              <a:chExt cx="166688" cy="21431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070181" y="5522119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141619" y="556974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105900" y="5426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4107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人工换人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30414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1500" y="400050"/>
            <a:ext cx="6376988" cy="828675"/>
            <a:chOff x="571500" y="400050"/>
            <a:chExt cx="6376988" cy="828675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40005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产品界面佐证：预测、证据、导出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23925"/>
              <a:ext cx="57588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三件事在同一驾驶舱完成；截图保留 raster，标注保持可编辑。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428750"/>
            <a:ext cx="7029450" cy="4724400"/>
            <a:chOff x="590550" y="1428750"/>
            <a:chExt cx="7029450" cy="4724400"/>
          </a:xfrm>
        </p:grpSpPr>
        <p:sp>
          <p:nvSpPr>
            <p:cNvPr id="6" name="Rectangle 6"/>
            <p:cNvSpPr/>
            <p:nvPr/>
          </p:nvSpPr>
          <p:spPr>
            <a:xfrm>
              <a:off x="590550" y="1428750"/>
              <a:ext cx="7029450" cy="4724400"/>
            </a:xfrm>
            <a:prstGeom prst="roundRect">
              <a:avLst>
                <a:gd name="adj" fmla="val 3226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8027" y="1619250"/>
              <a:ext cx="6254496" cy="43434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7962900" y="1466850"/>
            <a:ext cx="3505200" cy="1200150"/>
            <a:chOff x="7962900" y="1466850"/>
            <a:chExt cx="3505200" cy="1200150"/>
          </a:xfrm>
        </p:grpSpPr>
        <p:sp>
          <p:nvSpPr>
            <p:cNvPr id="9" name="Rectangle 9"/>
            <p:cNvSpPr/>
            <p:nvPr/>
          </p:nvSpPr>
          <p:spPr>
            <a:xfrm>
              <a:off x="7962900" y="1466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038" y="1809750"/>
              <a:ext cx="214312" cy="242888"/>
              <a:chOff x="8301038" y="1809750"/>
              <a:chExt cx="214312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01038" y="18097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65937" y="228600"/>
                    </a:move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25" y="19954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58188" y="1866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58188" y="19240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722042" y="1814036"/>
              <a:ext cx="18311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30 顺位直接展开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3408" y="2243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完整性、低置信、锁定状态在顶部可见。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62900" y="2990850"/>
            <a:ext cx="3505200" cy="1200150"/>
            <a:chOff x="7962900" y="2990850"/>
            <a:chExt cx="3505200" cy="1200150"/>
          </a:xfrm>
        </p:grpSpPr>
        <p:sp>
          <p:nvSpPr>
            <p:cNvPr id="18" name="Rectangle 18"/>
            <p:cNvSpPr/>
            <p:nvPr/>
          </p:nvSpPr>
          <p:spPr>
            <a:xfrm>
              <a:off x="7962900" y="2990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272462" y="3362325"/>
              <a:ext cx="257175" cy="171450"/>
              <a:chOff x="8272462" y="3362325"/>
              <a:chExt cx="257175" cy="17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72475" y="3419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2462" y="33623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722042" y="3338036"/>
              <a:ext cx="16258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单 pick 可解释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3408" y="3767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证据、风险、适配、备选跟随球员切换。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62900" y="4514850"/>
            <a:ext cx="4057365" cy="1200150"/>
            <a:chOff x="7962900" y="4514850"/>
            <a:chExt cx="4057365" cy="1200150"/>
          </a:xfrm>
        </p:grpSpPr>
        <p:sp>
          <p:nvSpPr>
            <p:cNvPr id="25" name="Rectangle 25"/>
            <p:cNvSpPr/>
            <p:nvPr/>
          </p:nvSpPr>
          <p:spPr>
            <a:xfrm>
              <a:off x="7962900" y="4514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301038" y="4843462"/>
              <a:ext cx="228600" cy="271462"/>
              <a:chOff x="8301038" y="4843462"/>
              <a:chExt cx="228600" cy="2714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429625" y="48434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01038" y="4843462"/>
                <a:ext cx="228600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71462">
                    <a:moveTo>
                      <a:pt x="92869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142875"/>
                    </a:lnTo>
                    <a:moveTo>
                      <a:pt x="128588" y="228600"/>
                    </a:moveTo>
                    <a:lnTo>
                      <a:pt x="228600" y="228600"/>
                    </a:lnTo>
                    <a:moveTo>
                      <a:pt x="185738" y="185738"/>
                    </a:moveTo>
                    <a:lnTo>
                      <a:pt x="228600" y="228600"/>
                    </a:lnTo>
                    <a:lnTo>
                      <a:pt x="185738" y="2714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722042" y="48620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导出提交物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3408" y="5291614"/>
              <a:ext cx="38068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submission JSON 与 roadshow brief 一键生成。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29500" y="1990725"/>
            <a:ext cx="533400" cy="3200400"/>
            <a:chOff x="7429500" y="1990725"/>
            <a:chExt cx="533400" cy="3200400"/>
          </a:xfrm>
        </p:grpSpPr>
        <p:sp>
          <p:nvSpPr>
            <p:cNvPr id="32" name="Line 32"/>
            <p:cNvSpPr/>
            <p:nvPr/>
          </p:nvSpPr>
          <p:spPr>
            <a:xfrm>
              <a:off x="7429500" y="2066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33E18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429500" y="1990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33E18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7429500" y="3590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429500" y="3514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429500" y="5114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D166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429500" y="5038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D166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158945" cy="844867"/>
            <a:chOff x="569595" y="402908"/>
            <a:chExt cx="715894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15894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AWS/RAG：可回答、能部署、可追溯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288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Lambda/API + RAG 负责只读问答；索引来自本地构建并可同步到 S3。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62075" y="1600200"/>
            <a:ext cx="9467850" cy="1066800"/>
            <a:chOff x="1362075" y="1600200"/>
            <a:chExt cx="9467850" cy="1066800"/>
          </a:xfrm>
        </p:grpSpPr>
        <p:sp>
          <p:nvSpPr>
            <p:cNvPr id="6" name="Rectangle 6"/>
            <p:cNvSpPr/>
            <p:nvPr/>
          </p:nvSpPr>
          <p:spPr>
            <a:xfrm>
              <a:off x="13620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50206" y="1901825"/>
              <a:ext cx="242889" cy="225426"/>
              <a:chOff x="1650206" y="1901825"/>
              <a:chExt cx="242889" cy="22542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50206" y="1901825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242888" y="107950"/>
                    </a:moveTo>
                    <a:lnTo>
                      <a:pt x="242888" y="148432"/>
                    </a:lnTo>
                    <a:cubicBezTo>
                      <a:pt x="242888" y="155884"/>
                      <a:pt x="236847" y="161925"/>
                      <a:pt x="229394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704181" y="2117726"/>
                <a:ext cx="1349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9525">
                    <a:moveTo>
                      <a:pt x="0" y="0"/>
                    </a:move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31169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812132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839119" y="190182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0"/>
                    </a:ln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6" y="1901825"/>
                <a:ext cx="67469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67469">
                    <a:moveTo>
                      <a:pt x="0" y="67469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045970" y="1898332"/>
              <a:ext cx="1636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前端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5438" y="2316956"/>
              <a:ext cx="1423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预测板 / 证据 / 导出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1718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37814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9147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216400" y="1955800"/>
              <a:ext cx="225426" cy="107950"/>
              <a:chOff x="4216400" y="1955800"/>
              <a:chExt cx="225426" cy="1079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216400" y="2023269"/>
                <a:ext cx="674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9525">
                    <a:moveTo>
                      <a:pt x="0" y="0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32435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0" y="107950"/>
                    </a:moveTo>
                    <a:lnTo>
                      <a:pt x="0" y="0"/>
                    </a:lnTo>
                    <a:lnTo>
                      <a:pt x="40481" y="0"/>
                    </a:lnTo>
                    <a:cubicBezTo>
                      <a:pt x="55386" y="0"/>
                      <a:pt x="67469" y="12083"/>
                      <a:pt x="67469" y="26988"/>
                    </a:cubicBezTo>
                    <a:lnTo>
                      <a:pt x="67469" y="40481"/>
                    </a:lnTo>
                    <a:cubicBezTo>
                      <a:pt x="67469" y="55386"/>
                      <a:pt x="55386" y="67469"/>
                      <a:pt x="40481" y="67469"/>
                    </a:cubicBezTo>
                    <a:lnTo>
                      <a:pt x="0" y="67469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432301" y="195580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216400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67469" y="107950"/>
                    </a:moveTo>
                    <a:lnTo>
                      <a:pt x="67469" y="33734"/>
                    </a:lnTo>
                    <a:cubicBezTo>
                      <a:pt x="67469" y="15103"/>
                      <a:pt x="52365" y="0"/>
                      <a:pt x="33734" y="0"/>
                    </a:cubicBezTo>
                    <a:cubicBezTo>
                      <a:pt x="15103" y="0"/>
                      <a:pt x="0" y="15103"/>
                      <a:pt x="0" y="33734"/>
                    </a:cubicBez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598670" y="1898332"/>
              <a:ext cx="10699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Agent 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8138" y="2316956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Lambda / local proxy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7245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3341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74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755606" y="1888331"/>
              <a:ext cx="242888" cy="242888"/>
              <a:chOff x="6755606" y="1888331"/>
              <a:chExt cx="242888" cy="2428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755606" y="20772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44519" y="18883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82594" y="191531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151370" y="1898332"/>
              <a:ext cx="11855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RAG 检索层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0838" y="2316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ranking / MMR / fallback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277225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886825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20175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308306" y="1888331"/>
              <a:ext cx="242888" cy="242888"/>
              <a:chOff x="9308306" y="1888331"/>
              <a:chExt cx="242888" cy="24288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429750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35294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97219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29750" y="18883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308306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35294" y="18883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704070" y="18983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模型层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3538" y="231695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DeepSeek / Bedrock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00150" y="3581400"/>
            <a:ext cx="9791700" cy="1428750"/>
            <a:chOff x="1200150" y="3581400"/>
            <a:chExt cx="9791700" cy="1428750"/>
          </a:xfrm>
        </p:grpSpPr>
        <p:sp>
          <p:nvSpPr>
            <p:cNvPr id="48" name="Rectangle 48"/>
            <p:cNvSpPr/>
            <p:nvPr/>
          </p:nvSpPr>
          <p:spPr>
            <a:xfrm>
              <a:off x="12001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574800" y="3979704"/>
              <a:ext cx="317501" cy="211360"/>
            </a:xfrm>
            <a:custGeom>
              <a:avLst/>
              <a:gdLst/>
              <a:ahLst/>
              <a:cxnLst/>
              <a:rect l="l" t="t" r="r" b="b"/>
              <a:pathLst>
                <a:path w="317501" h="211360">
                  <a:moveTo>
                    <a:pt x="73930" y="211297"/>
                  </a:moveTo>
                  <a:cubicBezTo>
                    <a:pt x="33099" y="211297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6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4"/>
                  </a:cubicBezTo>
                  <a:lnTo>
                    <a:pt x="262510" y="100664"/>
                  </a:lnTo>
                  <a:cubicBezTo>
                    <a:pt x="292878" y="100664"/>
                    <a:pt x="317501" y="125429"/>
                    <a:pt x="317501" y="156004"/>
                  </a:cubicBezTo>
                  <a:cubicBezTo>
                    <a:pt x="317501" y="186595"/>
                    <a:pt x="292878" y="211360"/>
                    <a:pt x="262494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62B8F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89785" y="3961448"/>
              <a:ext cx="15239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S3 索引文件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22095" y="4451032"/>
              <a:ext cx="26756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5 indexes / 1304 chunks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28762" y="4774406"/>
              <a:ext cx="2338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55 sources，local-hash vectors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672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057775" y="3968750"/>
              <a:ext cx="285751" cy="254000"/>
              <a:chOff x="5057775" y="3968750"/>
              <a:chExt cx="285751" cy="254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057775" y="3968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057775" y="4095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121275" y="403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121275" y="4159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556885" y="3961448"/>
              <a:ext cx="13054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DynamoDB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89195" y="4451032"/>
              <a:ext cx="23406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33E18A"/>
                  </a:solidFill>
                  <a:latin typeface="Arial"/>
                  <a:ea typeface="Arial"/>
                  <a:cs typeface="Arial"/>
                </a:rPr>
                <a:t>124 feature records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95862" y="47744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身体、测量、标签与嵌套字段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343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503451" y="3952875"/>
              <a:ext cx="310011" cy="285751"/>
              <a:chOff x="8503451" y="3952875"/>
              <a:chExt cx="310011" cy="28575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5034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023985" y="39614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只读护栏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56295" y="4451032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D166"/>
                  </a:solidFill>
                  <a:latin typeface="Arial"/>
                  <a:ea typeface="Arial"/>
                  <a:cs typeface="Arial"/>
                </a:rPr>
                <a:t>weak evidence aware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2962" y="4774406"/>
              <a:ext cx="22863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不改代码、不换人、不覆盖 board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057400" y="5619750"/>
            <a:ext cx="8077200" cy="514350"/>
            <a:chOff x="2057400" y="5619750"/>
            <a:chExt cx="8077200" cy="514350"/>
          </a:xfrm>
        </p:grpSpPr>
        <p:sp>
          <p:nvSpPr>
            <p:cNvPr id="70" name="Rectangle 70"/>
            <p:cNvSpPr/>
            <p:nvPr/>
          </p:nvSpPr>
          <p:spPr>
            <a:xfrm>
              <a:off x="2057400" y="5619750"/>
              <a:ext cx="80772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323148" y="5783104"/>
              <a:ext cx="720715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项目边界：代码含 Lambda API；未补完整 IaC 前，按可部署 API 层表述。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81050" y="685800"/>
              <a:ext cx="10629900" cy="5467350"/>
            </a:xfrm>
            <a:prstGeom prst="roundRect">
              <a:avLst>
                <a:gd name="adj" fmla="val 3833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15390" y="1110615"/>
            <a:ext cx="6671310" cy="2318385"/>
            <a:chOff x="1215390" y="1110615"/>
            <a:chExt cx="6671310" cy="2318385"/>
          </a:xfrm>
        </p:grpSpPr>
        <p:sp>
          <p:nvSpPr>
            <p:cNvPr id="5" name="TextBox 5"/>
            <p:cNvSpPr txBox="1"/>
            <p:nvPr/>
          </p:nvSpPr>
          <p:spPr>
            <a:xfrm>
              <a:off x="1215390" y="1110615"/>
              <a:ext cx="521266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最终交付不是“模型回答”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28725" y="1719262"/>
              <a:ext cx="66579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而是一套可提交、可复核、可演示的项目资产包。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57300" y="2266950"/>
              <a:ext cx="51435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0" y="2701290"/>
              <a:ext cx="561213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把 30 顺位预测和 7 个里程碑答案，拆成</a:t>
              </a: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可信数据工程、可复现 Agent 流程和可导出产品界面。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57300" y="3810000"/>
            <a:ext cx="9677400" cy="1200150"/>
            <a:chOff x="1257300" y="3810000"/>
            <a:chExt cx="9677400" cy="1200150"/>
          </a:xfrm>
        </p:grpSpPr>
        <p:sp>
          <p:nvSpPr>
            <p:cNvPr id="10" name="Rectangle 10"/>
            <p:cNvSpPr/>
            <p:nvPr/>
          </p:nvSpPr>
          <p:spPr>
            <a:xfrm>
              <a:off x="12573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641475" y="4140994"/>
              <a:ext cx="241299" cy="271462"/>
              <a:chOff x="1641475" y="4140994"/>
              <a:chExt cx="241299" cy="27146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641475" y="41409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41475" y="41862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41475" y="42767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088832" y="414385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可信数据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5910" y="4594860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官方原始包 + 多层审计产物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0535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074444" y="4186237"/>
              <a:ext cx="271462" cy="180975"/>
              <a:chOff x="5074444" y="4186237"/>
              <a:chExt cx="271462" cy="1809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180012" y="424656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074444" y="4186237"/>
                <a:ext cx="2714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80975">
                    <a:moveTo>
                      <a:pt x="271462" y="90487"/>
                    </a:moveTo>
                    <a:cubicBezTo>
                      <a:pt x="235267" y="150812"/>
                      <a:pt x="190023" y="180975"/>
                      <a:pt x="135731" y="180975"/>
                    </a:cubicBezTo>
                    <a:cubicBezTo>
                      <a:pt x="81439" y="180975"/>
                      <a:pt x="36195" y="150812"/>
                      <a:pt x="0" y="90487"/>
                    </a:cubicBezTo>
                    <a:cubicBezTo>
                      <a:pt x="36195" y="30162"/>
                      <a:pt x="81439" y="0"/>
                      <a:pt x="135731" y="0"/>
                    </a:cubicBezTo>
                    <a:cubicBezTo>
                      <a:pt x="190023" y="0"/>
                      <a:pt x="235267" y="30162"/>
                      <a:pt x="271462" y="9048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53688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可解释预测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13960" y="45948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52656" y="4140994"/>
              <a:ext cx="241299" cy="286543"/>
              <a:chOff x="8552656" y="4140994"/>
              <a:chExt cx="241299" cy="28654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688387" y="4140994"/>
                <a:ext cx="75406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75406" h="75406">
                    <a:moveTo>
                      <a:pt x="0" y="0"/>
                    </a:moveTo>
                    <a:lnTo>
                      <a:pt x="0" y="60325"/>
                    </a:lnTo>
                    <a:cubicBezTo>
                      <a:pt x="0" y="68654"/>
                      <a:pt x="6752" y="75406"/>
                      <a:pt x="15081" y="75406"/>
                    </a:cubicBezTo>
                    <a:lnTo>
                      <a:pt x="75406" y="7540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552656" y="4140994"/>
                <a:ext cx="241299" cy="286543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286543">
                    <a:moveTo>
                      <a:pt x="98028" y="271462"/>
                    </a:moveTo>
                    <a:lnTo>
                      <a:pt x="30162" y="271462"/>
                    </a:lnTo>
                    <a:cubicBezTo>
                      <a:pt x="13504" y="271462"/>
                      <a:pt x="0" y="257958"/>
                      <a:pt x="0" y="241299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35731" y="0"/>
                    </a:lnTo>
                    <a:lnTo>
                      <a:pt x="211137" y="75406"/>
                    </a:lnTo>
                    <a:lnTo>
                      <a:pt x="211137" y="150812"/>
                    </a:lnTo>
                    <a:moveTo>
                      <a:pt x="135731" y="241299"/>
                    </a:moveTo>
                    <a:lnTo>
                      <a:pt x="241299" y="241299"/>
                    </a:lnTo>
                    <a:moveTo>
                      <a:pt x="196056" y="196056"/>
                    </a:moveTo>
                    <a:lnTo>
                      <a:pt x="241299" y="241299"/>
                    </a:lnTo>
                    <a:lnTo>
                      <a:pt x="196056" y="28654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8493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可提交系统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2010" y="4594860"/>
              <a:ext cx="16146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JSON、brief、答题卡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57300" y="5429250"/>
            <a:ext cx="9677400" cy="476250"/>
            <a:chOff x="1257300" y="5429250"/>
            <a:chExt cx="9677400" cy="476250"/>
          </a:xfrm>
        </p:grpSpPr>
        <p:sp>
          <p:nvSpPr>
            <p:cNvPr id="30" name="Rectangle 30"/>
            <p:cNvSpPr/>
            <p:nvPr/>
          </p:nvSpPr>
          <p:spPr>
            <a:xfrm>
              <a:off x="1257300" y="5429250"/>
              <a:ext cx="96774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61148" y="55640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一句话总结：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80348" y="5564029"/>
              <a:ext cx="534316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 + 7 answers 能被解释、被审计，并稳定提交。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2026-06-23T17:37:45Z</dcterms:created>
  <dcterms:modified xsi:type="dcterms:W3CDTF">2026-06-23T17:37:45Z</dcterms:modified>
  <cp:category/>
  <cp:contentStatus/>
</cp:coreProperties>
</file>