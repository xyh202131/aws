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这一页先给评委一个直观印象：DraftOps 不是一张静态名单，而是一个可以查看、复核、导出的选秀预测驾驶舱。我们把官方数据、外部选秀信号、球队上下文和 Agent 证据统一到一个可运行界面里。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比赛不是简单猜 30 个名字。它同时考察预测结果、里程碑问题、代码质量和 6 分钟路演。难点在于数据多、信息会变化、预测要可解释，并且最后不能靠人工拍脑袋改名单。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我们的第一层工作是建立可信数据链路。官方原始文件只读保存，外部来源进入 raw 登记，再经过 normalized、clean、final、boards 多层产物，最后由前端读取和导出。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这里的 Agent 协作不是大家一起聊天，而是每个 Agent 负责一个清晰环节。数据采集不直接改结果，预测生成不直接采集来源，最终由 Supervisor 和提交检查把结构、证据、重复、空值和规则边界统一验收。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算法逻辑可以讲得很直白：对每一个球队和球员组合打分，再按真实选秀顺序从第一顺位到第三十顺位依次选择。选中后移出候选池，所以不会重复。分数来自共识、球队需求、球员能力、上限、热度和风险惩罚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这一页用真实截图证明系统已经跑起来。左侧可以看到 30 顺位完整预测板，右侧可以看到单个球员的证据、风险、适配和来源，顶部还能导出路演简报和提交结果。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AWS/RAG 层让系统不仅能展示结果，还能回答比赛相关问题。S3 保存 RAG 索引和标准化文件，DynamoDB 保存球员特征，Lambda/API 负责只读问答入口，检索层再把证据交给 DeepSeek 或 Bedrock。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最后回到交付价值：我们提交的不是一段模型回答，而是一套可复核资产，包括锁定预测板、里程碑答案、填好的答题卡、前端演示、代码仓库、RAG 同步和验证报告。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f9ac74e1678307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dc842a1e985900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0B10"/>
              </a:gs>
              <a:gs pos="100000">
                <a:srgbClr val="102033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00050" y="457200"/>
            <a:ext cx="11391900" cy="5943600"/>
          </a:xfrm>
          <a:prstGeom prst="roundRect">
            <a:avLst>
              <a:gd name="adj" fmla="val 2885"/>
            </a:avLst>
          </a:prstGeom>
          <a:solidFill>
            <a:srgbClr val="101820">
              <a:alpha val="82000"/>
            </a:srgbClr>
          </a:solidFill>
          <a:ln w="14288">
            <a:solidFill>
              <a:srgbClr val="28455E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7162800" y="742950"/>
            <a:ext cx="4038600" cy="2800350"/>
          </a:xfrm>
          <a:prstGeom prst="roundRect">
            <a:avLst>
              <a:gd name="adj" fmla="val 4082"/>
            </a:avLst>
          </a:prstGeom>
          <a:solidFill>
            <a:srgbClr val="070B10"/>
          </a:solidFill>
          <a:ln w="11430">
            <a:solidFill>
              <a:srgbClr val="28455E"/>
            </a:solidFill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298" y="914400"/>
            <a:ext cx="3689604" cy="2562225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7334250" y="914400"/>
            <a:ext cx="3695700" cy="2562225"/>
          </a:xfrm>
          <a:prstGeom prst="rect">
            <a:avLst/>
          </a:prstGeom>
          <a:solidFill>
            <a:srgbClr val="070B10">
              <a:alpha val="2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1016318"/>
            <a:ext cx="29830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62B8FF"/>
                </a:solidFill>
                <a:latin typeface="Arial"/>
                <a:ea typeface="Arial"/>
                <a:cs typeface="Arial"/>
              </a:rPr>
              <a:t>AWS × NBA Competition Roadshow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1400175"/>
            <a:ext cx="3012662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E7F2FF"/>
                </a:solidFill>
                <a:latin typeface="Arial"/>
                <a:ea typeface="Arial"/>
                <a:cs typeface="Arial"/>
              </a:rPr>
              <a:t>DraftOps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4375" y="2100262"/>
            <a:ext cx="548782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面向 2026 NBA 选秀的 Agent 预测驾驶舱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42950" y="2857500"/>
            <a:ext cx="5334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2B8FF">
                  <a:alpha val="95000"/>
                </a:srgbClr>
              </a:gs>
              <a:gs pos="100000">
                <a:srgbClr val="33E18A">
                  <a:alpha val="75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19138" y="3245644"/>
            <a:ext cx="6560344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850"/>
              </a:lnSpc>
            </a:pPr>
            <a:r>
              <a:rPr lang="zh-CN" sz="18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把官方数据、外部选秀信号、球队需求和多 Agent 复核流程，</a:t>
            </a:r>
            <a:r>
              <a:rPr lang="zh-CN" sz="18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转化为可解释、可审计、可提交的首轮预测。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42950" y="4438650"/>
            <a:ext cx="1485900" cy="914400"/>
          </a:xfrm>
          <a:prstGeom prst="roundRect">
            <a:avLst>
              <a:gd name="adj" fmla="val 12500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35355" y="4569142"/>
            <a:ext cx="116977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33E18A"/>
                </a:solidFill>
                <a:latin typeface="Consolas"/>
                <a:ea typeface="Consolas"/>
                <a:cs typeface="Consolas"/>
              </a:rPr>
              <a:t>30/30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4405" y="5016818"/>
            <a:ext cx="9344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完整预测板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457450" y="4438650"/>
            <a:ext cx="1485900" cy="914400"/>
          </a:xfrm>
          <a:prstGeom prst="roundRect">
            <a:avLst>
              <a:gd name="adj" fmla="val 12500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649855" y="4569142"/>
            <a:ext cx="730822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62B8FF"/>
                </a:solidFill>
                <a:latin typeface="Consolas"/>
                <a:ea typeface="Consolas"/>
                <a:cs typeface="Consolas"/>
              </a:rPr>
              <a:t>124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68905" y="5016818"/>
            <a:ext cx="9344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本地候选池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171950" y="4438650"/>
            <a:ext cx="1485900" cy="914400"/>
          </a:xfrm>
          <a:prstGeom prst="roundRect">
            <a:avLst>
              <a:gd name="adj" fmla="val 12500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364355" y="4569142"/>
            <a:ext cx="730822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RAG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83405" y="5016818"/>
            <a:ext cx="9614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AWS 问答层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7710" y="5890260"/>
            <a:ext cx="26388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可信数据 / 可解释预测 / 可提交系统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9595" y="402908"/>
            <a:ext cx="4534667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比赛任务不是“猜名单”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942975"/>
            <a:ext cx="38385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它同时考察预测、工程、路演和提交稳定性</a:t>
            </a:r>
          </a:p>
        </p:txBody>
      </p:sp>
      <p:sp>
        <p:nvSpPr>
          <p:cNvPr id="5" name="Rectangle 5"/>
          <p:cNvSpPr/>
          <p:nvPr/>
        </p:nvSpPr>
        <p:spPr>
          <a:xfrm>
            <a:off x="609600" y="1466850"/>
            <a:ext cx="10972800" cy="4476750"/>
          </a:xfrm>
          <a:prstGeom prst="roundRect">
            <a:avLst>
              <a:gd name="adj" fmla="val 2979"/>
            </a:avLst>
          </a:prstGeom>
          <a:solidFill>
            <a:srgbClr val="101820"/>
          </a:solidFill>
          <a:ln w="9525">
            <a:solidFill>
              <a:srgbClr val="28455E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876300" y="1809750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62990" y="1891665"/>
            <a:ext cx="93862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rgbClr val="62B8FF"/>
                </a:solidFill>
                <a:latin typeface="Consolas"/>
                <a:ea typeface="Consolas"/>
                <a:cs typeface="Consolas"/>
              </a:rPr>
              <a:t>30%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2040" y="24536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代码质量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9660" y="2842260"/>
            <a:ext cx="17586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GitHub 提交与 AWS 使用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581400" y="1809750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68090" y="1891665"/>
            <a:ext cx="93862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rgbClr val="62B8FF"/>
                </a:solidFill>
                <a:latin typeface="Consolas"/>
                <a:ea typeface="Consolas"/>
                <a:cs typeface="Consolas"/>
              </a:rPr>
              <a:t>30%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87140" y="24536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现场路演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94760" y="2842260"/>
            <a:ext cx="16066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6 分钟讲清方法和产品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1809750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473190" y="1891665"/>
            <a:ext cx="93862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rgbClr val="33E18A"/>
                </a:solidFill>
                <a:latin typeface="Consolas"/>
                <a:ea typeface="Consolas"/>
                <a:cs typeface="Consolas"/>
              </a:rPr>
              <a:t>40%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92240" y="24536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里程碑预测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99860" y="2842260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名单命中与客观题答案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991600" y="1809750"/>
            <a:ext cx="2324100" cy="1428750"/>
          </a:xfrm>
          <a:prstGeom prst="roundRect">
            <a:avLst>
              <a:gd name="adj" fmla="val 8000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178290" y="1891665"/>
            <a:ext cx="846215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24h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97340" y="24536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连续作战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04960" y="2842260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数据更新与现场提交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6790" y="36537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核心难点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9648" y="4154329"/>
            <a:ext cx="6590824" cy="1520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150"/>
              </a:lnSpc>
            </a:pP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1. 数据来源多：官方 Excel、Combine、NBA.com、媒体 mock、球队需求</a:t>
            </a: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2. 信息会变化：签位、名单、伤病、热度和临场新闻都可能影响结果</a:t>
            </a: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3. 结果要可解释：每个 pick 都要能回到证据、风险和备选项</a:t>
            </a: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4. 不能靠人工改名单：结果必须来自文件、参数、脚本或 Agent 重跑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02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9595" y="402908"/>
            <a:ext cx="493161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数据先可信，预测才可信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942975"/>
            <a:ext cx="4838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官方原始材料只读保存，所有派生产物进入可审计链路</a:t>
            </a:r>
          </a:p>
        </p:txBody>
      </p:sp>
      <p:sp>
        <p:nvSpPr>
          <p:cNvPr id="5" name="Rectangle 5"/>
          <p:cNvSpPr/>
          <p:nvPr/>
        </p:nvSpPr>
        <p:spPr>
          <a:xfrm>
            <a:off x="666750" y="1619250"/>
            <a:ext cx="1809750" cy="1143000"/>
          </a:xfrm>
          <a:prstGeom prst="roundRect">
            <a:avLst>
              <a:gd name="adj" fmla="val 10000"/>
            </a:avLst>
          </a:prstGeom>
          <a:solidFill>
            <a:srgbClr val="142231"/>
          </a:solidFill>
          <a:ln w="9525">
            <a:solidFill>
              <a:srgbClr val="62B8F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09638" y="1874044"/>
            <a:ext cx="136028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官方数据包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8210" y="2299335"/>
            <a:ext cx="12866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数据/ 只读原始区</a:t>
            </a:r>
          </a:p>
        </p:txBody>
      </p:sp>
      <p:sp>
        <p:nvSpPr>
          <p:cNvPr id="8" name="Polygon 8"/>
          <p:cNvSpPr/>
          <p:nvPr/>
        </p:nvSpPr>
        <p:spPr>
          <a:xfrm>
            <a:off x="2724150" y="2000250"/>
            <a:ext cx="419100" cy="381000"/>
          </a:xfrm>
          <a:custGeom>
            <a:avLst/>
            <a:gdLst/>
            <a:ahLst/>
            <a:cxnLst/>
            <a:rect l="l" t="t" r="r" b="b"/>
            <a:pathLst>
              <a:path w="419100" h="381000">
                <a:moveTo>
                  <a:pt x="0" y="190500"/>
                </a:moveTo>
                <a:lnTo>
                  <a:pt x="419100" y="0"/>
                </a:lnTo>
                <a:lnTo>
                  <a:pt x="419100" y="381000"/>
                </a:lnTo>
                <a:close/>
              </a:path>
            </a:pathLst>
          </a:custGeom>
          <a:solidFill>
            <a:srgbClr val="62B8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3352800" y="1619250"/>
            <a:ext cx="1809750" cy="1143000"/>
          </a:xfrm>
          <a:prstGeom prst="roundRect">
            <a:avLst>
              <a:gd name="adj" fmla="val 10000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595688" y="1874044"/>
            <a:ext cx="1137136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raw 登记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04260" y="2299335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来源、时间、可信度</a:t>
            </a:r>
          </a:p>
        </p:txBody>
      </p:sp>
      <p:sp>
        <p:nvSpPr>
          <p:cNvPr id="12" name="Polygon 12"/>
          <p:cNvSpPr/>
          <p:nvPr/>
        </p:nvSpPr>
        <p:spPr>
          <a:xfrm>
            <a:off x="5410200" y="2000250"/>
            <a:ext cx="419100" cy="381000"/>
          </a:xfrm>
          <a:custGeom>
            <a:avLst/>
            <a:gdLst/>
            <a:ahLst/>
            <a:cxnLst/>
            <a:rect l="l" t="t" r="r" b="b"/>
            <a:pathLst>
              <a:path w="419100" h="381000">
                <a:moveTo>
                  <a:pt x="0" y="190500"/>
                </a:moveTo>
                <a:lnTo>
                  <a:pt x="419100" y="0"/>
                </a:lnTo>
                <a:lnTo>
                  <a:pt x="419100" y="381000"/>
                </a:lnTo>
                <a:close/>
              </a:path>
            </a:pathLst>
          </a:custGeom>
          <a:solidFill>
            <a:srgbClr val="62B8FF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038850" y="1619250"/>
            <a:ext cx="1809750" cy="1143000"/>
          </a:xfrm>
          <a:prstGeom prst="roundRect">
            <a:avLst>
              <a:gd name="adj" fmla="val 10000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281738" y="1874044"/>
            <a:ext cx="1412796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75" b="1" dirty="0">
                <a:solidFill>
                  <a:srgbClr val="E7F2FF"/>
                </a:solidFill>
                <a:latin typeface="Arial"/>
                <a:ea typeface="Arial"/>
                <a:cs typeface="Arial"/>
              </a:rPr>
              <a:t>normalized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90310" y="229933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统一字段和名单</a:t>
            </a:r>
          </a:p>
        </p:txBody>
      </p:sp>
      <p:sp>
        <p:nvSpPr>
          <p:cNvPr id="16" name="Polygon 16"/>
          <p:cNvSpPr/>
          <p:nvPr/>
        </p:nvSpPr>
        <p:spPr>
          <a:xfrm>
            <a:off x="8096250" y="2000250"/>
            <a:ext cx="419100" cy="381000"/>
          </a:xfrm>
          <a:custGeom>
            <a:avLst/>
            <a:gdLst/>
            <a:ahLst/>
            <a:cxnLst/>
            <a:rect l="l" t="t" r="r" b="b"/>
            <a:pathLst>
              <a:path w="419100" h="381000">
                <a:moveTo>
                  <a:pt x="0" y="190500"/>
                </a:moveTo>
                <a:lnTo>
                  <a:pt x="419100" y="0"/>
                </a:lnTo>
                <a:lnTo>
                  <a:pt x="419100" y="381000"/>
                </a:lnTo>
                <a:close/>
              </a:path>
            </a:pathLst>
          </a:custGeom>
          <a:solidFill>
            <a:srgbClr val="62B8FF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8724900" y="1619250"/>
            <a:ext cx="1809750" cy="1143000"/>
          </a:xfrm>
          <a:prstGeom prst="roundRect">
            <a:avLst>
              <a:gd name="adj" fmla="val 10000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967788" y="1874044"/>
            <a:ext cx="143904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75" b="1" dirty="0">
                <a:solidFill>
                  <a:srgbClr val="E7F2FF"/>
                </a:solidFill>
                <a:latin typeface="Arial"/>
                <a:ea typeface="Arial"/>
                <a:cs typeface="Arial"/>
              </a:rPr>
              <a:t>clean/final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76360" y="229933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质检后进入预测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485900" y="3657600"/>
            <a:ext cx="9239250" cy="1428750"/>
          </a:xfrm>
          <a:prstGeom prst="roundRect">
            <a:avLst>
              <a:gd name="adj" fmla="val 12000"/>
            </a:avLst>
          </a:prstGeom>
          <a:solidFill>
            <a:srgbClr val="101820"/>
          </a:solidFill>
          <a:ln w="9525">
            <a:solidFill>
              <a:srgbClr val="28455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880235" y="3904298"/>
            <a:ext cx="277987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当前已验证的关键事实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84998" y="4401979"/>
            <a:ext cx="5590699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700"/>
              </a:lnSpc>
            </a:pP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 xml:space="preserve">• 锁定预测板：30 个 pick、30 名唯一球员、重复 0 </a:t>
            </a: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• 候选与特征：本地答题卡池 124 人，球员特征参考 124 人</a:t>
            </a: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• RAG 索引：5 个索引、1336 个 chunks，支撑架构和证据问答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9600" y="5657850"/>
            <a:ext cx="10972800" cy="552450"/>
          </a:xfrm>
          <a:prstGeom prst="roundRect">
            <a:avLst>
              <a:gd name="adj" fmla="val 17241"/>
            </a:avLst>
          </a:prstGeom>
          <a:solidFill>
            <a:srgbClr val="142231"/>
          </a:solidFill>
          <a:ln w="9525">
            <a:solidFill>
              <a:srgbClr val="33E18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55345" y="5832158"/>
            <a:ext cx="100570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E18A"/>
                </a:solidFill>
                <a:latin typeface="Arial"/>
                <a:ea typeface="Microsoft YaHei"/>
                <a:cs typeface="Arial"/>
              </a:rPr>
              <a:t>表达重点：我们不是让模型直接猜，而是先把来源变成结构化证据，再由 Agent 和算法生成预测。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03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9595" y="402908"/>
            <a:ext cx="729126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多 Agent 协作：每个环节只做一件事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942975"/>
            <a:ext cx="53487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结构化文件交接，Supervisor 统一验收，避免口头结论漂移</a:t>
            </a:r>
          </a:p>
        </p:txBody>
      </p:sp>
      <p:sp>
        <p:nvSpPr>
          <p:cNvPr id="5" name="Rectangle 5"/>
          <p:cNvSpPr/>
          <p:nvPr/>
        </p:nvSpPr>
        <p:spPr>
          <a:xfrm>
            <a:off x="666750" y="1562100"/>
            <a:ext cx="1714500" cy="1009650"/>
          </a:xfrm>
          <a:prstGeom prst="roundRect">
            <a:avLst>
              <a:gd name="adj" fmla="val 11321"/>
            </a:avLst>
          </a:prstGeom>
          <a:solidFill>
            <a:srgbClr val="142231"/>
          </a:solidFill>
          <a:ln w="9525">
            <a:solidFill>
              <a:srgbClr val="62B8F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93445" y="1774508"/>
            <a:ext cx="128946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A1 数据采集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112" y="2164556"/>
            <a:ext cx="13412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Arial"/>
                <a:ea typeface="Arial"/>
                <a:cs typeface="Arial"/>
              </a:rPr>
              <a:t>raw_sources.json</a:t>
            </a:r>
          </a:p>
        </p:txBody>
      </p:sp>
      <p:sp>
        <p:nvSpPr>
          <p:cNvPr id="8" name="Rectangle 8"/>
          <p:cNvSpPr/>
          <p:nvPr/>
        </p:nvSpPr>
        <p:spPr>
          <a:xfrm>
            <a:off x="2724150" y="1562100"/>
            <a:ext cx="1714500" cy="1009650"/>
          </a:xfrm>
          <a:prstGeom prst="roundRect">
            <a:avLst>
              <a:gd name="adj" fmla="val 11321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950845" y="1774508"/>
            <a:ext cx="120860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A2/A3 整理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57512" y="2164556"/>
            <a:ext cx="13562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Arial"/>
                <a:ea typeface="Arial"/>
                <a:cs typeface="Arial"/>
              </a:rPr>
              <a:t>normalized / clean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781550" y="1562100"/>
            <a:ext cx="1714500" cy="1009650"/>
          </a:xfrm>
          <a:prstGeom prst="roundRect">
            <a:avLst>
              <a:gd name="adj" fmla="val 11321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08245" y="1774508"/>
            <a:ext cx="120860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A4/A5 画像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14912" y="2164556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球员与球队偏好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838950" y="1562100"/>
            <a:ext cx="1714500" cy="1009650"/>
          </a:xfrm>
          <a:prstGeom prst="roundRect">
            <a:avLst>
              <a:gd name="adj" fmla="val 11321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065645" y="1774508"/>
            <a:ext cx="8274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A6 参数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72312" y="2164556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规则与权重场景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896350" y="1562100"/>
            <a:ext cx="1714500" cy="1009650"/>
          </a:xfrm>
          <a:prstGeom prst="roundRect">
            <a:avLst>
              <a:gd name="adj" fmla="val 11321"/>
            </a:avLst>
          </a:prstGeom>
          <a:solidFill>
            <a:srgbClr val="142231"/>
          </a:solidFill>
          <a:ln w="9525">
            <a:solidFill>
              <a:srgbClr val="33E18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123045" y="1774508"/>
            <a:ext cx="128946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A7 预测生成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29712" y="21645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Arial"/>
                <a:ea typeface="Arial"/>
                <a:cs typeface="Arial"/>
              </a:rPr>
              <a:t>boards/*.json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066925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62B8FF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609850" y="20002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300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>
            <a:srgbClr val="62B8FF"/>
          </a:solidFill>
          <a:ln>
            <a:noFill/>
          </a:ln>
        </p:spPr>
      </p:sp>
      <p:sp>
        <p:nvSpPr>
          <p:cNvPr id="22" name="Line 22"/>
          <p:cNvSpPr/>
          <p:nvPr/>
        </p:nvSpPr>
        <p:spPr>
          <a:xfrm>
            <a:off x="4438650" y="2066925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62B8FF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4667250" y="20002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300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>
            <a:srgbClr val="62B8FF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6496050" y="2066925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62B8FF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6724650" y="20002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300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>
            <a:srgbClr val="62B8FF"/>
          </a:solidFill>
          <a:ln>
            <a:noFill/>
          </a:ln>
        </p:spPr>
      </p:sp>
      <p:sp>
        <p:nvSpPr>
          <p:cNvPr id="26" name="Line 26"/>
          <p:cNvSpPr/>
          <p:nvPr/>
        </p:nvSpPr>
        <p:spPr>
          <a:xfrm>
            <a:off x="8553450" y="2066925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62B8FF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8782050" y="20002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300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>
            <a:srgbClr val="62B8FF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1066800" y="3238500"/>
            <a:ext cx="4191000" cy="2000250"/>
          </a:xfrm>
          <a:prstGeom prst="roundRect">
            <a:avLst>
              <a:gd name="adj" fmla="val 7619"/>
            </a:avLst>
          </a:prstGeom>
          <a:solidFill>
            <a:srgbClr val="101820"/>
          </a:solidFill>
          <a:ln w="9525">
            <a:solidFill>
              <a:srgbClr val="28455E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384935" y="3466148"/>
            <a:ext cx="265700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Supervisor 守住边界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9698" y="3982879"/>
            <a:ext cx="2010251" cy="134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700"/>
              </a:lnSpc>
            </a:pP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• 缺来源退回</a:t>
            </a: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• 字段不完整退回</a:t>
            </a: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• 结构不合法退回</a:t>
            </a: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• 禁止人工换人或重排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981700" y="3238500"/>
            <a:ext cx="4191000" cy="2000250"/>
          </a:xfrm>
          <a:prstGeom prst="roundRect">
            <a:avLst>
              <a:gd name="adj" fmla="val 7619"/>
            </a:avLst>
          </a:prstGeom>
          <a:solidFill>
            <a:srgbClr val="101820"/>
          </a:solidFill>
          <a:ln w="9525">
            <a:solidFill>
              <a:srgbClr val="28455E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299835" y="3466148"/>
            <a:ext cx="277987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前端只负责展示和导出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304598" y="3982879"/>
            <a:ext cx="2370296" cy="134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700"/>
              </a:lnSpc>
            </a:pP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• 查看 30 顺位预测板</a:t>
            </a: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• 查看证据、风险、备选</a:t>
            </a: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 xml:space="preserve">• 导出提交 JSON 和 brief </a:t>
            </a:r>
            <a:r>
              <a:rPr lang="zh-CN" sz="15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• 不开放人工调权或换人</a:t>
            </a:r>
          </a:p>
        </p:txBody>
      </p:sp>
      <p:sp>
        <p:nvSpPr>
          <p:cNvPr id="34" name="Rectangle 34"/>
          <p:cNvSpPr/>
          <p:nvPr/>
        </p:nvSpPr>
        <p:spPr>
          <a:xfrm>
            <a:off x="2476500" y="5676900"/>
            <a:ext cx="7239000" cy="514350"/>
          </a:xfrm>
          <a:prstGeom prst="roundRect">
            <a:avLst>
              <a:gd name="adj" fmla="val 18519"/>
            </a:avLst>
          </a:prstGeom>
          <a:solidFill>
            <a:srgbClr val="142231"/>
          </a:solidFill>
          <a:ln w="9525">
            <a:solidFill>
              <a:srgbClr val="33E18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2779395" y="5832158"/>
            <a:ext cx="6060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E18A"/>
                </a:solidFill>
                <a:latin typeface="Arial"/>
                <a:ea typeface="Microsoft YaHei"/>
                <a:cs typeface="Arial"/>
              </a:rPr>
              <a:t>如果要改变预测，必须改数据或参数，再完整重跑 board。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04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9595" y="402908"/>
            <a:ext cx="632094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预测算法：顺位贪心 + 风险校验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942975"/>
            <a:ext cx="58388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按真实选秀顺序依次选择，选中球员从候选池移除，天然避免重复</a:t>
            </a:r>
          </a:p>
        </p:txBody>
      </p:sp>
      <p:sp>
        <p:nvSpPr>
          <p:cNvPr id="5" name="Rectangle 5"/>
          <p:cNvSpPr/>
          <p:nvPr/>
        </p:nvSpPr>
        <p:spPr>
          <a:xfrm>
            <a:off x="800100" y="1600200"/>
            <a:ext cx="3143250" cy="1428750"/>
          </a:xfrm>
          <a:prstGeom prst="roundRect">
            <a:avLst>
              <a:gd name="adj" fmla="val 9333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100138" y="1835944"/>
            <a:ext cx="172783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1. 构造候选池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5852" y="2303621"/>
            <a:ext cx="1692116" cy="575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425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球队顺位 + 球员特征</a:t>
            </a:r>
            <a:r>
              <a:rPr lang="zh-CN" sz="1425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官方名单 + 外部信号</a:t>
            </a:r>
          </a:p>
        </p:txBody>
      </p:sp>
      <p:sp>
        <p:nvSpPr>
          <p:cNvPr id="8" name="Rectangle 8"/>
          <p:cNvSpPr/>
          <p:nvPr/>
        </p:nvSpPr>
        <p:spPr>
          <a:xfrm>
            <a:off x="4514850" y="1600200"/>
            <a:ext cx="3143250" cy="1428750"/>
          </a:xfrm>
          <a:prstGeom prst="roundRect">
            <a:avLst>
              <a:gd name="adj" fmla="val 9333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814888" y="1835944"/>
            <a:ext cx="19903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2. 逐队逐人打分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20602" y="2303621"/>
            <a:ext cx="1483995" cy="575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425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共识、需求、能力</a:t>
            </a:r>
            <a:r>
              <a:rPr lang="zh-CN" sz="1425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潜力、热度、风险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229600" y="1600200"/>
            <a:ext cx="3143250" cy="1428750"/>
          </a:xfrm>
          <a:prstGeom prst="roundRect">
            <a:avLst>
              <a:gd name="adj" fmla="val 9333"/>
            </a:avLst>
          </a:prstGeom>
          <a:solidFill>
            <a:srgbClr val="142231"/>
          </a:solidFill>
          <a:ln w="9525">
            <a:solidFill>
              <a:srgbClr val="33E18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529638" y="1835944"/>
            <a:ext cx="226602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3. 输出锁定 board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35352" y="2303621"/>
            <a:ext cx="1990725" cy="575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en-US" sz="1425" dirty="0">
                <a:solidFill>
                  <a:srgbClr val="94A8BC"/>
                </a:solidFill>
                <a:latin typeface="Arial"/>
                <a:ea typeface="Arial"/>
                <a:cs typeface="Arial"/>
              </a:rPr>
              <a:t>30 picks / 30 unique</a:t>
            </a:r>
            <a:r>
              <a:rPr lang="zh-CN" sz="1425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证据、置信度、warning</a:t>
            </a:r>
          </a:p>
        </p:txBody>
      </p:sp>
      <p:sp>
        <p:nvSpPr>
          <p:cNvPr id="14" name="Line 14"/>
          <p:cNvSpPr/>
          <p:nvPr/>
        </p:nvSpPr>
        <p:spPr>
          <a:xfrm>
            <a:off x="3943350" y="2314575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62B8FF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4381500" y="22383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62B8FF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7658100" y="2314575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62B8FF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8096250" y="22383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62B8FF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162050" y="3714750"/>
            <a:ext cx="9867900" cy="1143000"/>
          </a:xfrm>
          <a:prstGeom prst="roundRect">
            <a:avLst>
              <a:gd name="adj" fmla="val 15000"/>
            </a:avLst>
          </a:prstGeom>
          <a:solidFill>
            <a:srgbClr val="101820"/>
          </a:solidFill>
          <a:ln w="9525">
            <a:solidFill>
              <a:srgbClr val="28455E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594485" y="3999548"/>
            <a:ext cx="848628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总分 = 共识 + 球队需求 + 球员能力 + 上限潜力 + 临场热度 - 风险惩罚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02105" y="4445318"/>
            <a:ext cx="60740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PPT 只讲影响因子，不暴露内部权重参数；权重仍由 Agent/脚本内部使用。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485900" y="533400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731645" y="5574982"/>
            <a:ext cx="73499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E18A"/>
                </a:solidFill>
                <a:latin typeface="Arial"/>
                <a:ea typeface="Microsoft YaHei"/>
                <a:cs typeface="Arial"/>
              </a:rPr>
              <a:t>无重复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67940" y="5558790"/>
            <a:ext cx="70580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E7F2FF"/>
                </a:solidFill>
                <a:latin typeface="Consolas"/>
                <a:ea typeface="Consolas"/>
                <a:cs typeface="Consolas"/>
              </a:rPr>
              <a:t>30/30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86200" y="533400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131945" y="5574982"/>
            <a:ext cx="73499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D166"/>
                </a:solidFill>
                <a:latin typeface="Arial"/>
                <a:ea typeface="Microsoft YaHei"/>
                <a:cs typeface="Arial"/>
              </a:rPr>
              <a:t>低置信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44440" y="5558790"/>
            <a:ext cx="1777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E7F2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86500" y="533400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532245" y="55749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62B8FF"/>
                </a:solidFill>
                <a:latin typeface="Arial"/>
                <a:ea typeface="Microsoft YaHei"/>
                <a:cs typeface="Arial"/>
              </a:rPr>
              <a:t>证据承载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97140" y="5558790"/>
            <a:ext cx="5737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E7F2FF"/>
                </a:solidFill>
                <a:latin typeface="Consolas"/>
                <a:ea typeface="Consolas"/>
                <a:cs typeface="Consolas"/>
              </a:rPr>
              <a:t>PASS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686800" y="533400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932545" y="55749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E18A"/>
                </a:solidFill>
                <a:latin typeface="Arial"/>
                <a:ea typeface="Microsoft YaHei"/>
                <a:cs typeface="Arial"/>
              </a:rPr>
              <a:t>人工换人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997440" y="5558790"/>
            <a:ext cx="1777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E7F2FF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05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9595" y="383858"/>
            <a:ext cx="1022427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产品界面佐证：预测、证据、导出都在同一个驾驶舱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923925"/>
            <a:ext cx="57588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截图保留为真实 raster；页面标题、标注、解释仍为可编辑对象</a:t>
            </a:r>
          </a:p>
        </p:txBody>
      </p:sp>
      <p:sp>
        <p:nvSpPr>
          <p:cNvPr id="5" name="Rectangle 5"/>
          <p:cNvSpPr/>
          <p:nvPr/>
        </p:nvSpPr>
        <p:spPr>
          <a:xfrm>
            <a:off x="609600" y="1428750"/>
            <a:ext cx="6667500" cy="4629150"/>
          </a:xfrm>
          <a:prstGeom prst="roundRect">
            <a:avLst>
              <a:gd name="adj" fmla="val 2881"/>
            </a:avLst>
          </a:prstGeom>
          <a:solidFill>
            <a:srgbClr val="101820"/>
          </a:solidFill>
          <a:ln w="9525">
            <a:solidFill>
              <a:srgbClr val="28455E"/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600200"/>
            <a:ext cx="6324600" cy="4391025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7543800" y="1428750"/>
            <a:ext cx="4038600" cy="1352550"/>
          </a:xfrm>
          <a:prstGeom prst="roundRect">
            <a:avLst>
              <a:gd name="adj" fmla="val 9859"/>
            </a:avLst>
          </a:prstGeom>
          <a:solidFill>
            <a:srgbClr val="142231"/>
          </a:solidFill>
          <a:ln w="9525">
            <a:solidFill>
              <a:srgbClr val="33E18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825740" y="1653540"/>
            <a:ext cx="226359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1. 30 顺位直接展开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31455" y="2064068"/>
            <a:ext cx="2091690" cy="541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完整性、低置信、锁定状态</a:t>
            </a:r>
            <a:r>
              <a:rPr lang="zh-CN" sz="135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在页面顶部实时露出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543800" y="3009900"/>
            <a:ext cx="4038600" cy="1352550"/>
          </a:xfrm>
          <a:prstGeom prst="roundRect">
            <a:avLst>
              <a:gd name="adj" fmla="val 9859"/>
            </a:avLst>
          </a:prstGeom>
          <a:solidFill>
            <a:srgbClr val="142231"/>
          </a:solidFill>
          <a:ln w="9525">
            <a:solidFill>
              <a:srgbClr val="62B8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825740" y="3234690"/>
            <a:ext cx="230140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2. 每个 pick 可解释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31455" y="3645218"/>
            <a:ext cx="1920240" cy="541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证据、风险、适配、备选</a:t>
            </a:r>
            <a:r>
              <a:rPr lang="zh-CN" sz="135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跟随选中球员切换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543800" y="4591050"/>
            <a:ext cx="4038600" cy="1352550"/>
          </a:xfrm>
          <a:prstGeom prst="roundRect">
            <a:avLst>
              <a:gd name="adj" fmla="val 9859"/>
            </a:avLst>
          </a:prstGeom>
          <a:solidFill>
            <a:srgbClr val="142231"/>
          </a:solidFill>
          <a:ln w="9525">
            <a:solidFill>
              <a:srgbClr val="FFD166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825740" y="4815840"/>
            <a:ext cx="16587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3. 现场可导出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31455" y="5226368"/>
            <a:ext cx="1980248" cy="541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提交 JSON 与路演 brief</a:t>
            </a:r>
            <a:r>
              <a:rPr lang="zh-CN" sz="135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都从当前锁定 board 生成</a:t>
            </a:r>
          </a:p>
        </p:txBody>
      </p:sp>
      <p:sp>
        <p:nvSpPr>
          <p:cNvPr id="16" name="Line 16"/>
          <p:cNvSpPr/>
          <p:nvPr/>
        </p:nvSpPr>
        <p:spPr>
          <a:xfrm>
            <a:off x="6934200" y="20955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60960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33E18A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6934200" y="2019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lnTo>
                  <a:pt x="133350" y="0"/>
                </a:lnTo>
                <a:lnTo>
                  <a:pt x="133350" y="152400"/>
                </a:lnTo>
                <a:close/>
              </a:path>
            </a:pathLst>
          </a:custGeom>
          <a:solidFill>
            <a:srgbClr val="33E18A"/>
          </a:solidFill>
          <a:ln>
            <a:noFill/>
          </a:ln>
        </p:spPr>
      </p:sp>
      <p:sp>
        <p:nvSpPr>
          <p:cNvPr id="18" name="Line 18"/>
          <p:cNvSpPr/>
          <p:nvPr/>
        </p:nvSpPr>
        <p:spPr>
          <a:xfrm>
            <a:off x="6934200" y="367665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60960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62B8FF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6934200" y="3600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lnTo>
                  <a:pt x="133350" y="0"/>
                </a:lnTo>
                <a:lnTo>
                  <a:pt x="133350" y="152400"/>
                </a:lnTo>
                <a:close/>
              </a:path>
            </a:pathLst>
          </a:custGeom>
          <a:solidFill>
            <a:srgbClr val="62B8FF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6934200" y="52578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60960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FFD166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6934200" y="5181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lnTo>
                  <a:pt x="133350" y="0"/>
                </a:lnTo>
                <a:lnTo>
                  <a:pt x="133350" y="152400"/>
                </a:lnTo>
                <a:close/>
              </a:path>
            </a:pathLst>
          </a:custGeom>
          <a:solidFill>
            <a:srgbClr val="FFD16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06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9595" y="402908"/>
            <a:ext cx="848211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AWS/RAG：让系统能回答、能部署、能追溯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942975"/>
            <a:ext cx="5638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前端展示预测，Lambda/API 和 RAG 层负责只读问答与证据检索</a:t>
            </a:r>
          </a:p>
        </p:txBody>
      </p:sp>
      <p:sp>
        <p:nvSpPr>
          <p:cNvPr id="5" name="Rectangle 5"/>
          <p:cNvSpPr/>
          <p:nvPr/>
        </p:nvSpPr>
        <p:spPr>
          <a:xfrm>
            <a:off x="876300" y="1638300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142231"/>
          </a:solidFill>
          <a:ln w="9525">
            <a:solidFill>
              <a:srgbClr val="62B8F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177290" y="1844040"/>
            <a:ext cx="17847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DraftOps 前端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4910" y="2232660"/>
            <a:ext cx="15186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预测板 / 证据 / 导出</a:t>
            </a:r>
          </a:p>
        </p:txBody>
      </p:sp>
      <p:sp>
        <p:nvSpPr>
          <p:cNvPr id="8" name="Line 8"/>
          <p:cNvSpPr/>
          <p:nvPr/>
        </p:nvSpPr>
        <p:spPr>
          <a:xfrm>
            <a:off x="2971800" y="21145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62B8FF"/>
            </a:solidFill>
          </a:ln>
        </p:spPr>
      </p:sp>
      <p:sp>
        <p:nvSpPr>
          <p:cNvPr id="9" name="Polygon 9"/>
          <p:cNvSpPr/>
          <p:nvPr/>
        </p:nvSpPr>
        <p:spPr>
          <a:xfrm>
            <a:off x="3790950" y="2038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62B8F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924300" y="1638300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225290" y="1844040"/>
            <a:ext cx="17973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E7F2FF"/>
                </a:solidFill>
                <a:latin typeface="Arial"/>
                <a:ea typeface="Arial"/>
                <a:cs typeface="Arial"/>
              </a:rPr>
              <a:t>Agent Chat API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32910" y="2232660"/>
            <a:ext cx="16226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8BC"/>
                </a:solidFill>
                <a:latin typeface="Arial"/>
                <a:ea typeface="Arial"/>
                <a:cs typeface="Arial"/>
              </a:rPr>
              <a:t>Lambda / local proxy</a:t>
            </a:r>
          </a:p>
        </p:txBody>
      </p:sp>
      <p:sp>
        <p:nvSpPr>
          <p:cNvPr id="13" name="Line 13"/>
          <p:cNvSpPr/>
          <p:nvPr/>
        </p:nvSpPr>
        <p:spPr>
          <a:xfrm>
            <a:off x="6019800" y="21145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62B8FF"/>
            </a:solidFill>
          </a:ln>
        </p:spPr>
      </p:sp>
      <p:sp>
        <p:nvSpPr>
          <p:cNvPr id="14" name="Polygon 14"/>
          <p:cNvSpPr/>
          <p:nvPr/>
        </p:nvSpPr>
        <p:spPr>
          <a:xfrm>
            <a:off x="6838950" y="2038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62B8FF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6972300" y="1638300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142231"/>
          </a:solidFill>
          <a:ln w="9525">
            <a:solidFill>
              <a:srgbClr val="33E18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273290" y="1844040"/>
            <a:ext cx="129327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RAG 检索层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80910" y="2232660"/>
            <a:ext cx="16706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排名 / MMR / fallback</a:t>
            </a:r>
          </a:p>
        </p:txBody>
      </p:sp>
      <p:sp>
        <p:nvSpPr>
          <p:cNvPr id="18" name="Line 18"/>
          <p:cNvSpPr/>
          <p:nvPr/>
        </p:nvSpPr>
        <p:spPr>
          <a:xfrm>
            <a:off x="9067800" y="21145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62B8FF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9886950" y="2038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62B8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10020300" y="1638300"/>
            <a:ext cx="1485900" cy="952500"/>
          </a:xfrm>
          <a:prstGeom prst="roundRect">
            <a:avLst>
              <a:gd name="adj" fmla="val 12000"/>
            </a:avLst>
          </a:prstGeom>
          <a:solidFill>
            <a:srgbClr val="142231"/>
          </a:solidFill>
          <a:ln w="9525">
            <a:solidFill>
              <a:srgbClr val="28455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0302240" y="1844040"/>
            <a:ext cx="54978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09860" y="2232660"/>
            <a:ext cx="15346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8BC"/>
                </a:solidFill>
                <a:latin typeface="Arial"/>
                <a:ea typeface="Arial"/>
                <a:cs typeface="Arial"/>
              </a:rPr>
              <a:t>DeepSeek / Bedrock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428750" y="3429000"/>
            <a:ext cx="2667000" cy="1485900"/>
          </a:xfrm>
          <a:prstGeom prst="roundRect">
            <a:avLst>
              <a:gd name="adj" fmla="val 10256"/>
            </a:avLst>
          </a:prstGeom>
          <a:solidFill>
            <a:srgbClr val="101820"/>
          </a:solidFill>
          <a:ln w="9525">
            <a:solidFill>
              <a:srgbClr val="28455E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727835" y="3675698"/>
            <a:ext cx="152391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S3 索引文件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31645" y="4165282"/>
            <a:ext cx="26756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62B8FF"/>
                </a:solidFill>
                <a:latin typeface="Arial"/>
                <a:ea typeface="Arial"/>
                <a:cs typeface="Arial"/>
              </a:rPr>
              <a:t>5 indexes / 1336 chunks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37360" y="4556760"/>
            <a:ext cx="39589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board、team、prospect、milestone、architecture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762500" y="3429000"/>
            <a:ext cx="2667000" cy="1485900"/>
          </a:xfrm>
          <a:prstGeom prst="roundRect">
            <a:avLst>
              <a:gd name="adj" fmla="val 10256"/>
            </a:avLst>
          </a:prstGeom>
          <a:solidFill>
            <a:srgbClr val="101820"/>
          </a:solidFill>
          <a:ln w="9525">
            <a:solidFill>
              <a:srgbClr val="28455E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061585" y="3675698"/>
            <a:ext cx="130548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E7F2FF"/>
                </a:solidFill>
                <a:latin typeface="Arial"/>
                <a:ea typeface="Arial"/>
                <a:cs typeface="Arial"/>
              </a:rPr>
              <a:t>DynamoDB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65395" y="4165282"/>
            <a:ext cx="234064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33E18A"/>
                </a:solidFill>
                <a:latin typeface="Arial"/>
                <a:ea typeface="Arial"/>
                <a:cs typeface="Arial"/>
              </a:rPr>
              <a:t>124 feature records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71110" y="4556760"/>
            <a:ext cx="2910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身高、臂展、体重、参考评分和嵌套特征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3429000"/>
            <a:ext cx="2667000" cy="1485900"/>
          </a:xfrm>
          <a:prstGeom prst="roundRect">
            <a:avLst>
              <a:gd name="adj" fmla="val 10256"/>
            </a:avLst>
          </a:prstGeom>
          <a:solidFill>
            <a:srgbClr val="101820"/>
          </a:solidFill>
          <a:ln w="9525">
            <a:solidFill>
              <a:srgbClr val="28455E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395335" y="3675698"/>
            <a:ext cx="114166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只读护栏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99145" y="4165282"/>
            <a:ext cx="237530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FD166"/>
                </a:solidFill>
                <a:latin typeface="Arial"/>
                <a:ea typeface="Arial"/>
                <a:cs typeface="Arial"/>
              </a:rPr>
              <a:t>weak evidence aware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04860" y="4556760"/>
            <a:ext cx="3078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不能直接改代码、换人、提交或覆盖 board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114550" y="5581650"/>
            <a:ext cx="7962900" cy="514350"/>
          </a:xfrm>
          <a:prstGeom prst="roundRect">
            <a:avLst>
              <a:gd name="adj" fmla="val 18519"/>
            </a:avLst>
          </a:prstGeom>
          <a:solidFill>
            <a:srgbClr val="142231"/>
          </a:solidFill>
          <a:ln w="9525">
            <a:solidFill>
              <a:srgbClr val="33E18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2379345" y="5736908"/>
            <a:ext cx="923685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E18A"/>
                </a:solidFill>
                <a:latin typeface="Arial"/>
                <a:ea typeface="Microsoft YaHei"/>
                <a:cs typeface="Arial"/>
              </a:rPr>
              <a:t>路演表达：这是 deployable API layer；完整 IaC 栈未加入前，不夸大成全量云原生平台。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07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19150" y="704850"/>
            <a:ext cx="10553700" cy="5448300"/>
          </a:xfrm>
          <a:prstGeom prst="roundRect">
            <a:avLst>
              <a:gd name="adj" fmla="val 3846"/>
            </a:avLst>
          </a:prstGeom>
          <a:solidFill>
            <a:srgbClr val="101820"/>
          </a:solidFill>
          <a:ln w="9525">
            <a:solidFill>
              <a:srgbClr val="28455E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1213485" y="1132522"/>
            <a:ext cx="10280204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最终交付不是“模型回答”，而是一套可提交资产</a:t>
            </a:r>
          </a:p>
        </p:txBody>
      </p:sp>
      <p:sp>
        <p:nvSpPr>
          <p:cNvPr id="5" name="Rectangle 5"/>
          <p:cNvSpPr/>
          <p:nvPr/>
        </p:nvSpPr>
        <p:spPr>
          <a:xfrm>
            <a:off x="1257300" y="1943100"/>
            <a:ext cx="5334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2B8FF">
                  <a:alpha val="90000"/>
                </a:srgbClr>
              </a:gs>
              <a:gs pos="100000">
                <a:srgbClr val="33E18A">
                  <a:alpha val="72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233488" y="2426494"/>
            <a:ext cx="8120062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00"/>
              </a:lnSpc>
            </a:pPr>
            <a:r>
              <a:rPr lang="zh-CN" sz="18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DraftOps 用数据可信链路、多 Agent 复核、可解释算法和 AWS/RAG 架构，</a:t>
            </a:r>
            <a:r>
              <a:rPr lang="zh-CN" sz="1875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把 24 小时选秀预测任务变成一个可运行、可审计、可提交的智能预测系统。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1257300" y="3543300"/>
            <a:ext cx="2724150" cy="1162050"/>
          </a:xfrm>
          <a:prstGeom prst="roundRect">
            <a:avLst>
              <a:gd name="adj" fmla="val 13115"/>
            </a:avLst>
          </a:prstGeom>
          <a:solidFill>
            <a:srgbClr val="142231"/>
          </a:solidFill>
          <a:ln w="9525">
            <a:solidFill>
              <a:srgbClr val="33E18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555432" y="3820001"/>
            <a:ext cx="118557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33E18A"/>
                </a:solidFill>
                <a:latin typeface="Arial"/>
                <a:ea typeface="Microsoft YaHei"/>
                <a:cs typeface="Arial"/>
              </a:rPr>
              <a:t>可信数据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64958" y="4262914"/>
            <a:ext cx="20981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官方原始包 + 多层审计产物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743450" y="3543300"/>
            <a:ext cx="2724150" cy="1162050"/>
          </a:xfrm>
          <a:prstGeom prst="roundRect">
            <a:avLst>
              <a:gd name="adj" fmla="val 13115"/>
            </a:avLst>
          </a:prstGeom>
          <a:solidFill>
            <a:srgbClr val="142231"/>
          </a:solidFill>
          <a:ln w="9525">
            <a:solidFill>
              <a:srgbClr val="62B8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041582" y="3820001"/>
            <a:ext cx="1469112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62B8FF"/>
                </a:solidFill>
                <a:latin typeface="Arial"/>
                <a:ea typeface="Microsoft YaHei"/>
                <a:cs typeface="Arial"/>
              </a:rPr>
              <a:t>可解释预测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51108" y="4262914"/>
            <a:ext cx="20726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证据、风险、适配、备选项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8229600" y="3543300"/>
            <a:ext cx="2724150" cy="1162050"/>
          </a:xfrm>
          <a:prstGeom prst="roundRect">
            <a:avLst>
              <a:gd name="adj" fmla="val 13115"/>
            </a:avLst>
          </a:prstGeom>
          <a:solidFill>
            <a:srgbClr val="142231"/>
          </a:solidFill>
          <a:ln w="9525">
            <a:solidFill>
              <a:srgbClr val="FFD166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527732" y="3820001"/>
            <a:ext cx="1469112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D166"/>
                </a:solidFill>
                <a:latin typeface="Arial"/>
                <a:ea typeface="Microsoft YaHei"/>
                <a:cs typeface="Arial"/>
              </a:rPr>
              <a:t>可提交系统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37258" y="4262914"/>
            <a:ext cx="216615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PPT、brief、JSON、答题卡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6345" y="53463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7F2FF"/>
                </a:solidFill>
                <a:latin typeface="Arial"/>
                <a:ea typeface="Microsoft YaHei"/>
                <a:cs typeface="Arial"/>
              </a:rPr>
              <a:t>收束句：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88845" y="5346382"/>
            <a:ext cx="958010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我们把高不确定的预测题，拆成了可验证的数据工程、可复现的 Agent 流程和可演示的产品界面。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08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2026-06-23T16:21:10Z</dcterms:created>
  <dcterms:modified xsi:type="dcterms:W3CDTF">2026-06-23T16:21:10Z</dcterms:modified>
  <cp:category/>
  <cp:contentStatus/>
</cp:coreProperties>
</file>