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8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这一页先给评委一个直观印象：DraftOps 不是一张静态名单，而是一个可以查看、复核、导出的选秀预测驾驶舱。我们把官方数据、外部选秀信号、球队上下文和 Agent 证据统一到一个可运行界面里。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比赛不是简单猜 30 个名字。它同时考察预测结果、里程碑问题、代码质量和 6 分钟路演。难点在于数据多、信息会变化、预测要可解释，并且最后不能靠人工拍脑袋改名单。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我们的第一层工作是建立可信数据链路。官方原始文件只读保存，外部来源进入 raw 登记，再经过 normalized、clean、final、boards 多层产物，最后由前端读取和导出。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这里的 Agent 协作不是大家一起聊天，而是每个 Agent 负责一个清晰环节。数据采集不直接改结果，预测生成不直接采集来源，最终由 Supervisor 和提交检查把结构、证据、重复、空值和规则边界统一验收。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算法逻辑可以讲得很直白：对每一个球队和球员组合打分，再按真实选秀顺序从第一顺位到第三十顺位依次选择。选中后移出候选池，所以不会重复。分数来自共识、球队需求、球员能力、上限、热度和风险惩罚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这一页用真实截图证明系统已经跑起来。左侧可以看到 30 顺位完整预测板，右侧可以看到单个球员的证据、风险、适配和来源，顶部还能导出路演简报和提交结果。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AWS/RAG 层让系统不仅能展示结果，还能回答比赛相关问题。S3 保存 RAG 索引和标准化文件，DynamoDB 保存球员特征，Lambda/API 负责只读问答入口，检索层再把证据交给 DeepSeek 或 Bedrock。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最后回到交付价值：我们提交的不是一段模型回答，而是一套可复核资产，包括锁定预测板、里程碑答案、填好的答题卡、前端演示、代码仓库、RAG 同步和验证报告。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a8f9ac74e1678307.png"/>
  <Relationship Id="rId3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0dc842a1e9859003.png"/>
  <Relationship Id="rId3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8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070B10"/>
                </a:gs>
                <a:gs pos="100000">
                  <a:srgbClr val="102033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400050" y="419100"/>
              <a:ext cx="11391900" cy="6019800"/>
            </a:xfrm>
            <a:prstGeom prst="roundRect">
              <a:avLst>
                <a:gd name="adj" fmla="val 2848"/>
              </a:avLst>
            </a:prstGeom>
            <a:solidFill>
              <a:srgbClr val="101820">
                <a:alpha val="78000"/>
              </a:srgbClr>
            </a:solidFill>
            <a:ln w="14288">
              <a:solidFill>
                <a:srgbClr val="28455E"/>
              </a:solidFill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666750" y="742950"/>
            <a:ext cx="5410200" cy="3226594"/>
            <a:chOff x="666750" y="742950"/>
            <a:chExt cx="5410200" cy="3226594"/>
          </a:xfrm>
        </p:grpSpPr>
        <p:sp>
          <p:nvSpPr>
            <p:cNvPr id="5" name="Ellipse 5"/>
            <p:cNvSpPr/>
            <p:nvPr/>
          </p:nvSpPr>
          <p:spPr>
            <a:xfrm>
              <a:off x="666750" y="742950"/>
              <a:ext cx="647700" cy="647700"/>
            </a:xfrm>
            <a:prstGeom prst="ellipse">
              <a:avLst/>
            </a:prstGeom>
            <a:solidFill>
              <a:srgbClr val="142231"/>
            </a:solidFill>
            <a:ln w="19050">
              <a:solidFill>
                <a:srgbClr val="62B8FF"/>
              </a:solidFill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833437" y="909637"/>
              <a:ext cx="314325" cy="314325"/>
              <a:chOff x="833437" y="909637"/>
              <a:chExt cx="314325" cy="314325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833437" y="909637"/>
                <a:ext cx="314324" cy="314324"/>
              </a:xfrm>
              <a:custGeom>
                <a:avLst/>
                <a:gdLst/>
                <a:ahLst/>
                <a:cxnLst/>
                <a:rect l="l" t="t" r="r" b="b"/>
                <a:pathLst>
                  <a:path w="314324" h="314324">
                    <a:moveTo>
                      <a:pt x="0" y="157162"/>
                    </a:moveTo>
                    <a:cubicBezTo>
                      <a:pt x="0" y="243961"/>
                      <a:pt x="70364" y="314324"/>
                      <a:pt x="157162" y="314324"/>
                    </a:cubicBezTo>
                    <a:cubicBezTo>
                      <a:pt x="243961" y="314324"/>
                      <a:pt x="314324" y="243961"/>
                      <a:pt x="314324" y="157162"/>
                    </a:cubicBezTo>
                    <a:cubicBezTo>
                      <a:pt x="314324" y="70364"/>
                      <a:pt x="243961" y="0"/>
                      <a:pt x="157162" y="0"/>
                    </a:cubicBezTo>
                    <a:cubicBezTo>
                      <a:pt x="70364" y="0"/>
                      <a:pt x="0" y="70364"/>
                      <a:pt x="0" y="157162"/>
                    </a:cubicBez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879713" y="955913"/>
                <a:ext cx="221773" cy="221773"/>
              </a:xfrm>
              <a:custGeom>
                <a:avLst/>
                <a:gdLst/>
                <a:ahLst/>
                <a:cxnLst/>
                <a:rect l="l" t="t" r="r" b="b"/>
                <a:pathLst>
                  <a:path w="221773" h="221773">
                    <a:moveTo>
                      <a:pt x="0" y="0"/>
                    </a:moveTo>
                    <a:lnTo>
                      <a:pt x="221773" y="221773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879713" y="955913"/>
                <a:ext cx="221773" cy="221773"/>
              </a:xfrm>
              <a:custGeom>
                <a:avLst/>
                <a:gdLst/>
                <a:ahLst/>
                <a:cxnLst/>
                <a:rect l="l" t="t" r="r" b="b"/>
                <a:pathLst>
                  <a:path w="221773" h="221773">
                    <a:moveTo>
                      <a:pt x="0" y="221773"/>
                    </a:moveTo>
                    <a:lnTo>
                      <a:pt x="221773" y="0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990600" y="909637"/>
                <a:ext cx="157162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157162" h="157162">
                    <a:moveTo>
                      <a:pt x="0" y="0"/>
                    </a:moveTo>
                    <a:cubicBezTo>
                      <a:pt x="0" y="86798"/>
                      <a:pt x="70364" y="157162"/>
                      <a:pt x="157162" y="157162"/>
                    </a:cubicBez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833437" y="1066800"/>
                <a:ext cx="157162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157162" h="157162">
                    <a:moveTo>
                      <a:pt x="0" y="0"/>
                    </a:moveTo>
                    <a:cubicBezTo>
                      <a:pt x="86798" y="0"/>
                      <a:pt x="157162" y="70364"/>
                      <a:pt x="157162" y="157162"/>
                    </a:cubicBez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1450658" y="852964"/>
              <a:ext cx="281733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75" b="1" dirty="0">
                  <a:solidFill>
                    <a:srgbClr val="62B8FF"/>
                  </a:solidFill>
                  <a:latin typeface="Arial"/>
                  <a:ea typeface="Arial"/>
                  <a:cs typeface="Arial"/>
                </a:rPr>
                <a:t>AWS × NBA Competition Roadshow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81990" y="1482090"/>
              <a:ext cx="3213506" cy="975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800" b="1" dirty="0">
                  <a:solidFill>
                    <a:srgbClr val="E7F2FF"/>
                  </a:solidFill>
                  <a:latin typeface="Arial"/>
                  <a:ea typeface="Arial"/>
                  <a:cs typeface="Arial"/>
                </a:rPr>
                <a:t>DraftOps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16280" y="2249805"/>
              <a:ext cx="5121973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面向 2026 NBA 选秀的 Agent 预测驾驶舱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742950" y="2876550"/>
              <a:ext cx="5334000" cy="47625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62B8FF"/>
                </a:gs>
                <a:gs pos="100000">
                  <a:srgbClr val="33E18A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19138" y="3226594"/>
              <a:ext cx="4893469" cy="7429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850"/>
                </a:lnSpc>
              </a:pPr>
              <a:r>
                <a:rPr lang="zh-CN" sz="1875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把可信数据链路、多 Agent 复核和可解释算法</a:t>
              </a:r>
              <a:r>
                <a:rPr lang="zh-CN" sz="1875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收束成一套可提交的首轮预测系统。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7124700" y="781050"/>
            <a:ext cx="4171950" cy="2876550"/>
            <a:chOff x="7124700" y="781050"/>
            <a:chExt cx="4171950" cy="2876550"/>
          </a:xfrm>
        </p:grpSpPr>
        <p:sp>
          <p:nvSpPr>
            <p:cNvPr id="18" name="Rectangle 18"/>
            <p:cNvSpPr/>
            <p:nvPr/>
          </p:nvSpPr>
          <p:spPr>
            <a:xfrm>
              <a:off x="7124700" y="781050"/>
              <a:ext cx="4171950" cy="2819400"/>
            </a:xfrm>
            <a:prstGeom prst="roundRect">
              <a:avLst>
                <a:gd name="adj" fmla="val 4730"/>
              </a:avLst>
            </a:prstGeom>
            <a:solidFill>
              <a:srgbClr val="070B10"/>
            </a:solidFill>
            <a:ln w="11430">
              <a:solidFill>
                <a:srgbClr val="28455E"/>
              </a:solidFill>
            </a:ln>
          </p:spPr>
        </p:sp>
        <p:pic>
          <p:nvPicPr>
            <p:cNvPr id="19" name="Image 1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413879" y="952500"/>
              <a:ext cx="3593592" cy="2495550"/>
            </a:xfrm>
            <a:prstGeom prst="rect">
              <a:avLst/>
            </a:prstGeom>
          </p:spPr>
        </p:pic>
        <p:sp>
          <p:nvSpPr>
            <p:cNvPr id="20" name="Rectangle 20"/>
            <p:cNvSpPr/>
            <p:nvPr/>
          </p:nvSpPr>
          <p:spPr>
            <a:xfrm>
              <a:off x="7315200" y="952500"/>
              <a:ext cx="3790950" cy="2495550"/>
            </a:xfrm>
            <a:prstGeom prst="rect">
              <a:avLst/>
            </a:prstGeom>
            <a:solidFill>
              <a:srgbClr val="070B10">
                <a:alpha val="18000"/>
              </a:srgbClr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8934450" y="3276600"/>
              <a:ext cx="1962150" cy="381000"/>
            </a:xfrm>
            <a:prstGeom prst="roundRect">
              <a:avLst>
                <a:gd name="adj" fmla="val 50000"/>
              </a:avLst>
            </a:prstGeom>
            <a:solidFill>
              <a:srgbClr val="142231"/>
            </a:solidFill>
            <a:ln w="9525">
              <a:solidFill>
                <a:srgbClr val="33E18A"/>
              </a:solidFill>
            </a:ln>
          </p:spPr>
        </p:sp>
        <p:grpSp>
          <p:nvGrpSpPr>
            <p:cNvPr id="28" name="Group 28"/>
            <p:cNvGrpSpPr/>
            <p:nvPr/>
          </p:nvGrpSpPr>
          <p:grpSpPr>
            <a:xfrm>
              <a:off x="9134475" y="3390900"/>
              <a:ext cx="171450" cy="161925"/>
              <a:chOff x="9134475" y="3390900"/>
              <a:chExt cx="171450" cy="161925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9134475" y="3390900"/>
                <a:ext cx="17145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14300">
                    <a:moveTo>
                      <a:pt x="171450" y="76200"/>
                    </a:moveTo>
                    <a:lnTo>
                      <a:pt x="171450" y="104775"/>
                    </a:lnTo>
                    <a:cubicBezTo>
                      <a:pt x="171450" y="110036"/>
                      <a:pt x="167186" y="114300"/>
                      <a:pt x="161925" y="114300"/>
                    </a:cubicBezTo>
                    <a:lnTo>
                      <a:pt x="9525" y="114300"/>
                    </a:lnTo>
                    <a:cubicBezTo>
                      <a:pt x="4264" y="114300"/>
                      <a:pt x="0" y="110036"/>
                      <a:pt x="0" y="104775"/>
                    </a:cubicBezTo>
                    <a:lnTo>
                      <a:pt x="0" y="9525"/>
                    </a:lnTo>
                    <a:cubicBezTo>
                      <a:pt x="0" y="4264"/>
                      <a:pt x="4264" y="0"/>
                      <a:pt x="9525" y="0"/>
                    </a:cubicBezTo>
                    <a:lnTo>
                      <a:pt x="95250" y="0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9172575" y="3543300"/>
                <a:ext cx="95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">
                    <a:moveTo>
                      <a:pt x="0" y="0"/>
                    </a:moveTo>
                    <a:lnTo>
                      <a:pt x="95250" y="0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9191625" y="3505200"/>
                <a:ext cx="9525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8100">
                    <a:moveTo>
                      <a:pt x="0" y="0"/>
                    </a:moveTo>
                    <a:lnTo>
                      <a:pt x="0" y="38100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9248775" y="3505200"/>
                <a:ext cx="9525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8100">
                    <a:moveTo>
                      <a:pt x="0" y="0"/>
                    </a:moveTo>
                    <a:lnTo>
                      <a:pt x="0" y="38100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9267825" y="3390900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>
                    <a:moveTo>
                      <a:pt x="0" y="0"/>
                    </a:moveTo>
                    <a:lnTo>
                      <a:pt x="38100" y="0"/>
                    </a:lnTo>
                    <a:lnTo>
                      <a:pt x="38100" y="38100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9258300" y="3390900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0" y="47625"/>
                    </a:moveTo>
                    <a:lnTo>
                      <a:pt x="47625" y="0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9395460" y="3404235"/>
              <a:ext cx="103860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真实界面截图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742950" y="4572000"/>
            <a:ext cx="6781800" cy="895350"/>
            <a:chOff x="742950" y="4572000"/>
            <a:chExt cx="6781800" cy="895350"/>
          </a:xfrm>
        </p:grpSpPr>
        <p:sp>
          <p:nvSpPr>
            <p:cNvPr id="31" name="Rectangle 31"/>
            <p:cNvSpPr/>
            <p:nvPr/>
          </p:nvSpPr>
          <p:spPr>
            <a:xfrm>
              <a:off x="742950" y="4572000"/>
              <a:ext cx="1524000" cy="895350"/>
            </a:xfrm>
            <a:prstGeom prst="roundRect">
              <a:avLst>
                <a:gd name="adj" fmla="val 12766"/>
              </a:avLst>
            </a:prstGeom>
            <a:solidFill>
              <a:srgbClr val="142231"/>
            </a:solidFill>
            <a:ln w="9525">
              <a:solidFill>
                <a:srgbClr val="28455E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56310" y="4718685"/>
              <a:ext cx="1108210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33E18A"/>
                  </a:solidFill>
                  <a:latin typeface="Consolas"/>
                  <a:ea typeface="Consolas"/>
                  <a:cs typeface="Consolas"/>
                </a:rPr>
                <a:t>30/30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74408" y="5158264"/>
              <a:ext cx="88249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完整预测板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2495550" y="4572000"/>
              <a:ext cx="1524000" cy="895350"/>
            </a:xfrm>
            <a:prstGeom prst="roundRect">
              <a:avLst>
                <a:gd name="adj" fmla="val 12766"/>
              </a:avLst>
            </a:prstGeom>
            <a:solidFill>
              <a:srgbClr val="142231"/>
            </a:solidFill>
            <a:ln w="9525">
              <a:solidFill>
                <a:srgbClr val="28455E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2708910" y="4718685"/>
              <a:ext cx="692358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62B8FF"/>
                  </a:solidFill>
                  <a:latin typeface="Consolas"/>
                  <a:ea typeface="Consolas"/>
                  <a:cs typeface="Consolas"/>
                </a:rPr>
                <a:t>124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727008" y="5158264"/>
              <a:ext cx="88249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本地候选池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4248150" y="4572000"/>
              <a:ext cx="1524000" cy="895350"/>
            </a:xfrm>
            <a:prstGeom prst="roundRect">
              <a:avLst>
                <a:gd name="adj" fmla="val 12766"/>
              </a:avLst>
            </a:prstGeom>
            <a:solidFill>
              <a:srgbClr val="142231"/>
            </a:solidFill>
            <a:ln w="9525">
              <a:solidFill>
                <a:srgbClr val="28455E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4461510" y="4718685"/>
              <a:ext cx="692358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FFD166"/>
                  </a:solidFill>
                  <a:latin typeface="Consolas"/>
                  <a:ea typeface="Consolas"/>
                  <a:cs typeface="Consolas"/>
                </a:rPr>
                <a:t>RAG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479608" y="5158264"/>
              <a:ext cx="90799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AWS 问答层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000750" y="4572000"/>
              <a:ext cx="1524000" cy="895350"/>
            </a:xfrm>
            <a:prstGeom prst="roundRect">
              <a:avLst>
                <a:gd name="adj" fmla="val 12766"/>
              </a:avLst>
            </a:prstGeom>
            <a:solidFill>
              <a:srgbClr val="142231"/>
            </a:solidFill>
            <a:ln w="9525">
              <a:solidFill>
                <a:srgbClr val="28455E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214110" y="4718685"/>
              <a:ext cx="276506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33E18A"/>
                  </a:solidFill>
                  <a:latin typeface="Consolas"/>
                  <a:ea typeface="Consolas"/>
                  <a:cs typeface="Consolas"/>
                </a:rPr>
                <a:t>0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232208" y="5158264"/>
              <a:ext cx="71247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人工换人</a:t>
              </a:r>
            </a:p>
          </p:txBody>
        </p:sp>
      </p:grpSp>
      <p:sp>
        <p:nvSpPr>
          <p:cNvPr id="44" name="TextBox 44"/>
          <p:cNvSpPr txBox="1"/>
          <p:nvPr/>
        </p:nvSpPr>
        <p:spPr>
          <a:xfrm>
            <a:off x="727710" y="5890260"/>
            <a:ext cx="263880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4A8BC"/>
                </a:solidFill>
                <a:latin typeface="Arial"/>
                <a:ea typeface="Microsoft YaHei"/>
                <a:cs typeface="Arial"/>
              </a:rPr>
              <a:t>可信数据 / 可解释预测 / 可提交系统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B10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69595" y="402908"/>
            <a:ext cx="6259830" cy="844867"/>
            <a:chOff x="569595" y="402908"/>
            <a:chExt cx="6259830" cy="844867"/>
          </a:xfrm>
        </p:grpSpPr>
        <p:sp>
          <p:nvSpPr>
            <p:cNvPr id="3" name="TextBox 3"/>
            <p:cNvSpPr txBox="1"/>
            <p:nvPr/>
          </p:nvSpPr>
          <p:spPr>
            <a:xfrm>
              <a:off x="569595" y="402908"/>
              <a:ext cx="4534667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比赛任务不是“猜名单”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0550" y="942975"/>
              <a:ext cx="62388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同一套系统要同时交付预测结果、工程质量、路演表达和里程碑答案。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685800" y="1562100"/>
            <a:ext cx="10820400" cy="1447800"/>
            <a:chOff x="685800" y="1562100"/>
            <a:chExt cx="10820400" cy="1447800"/>
          </a:xfrm>
        </p:grpSpPr>
        <p:sp>
          <p:nvSpPr>
            <p:cNvPr id="6" name="Rectangle 6"/>
            <p:cNvSpPr/>
            <p:nvPr/>
          </p:nvSpPr>
          <p:spPr>
            <a:xfrm>
              <a:off x="685800" y="1562100"/>
              <a:ext cx="2381250" cy="1447800"/>
            </a:xfrm>
            <a:prstGeom prst="roundRect">
              <a:avLst>
                <a:gd name="adj" fmla="val 9211"/>
              </a:avLst>
            </a:prstGeom>
            <a:solidFill>
              <a:srgbClr val="142231"/>
            </a:solidFill>
            <a:ln w="9525">
              <a:solidFill>
                <a:srgbClr val="28455E"/>
              </a:solidFill>
            </a:ln>
          </p:spPr>
        </p:sp>
        <p:grpSp>
          <p:nvGrpSpPr>
            <p:cNvPr id="10" name="Group 10"/>
            <p:cNvGrpSpPr/>
            <p:nvPr/>
          </p:nvGrpSpPr>
          <p:grpSpPr>
            <a:xfrm>
              <a:off x="1019969" y="1850231"/>
              <a:ext cx="188913" cy="242889"/>
              <a:chOff x="1019969" y="1850231"/>
              <a:chExt cx="188913" cy="242889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1019969" y="1877219"/>
                <a:ext cx="188913" cy="215901"/>
              </a:xfrm>
              <a:custGeom>
                <a:avLst/>
                <a:gdLst/>
                <a:ahLst/>
                <a:cxnLst/>
                <a:rect l="l" t="t" r="r" b="b"/>
                <a:pathLst>
                  <a:path w="188913" h="215901">
                    <a:moveTo>
                      <a:pt x="53975" y="0"/>
                    </a:moveTo>
                    <a:lnTo>
                      <a:pt x="26988" y="0"/>
                    </a:lnTo>
                    <a:cubicBezTo>
                      <a:pt x="12083" y="0"/>
                      <a:pt x="0" y="12083"/>
                      <a:pt x="0" y="26988"/>
                    </a:cubicBezTo>
                    <a:lnTo>
                      <a:pt x="0" y="188913"/>
                    </a:lnTo>
                    <a:cubicBezTo>
                      <a:pt x="0" y="203818"/>
                      <a:pt x="12083" y="215901"/>
                      <a:pt x="26988" y="215901"/>
                    </a:cubicBezTo>
                    <a:lnTo>
                      <a:pt x="161925" y="215901"/>
                    </a:lnTo>
                    <a:cubicBezTo>
                      <a:pt x="176830" y="215901"/>
                      <a:pt x="188913" y="203818"/>
                      <a:pt x="188913" y="188913"/>
                    </a:cubicBezTo>
                    <a:lnTo>
                      <a:pt x="188913" y="26988"/>
                    </a:lnTo>
                    <a:cubicBezTo>
                      <a:pt x="188913" y="12083"/>
                      <a:pt x="176830" y="0"/>
                      <a:pt x="161925" y="0"/>
                    </a:cubicBezTo>
                    <a:lnTo>
                      <a:pt x="134938" y="0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1073944" y="1850231"/>
                <a:ext cx="80963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80963" h="53975">
                    <a:moveTo>
                      <a:pt x="0" y="26988"/>
                    </a:moveTo>
                    <a:cubicBezTo>
                      <a:pt x="0" y="12083"/>
                      <a:pt x="12083" y="0"/>
                      <a:pt x="26988" y="0"/>
                    </a:cubicBezTo>
                    <a:lnTo>
                      <a:pt x="53975" y="0"/>
                    </a:lnTo>
                    <a:cubicBezTo>
                      <a:pt x="68880" y="0"/>
                      <a:pt x="80963" y="12083"/>
                      <a:pt x="80963" y="26988"/>
                    </a:cubicBezTo>
                    <a:cubicBezTo>
                      <a:pt x="80963" y="41892"/>
                      <a:pt x="68880" y="53975"/>
                      <a:pt x="53975" y="53975"/>
                    </a:cubicBezTo>
                    <a:lnTo>
                      <a:pt x="26988" y="53975"/>
                    </a:lnTo>
                    <a:cubicBezTo>
                      <a:pt x="12083" y="53975"/>
                      <a:pt x="0" y="41892"/>
                      <a:pt x="0" y="26988"/>
                    </a:cubicBez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073944" y="1971675"/>
                <a:ext cx="80963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80963" h="53975">
                    <a:moveTo>
                      <a:pt x="0" y="26988"/>
                    </a:moveTo>
                    <a:lnTo>
                      <a:pt x="26988" y="53975"/>
                    </a:lnTo>
                    <a:lnTo>
                      <a:pt x="80963" y="0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</p:grpSp>
        <p:sp>
          <p:nvSpPr>
            <p:cNvPr id="11" name="TextBox 11"/>
            <p:cNvSpPr txBox="1"/>
            <p:nvPr/>
          </p:nvSpPr>
          <p:spPr>
            <a:xfrm>
              <a:off x="912495" y="2136458"/>
              <a:ext cx="895962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150" b="1" dirty="0">
                  <a:solidFill>
                    <a:srgbClr val="62B8FF"/>
                  </a:solidFill>
                  <a:latin typeface="Consolas"/>
                  <a:ea typeface="Consolas"/>
                  <a:cs typeface="Consolas"/>
                </a:rPr>
                <a:t>30%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768792" y="2242661"/>
              <a:ext cx="1009936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代码质量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38212" y="2621756"/>
              <a:ext cx="164877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AWS 使用与 GitHub 提交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3543300" y="1562100"/>
              <a:ext cx="2381250" cy="1447800"/>
            </a:xfrm>
            <a:prstGeom prst="roundRect">
              <a:avLst>
                <a:gd name="adj" fmla="val 9211"/>
              </a:avLst>
            </a:prstGeom>
            <a:solidFill>
              <a:srgbClr val="142231"/>
            </a:solidFill>
            <a:ln w="9525">
              <a:solidFill>
                <a:srgbClr val="28455E"/>
              </a:solidFill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3850481" y="1863725"/>
              <a:ext cx="242888" cy="225426"/>
              <a:chOff x="3850481" y="1863725"/>
              <a:chExt cx="242888" cy="225426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3850481" y="1863725"/>
                <a:ext cx="24288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42888" h="9525">
                    <a:moveTo>
                      <a:pt x="0" y="0"/>
                    </a:moveTo>
                    <a:lnTo>
                      <a:pt x="242888" y="0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3863975" y="1863725"/>
                <a:ext cx="215901" cy="161925"/>
              </a:xfrm>
              <a:custGeom>
                <a:avLst/>
                <a:gdLst/>
                <a:ahLst/>
                <a:cxnLst/>
                <a:rect l="l" t="t" r="r" b="b"/>
                <a:pathLst>
                  <a:path w="215901" h="161925">
                    <a:moveTo>
                      <a:pt x="0" y="0"/>
                    </a:moveTo>
                    <a:lnTo>
                      <a:pt x="0" y="134938"/>
                    </a:lnTo>
                    <a:cubicBezTo>
                      <a:pt x="0" y="149843"/>
                      <a:pt x="12083" y="161925"/>
                      <a:pt x="26988" y="161925"/>
                    </a:cubicBezTo>
                    <a:lnTo>
                      <a:pt x="188913" y="161925"/>
                    </a:lnTo>
                    <a:cubicBezTo>
                      <a:pt x="203818" y="161925"/>
                      <a:pt x="215901" y="149843"/>
                      <a:pt x="215901" y="134938"/>
                    </a:cubicBezTo>
                    <a:lnTo>
                      <a:pt x="215901" y="0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3971925" y="2025651"/>
                <a:ext cx="952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3975">
                    <a:moveTo>
                      <a:pt x="0" y="0"/>
                    </a:moveTo>
                    <a:lnTo>
                      <a:pt x="0" y="53975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3931444" y="2079626"/>
                <a:ext cx="80963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0963" h="9525">
                    <a:moveTo>
                      <a:pt x="0" y="0"/>
                    </a:moveTo>
                    <a:lnTo>
                      <a:pt x="80963" y="0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3917950" y="1917700"/>
                <a:ext cx="107950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107950" h="53975">
                    <a:moveTo>
                      <a:pt x="0" y="53975"/>
                    </a:moveTo>
                    <a:lnTo>
                      <a:pt x="40481" y="13494"/>
                    </a:lnTo>
                    <a:lnTo>
                      <a:pt x="67469" y="40481"/>
                    </a:lnTo>
                    <a:lnTo>
                      <a:pt x="107950" y="0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</p:grpSp>
        <p:sp>
          <p:nvSpPr>
            <p:cNvPr id="21" name="TextBox 21"/>
            <p:cNvSpPr txBox="1"/>
            <p:nvPr/>
          </p:nvSpPr>
          <p:spPr>
            <a:xfrm>
              <a:off x="3769995" y="2136458"/>
              <a:ext cx="895962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150" b="1" dirty="0">
                  <a:solidFill>
                    <a:srgbClr val="62B8FF"/>
                  </a:solidFill>
                  <a:latin typeface="Consolas"/>
                  <a:ea typeface="Consolas"/>
                  <a:cs typeface="Consolas"/>
                </a:rPr>
                <a:t>30%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626292" y="2242661"/>
              <a:ext cx="1009936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现场路演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795712" y="2621756"/>
              <a:ext cx="150626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6 分钟讲清方法与产品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6400800" y="1562100"/>
              <a:ext cx="2381250" cy="1447800"/>
            </a:xfrm>
            <a:prstGeom prst="roundRect">
              <a:avLst>
                <a:gd name="adj" fmla="val 9211"/>
              </a:avLst>
            </a:prstGeom>
            <a:solidFill>
              <a:srgbClr val="142231"/>
            </a:solidFill>
            <a:ln w="9525">
              <a:solidFill>
                <a:srgbClr val="33E18A"/>
              </a:solidFill>
            </a:ln>
          </p:spPr>
        </p:sp>
        <p:grpSp>
          <p:nvGrpSpPr>
            <p:cNvPr id="28" name="Group 28"/>
            <p:cNvGrpSpPr/>
            <p:nvPr/>
          </p:nvGrpSpPr>
          <p:grpSpPr>
            <a:xfrm>
              <a:off x="6707981" y="1850231"/>
              <a:ext cx="242888" cy="242888"/>
              <a:chOff x="6707981" y="1850231"/>
              <a:chExt cx="242888" cy="242888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6815932" y="1958182"/>
                <a:ext cx="26988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26988" h="26988">
                    <a:moveTo>
                      <a:pt x="0" y="13494"/>
                    </a:moveTo>
                    <a:cubicBezTo>
                      <a:pt x="0" y="20946"/>
                      <a:pt x="6041" y="26988"/>
                      <a:pt x="13494" y="26988"/>
                    </a:cubicBezTo>
                    <a:cubicBezTo>
                      <a:pt x="20946" y="26988"/>
                      <a:pt x="26988" y="20946"/>
                      <a:pt x="26988" y="13494"/>
                    </a:cubicBezTo>
                    <a:cubicBezTo>
                      <a:pt x="26988" y="6041"/>
                      <a:pt x="20946" y="0"/>
                      <a:pt x="13494" y="0"/>
                    </a:cubicBezTo>
                    <a:cubicBezTo>
                      <a:pt x="6041" y="0"/>
                      <a:pt x="0" y="6041"/>
                      <a:pt x="0" y="13494"/>
                    </a:cubicBez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6761956" y="1904206"/>
                <a:ext cx="134938" cy="134938"/>
              </a:xfrm>
              <a:custGeom>
                <a:avLst/>
                <a:gdLst/>
                <a:ahLst/>
                <a:cxnLst/>
                <a:rect l="l" t="t" r="r" b="b"/>
                <a:pathLst>
                  <a:path w="134938" h="134938">
                    <a:moveTo>
                      <a:pt x="0" y="67469"/>
                    </a:moveTo>
                    <a:cubicBezTo>
                      <a:pt x="0" y="104731"/>
                      <a:pt x="30207" y="134938"/>
                      <a:pt x="67469" y="134938"/>
                    </a:cubicBezTo>
                    <a:cubicBezTo>
                      <a:pt x="104731" y="134938"/>
                      <a:pt x="134938" y="104731"/>
                      <a:pt x="134938" y="67469"/>
                    </a:cubicBezTo>
                    <a:cubicBezTo>
                      <a:pt x="134938" y="30207"/>
                      <a:pt x="104731" y="0"/>
                      <a:pt x="67469" y="0"/>
                    </a:cubicBezTo>
                    <a:cubicBezTo>
                      <a:pt x="30207" y="0"/>
                      <a:pt x="0" y="30207"/>
                      <a:pt x="0" y="67469"/>
                    </a:cubicBez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6707981" y="1850231"/>
                <a:ext cx="242888" cy="242888"/>
              </a:xfrm>
              <a:custGeom>
                <a:avLst/>
                <a:gdLst/>
                <a:ahLst/>
                <a:cxnLst/>
                <a:rect l="l" t="t" r="r" b="b"/>
                <a:pathLst>
                  <a:path w="242888" h="242888">
                    <a:moveTo>
                      <a:pt x="0" y="121444"/>
                    </a:moveTo>
                    <a:cubicBezTo>
                      <a:pt x="0" y="188516"/>
                      <a:pt x="54372" y="242888"/>
                      <a:pt x="121444" y="242888"/>
                    </a:cubicBezTo>
                    <a:cubicBezTo>
                      <a:pt x="188516" y="242888"/>
                      <a:pt x="242888" y="188516"/>
                      <a:pt x="242888" y="121444"/>
                    </a:cubicBezTo>
                    <a:cubicBezTo>
                      <a:pt x="242888" y="54372"/>
                      <a:pt x="188516" y="0"/>
                      <a:pt x="121444" y="0"/>
                    </a:cubicBezTo>
                    <a:cubicBezTo>
                      <a:pt x="54372" y="0"/>
                      <a:pt x="0" y="54372"/>
                      <a:pt x="0" y="121444"/>
                    </a:cubicBez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6627495" y="2136458"/>
              <a:ext cx="895962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150" b="1" dirty="0">
                  <a:solidFill>
                    <a:srgbClr val="33E18A"/>
                  </a:solidFill>
                  <a:latin typeface="Consolas"/>
                  <a:ea typeface="Consolas"/>
                  <a:cs typeface="Consolas"/>
                </a:rPr>
                <a:t>40%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483792" y="2242661"/>
              <a:ext cx="1251466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里程碑预测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653212" y="2621756"/>
              <a:ext cx="152876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名单命中与客观题答案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9258300" y="1562100"/>
              <a:ext cx="2247900" cy="1447800"/>
            </a:xfrm>
            <a:prstGeom prst="roundRect">
              <a:avLst>
                <a:gd name="adj" fmla="val 9211"/>
              </a:avLst>
            </a:prstGeom>
            <a:solidFill>
              <a:srgbClr val="142231"/>
            </a:solidFill>
            <a:ln w="9525">
              <a:solidFill>
                <a:srgbClr val="28455E"/>
              </a:solidFill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9555933" y="1841094"/>
              <a:ext cx="257304" cy="252025"/>
              <a:chOff x="9555933" y="1841094"/>
              <a:chExt cx="257304" cy="252025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9555933" y="1841094"/>
                <a:ext cx="257304" cy="251864"/>
              </a:xfrm>
              <a:custGeom>
                <a:avLst/>
                <a:gdLst/>
                <a:ahLst/>
                <a:cxnLst/>
                <a:rect l="l" t="t" r="r" b="b"/>
                <a:pathLst>
                  <a:path w="257304" h="251864">
                    <a:moveTo>
                      <a:pt x="251654" y="144359"/>
                    </a:moveTo>
                    <a:cubicBezTo>
                      <a:pt x="257304" y="94875"/>
                      <a:pt x="232168" y="46958"/>
                      <a:pt x="188244" y="23479"/>
                    </a:cubicBezTo>
                    <a:cubicBezTo>
                      <a:pt x="144320" y="0"/>
                      <a:pt x="90513" y="5720"/>
                      <a:pt x="52507" y="37908"/>
                    </a:cubicBezTo>
                    <a:cubicBezTo>
                      <a:pt x="14500" y="70097"/>
                      <a:pt x="0" y="122228"/>
                      <a:pt x="15927" y="169418"/>
                    </a:cubicBezTo>
                    <a:cubicBezTo>
                      <a:pt x="31854" y="216608"/>
                      <a:pt x="74979" y="249290"/>
                      <a:pt x="124718" y="251864"/>
                    </a:cubicBez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9686925" y="1904206"/>
                <a:ext cx="40481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40481" h="107950">
                    <a:moveTo>
                      <a:pt x="0" y="0"/>
                    </a:moveTo>
                    <a:lnTo>
                      <a:pt x="0" y="67469"/>
                    </a:lnTo>
                    <a:lnTo>
                      <a:pt x="40481" y="107950"/>
                    </a:ln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9727407" y="2039144"/>
                <a:ext cx="80963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80963" h="53975">
                    <a:moveTo>
                      <a:pt x="0" y="26988"/>
                    </a:moveTo>
                    <a:lnTo>
                      <a:pt x="26988" y="53975"/>
                    </a:lnTo>
                    <a:lnTo>
                      <a:pt x="80963" y="0"/>
                    </a:ln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9484995" y="2136458"/>
              <a:ext cx="807751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150" b="1" dirty="0">
                  <a:solidFill>
                    <a:srgbClr val="FFD166"/>
                  </a:solidFill>
                  <a:latin typeface="Consolas"/>
                  <a:ea typeface="Consolas"/>
                  <a:cs typeface="Consolas"/>
                </a:rPr>
                <a:t>24h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417492" y="2242661"/>
              <a:ext cx="1009936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连续作战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510712" y="2621756"/>
              <a:ext cx="13787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变化监控与提交窗口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1066800" y="3600450"/>
            <a:ext cx="10058400" cy="1695450"/>
            <a:chOff x="1066800" y="3600450"/>
            <a:chExt cx="10058400" cy="1695450"/>
          </a:xfrm>
        </p:grpSpPr>
        <p:sp>
          <p:nvSpPr>
            <p:cNvPr id="41" name="Rectangle 41"/>
            <p:cNvSpPr/>
            <p:nvPr/>
          </p:nvSpPr>
          <p:spPr>
            <a:xfrm>
              <a:off x="1066800" y="3600450"/>
              <a:ext cx="10058400" cy="1695450"/>
            </a:xfrm>
            <a:prstGeom prst="roundRect">
              <a:avLst>
                <a:gd name="adj" fmla="val 10112"/>
              </a:avLst>
            </a:prstGeom>
            <a:solidFill>
              <a:srgbClr val="101820"/>
            </a:solidFill>
            <a:ln w="9525">
              <a:solidFill>
                <a:srgbClr val="28455E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1421130" y="3830955"/>
              <a:ext cx="1817561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四个设计难点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1476375" y="4467225"/>
              <a:ext cx="95250" cy="95250"/>
            </a:xfrm>
            <a:prstGeom prst="ellipse">
              <a:avLst/>
            </a:prstGeom>
            <a:solidFill>
              <a:srgbClr val="33E18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1675448" y="4421029"/>
              <a:ext cx="2560320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数据先统一成可验证证据。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1476375" y="4905375"/>
              <a:ext cx="95250" cy="95250"/>
            </a:xfrm>
            <a:prstGeom prst="ellipse">
              <a:avLst/>
            </a:prstGeom>
            <a:solidFill>
              <a:srgbClr val="62B8FF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1675448" y="4859179"/>
              <a:ext cx="3190399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预测会随签位、名单、伤病变化。</a:t>
              </a:r>
            </a:p>
          </p:txBody>
        </p:sp>
        <p:sp>
          <p:nvSpPr>
            <p:cNvPr id="47" name="Line 47"/>
            <p:cNvSpPr/>
            <p:nvPr/>
          </p:nvSpPr>
          <p:spPr>
            <a:xfrm>
              <a:off x="6057900" y="4362450"/>
              <a:ext cx="9525" cy="704850"/>
            </a:xfrm>
            <a:custGeom>
              <a:avLst/>
              <a:gdLst/>
              <a:ahLst/>
              <a:cxnLst/>
              <a:rect l="l" t="t" r="r" b="b"/>
              <a:pathLst>
                <a:path w="9525" h="704850">
                  <a:moveTo>
                    <a:pt x="0" y="0"/>
                  </a:moveTo>
                  <a:lnTo>
                    <a:pt x="0" y="704850"/>
                  </a:lnTo>
                </a:path>
              </a:pathLst>
            </a:custGeom>
            <a:noFill/>
            <a:ln w="9525">
              <a:solidFill>
                <a:srgbClr val="28455E"/>
              </a:solidFill>
            </a:ln>
          </p:spPr>
        </p:sp>
        <p:sp>
          <p:nvSpPr>
            <p:cNvPr id="48" name="Ellipse 48"/>
            <p:cNvSpPr/>
            <p:nvPr/>
          </p:nvSpPr>
          <p:spPr>
            <a:xfrm>
              <a:off x="6543675" y="4467225"/>
              <a:ext cx="95250" cy="95250"/>
            </a:xfrm>
            <a:prstGeom prst="ellipse">
              <a:avLst/>
            </a:prstGeom>
            <a:solidFill>
              <a:srgbClr val="FFD166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742748" y="4421029"/>
              <a:ext cx="3095887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每个 pick 都要解释风险和备选。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6543675" y="4905375"/>
              <a:ext cx="95250" cy="95250"/>
            </a:xfrm>
            <a:prstGeom prst="ellipse">
              <a:avLst/>
            </a:prstGeom>
            <a:solidFill>
              <a:srgbClr val="33E18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742748" y="4859179"/>
              <a:ext cx="3946493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结果由 Agent/脚本生成，禁止人工换人。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595312" y="5734050"/>
            <a:ext cx="8605838" cy="792956"/>
            <a:chOff x="595312" y="5734050"/>
            <a:chExt cx="8605838" cy="792956"/>
          </a:xfrm>
        </p:grpSpPr>
        <p:sp>
          <p:nvSpPr>
            <p:cNvPr id="53" name="Rectangle 53"/>
            <p:cNvSpPr/>
            <p:nvPr/>
          </p:nvSpPr>
          <p:spPr>
            <a:xfrm>
              <a:off x="2990850" y="5734050"/>
              <a:ext cx="6210300" cy="457200"/>
            </a:xfrm>
            <a:prstGeom prst="roundRect">
              <a:avLst>
                <a:gd name="adj" fmla="val 20833"/>
              </a:avLst>
            </a:prstGeom>
            <a:solidFill>
              <a:srgbClr val="142231"/>
            </a:solidFill>
            <a:ln w="9525">
              <a:solidFill>
                <a:srgbClr val="33E18A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3295650" y="5867400"/>
              <a:ext cx="5341263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E18A"/>
                  </a:solidFill>
                  <a:latin typeface="Arial"/>
                  <a:ea typeface="Microsoft YaHei"/>
                  <a:cs typeface="Arial"/>
                </a:rPr>
                <a:t>所以 PPT 要证明：数据可信、流程可复现、产品能提交。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595312" y="6298406"/>
              <a:ext cx="53113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94A8BC"/>
                  </a:solidFill>
                  <a:latin typeface="Consolas"/>
                  <a:ea typeface="Consolas"/>
                  <a:cs typeface="Consolas"/>
                </a:rPr>
                <a:t>02 / 08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B10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69595" y="402908"/>
            <a:ext cx="5259705" cy="844867"/>
            <a:chOff x="569595" y="402908"/>
            <a:chExt cx="5259705" cy="844867"/>
          </a:xfrm>
        </p:grpSpPr>
        <p:sp>
          <p:nvSpPr>
            <p:cNvPr id="3" name="TextBox 3"/>
            <p:cNvSpPr txBox="1"/>
            <p:nvPr/>
          </p:nvSpPr>
          <p:spPr>
            <a:xfrm>
              <a:off x="569595" y="402908"/>
              <a:ext cx="4931616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数据先可信，预测才可信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0550" y="942975"/>
              <a:ext cx="52387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原始材料不被直接改写，所有派生产物都进入可追溯链路。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076325" y="1695450"/>
            <a:ext cx="10407377" cy="1200150"/>
            <a:chOff x="1076325" y="1695450"/>
            <a:chExt cx="10407377" cy="1200150"/>
          </a:xfrm>
        </p:grpSpPr>
        <p:sp>
          <p:nvSpPr>
            <p:cNvPr id="6" name="Rectangle 6"/>
            <p:cNvSpPr/>
            <p:nvPr/>
          </p:nvSpPr>
          <p:spPr>
            <a:xfrm>
              <a:off x="1076325" y="1695450"/>
              <a:ext cx="2076450" cy="1200150"/>
            </a:xfrm>
            <a:prstGeom prst="roundRect">
              <a:avLst>
                <a:gd name="adj" fmla="val 11111"/>
              </a:avLst>
            </a:prstGeom>
            <a:solidFill>
              <a:srgbClr val="142231"/>
            </a:solidFill>
            <a:ln w="9525">
              <a:solidFill>
                <a:srgbClr val="62B8FF"/>
              </a:solidFill>
            </a:ln>
          </p:spPr>
        </p:sp>
        <p:grpSp>
          <p:nvGrpSpPr>
            <p:cNvPr id="10" name="Group 10"/>
            <p:cNvGrpSpPr/>
            <p:nvPr/>
          </p:nvGrpSpPr>
          <p:grpSpPr>
            <a:xfrm>
              <a:off x="1441450" y="2007394"/>
              <a:ext cx="241299" cy="271462"/>
              <a:chOff x="1441450" y="2007394"/>
              <a:chExt cx="241299" cy="271462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1441450" y="2007394"/>
                <a:ext cx="241299" cy="90487"/>
              </a:xfrm>
              <a:custGeom>
                <a:avLst/>
                <a:gdLst/>
                <a:ahLst/>
                <a:cxnLst/>
                <a:rect l="l" t="t" r="r" b="b"/>
                <a:pathLst>
                  <a:path w="241299" h="90487">
                    <a:moveTo>
                      <a:pt x="0" y="45244"/>
                    </a:moveTo>
                    <a:cubicBezTo>
                      <a:pt x="0" y="70231"/>
                      <a:pt x="54017" y="90487"/>
                      <a:pt x="120650" y="90487"/>
                    </a:cubicBezTo>
                    <a:cubicBezTo>
                      <a:pt x="187283" y="90487"/>
                      <a:pt x="241299" y="70231"/>
                      <a:pt x="241299" y="45244"/>
                    </a:cubicBezTo>
                    <a:cubicBezTo>
                      <a:pt x="241299" y="20256"/>
                      <a:pt x="187283" y="0"/>
                      <a:pt x="120650" y="0"/>
                    </a:cubicBezTo>
                    <a:cubicBezTo>
                      <a:pt x="54017" y="0"/>
                      <a:pt x="0" y="20256"/>
                      <a:pt x="0" y="45244"/>
                    </a:cubicBez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1441450" y="2052637"/>
                <a:ext cx="241299" cy="135731"/>
              </a:xfrm>
              <a:custGeom>
                <a:avLst/>
                <a:gdLst/>
                <a:ahLst/>
                <a:cxnLst/>
                <a:rect l="l" t="t" r="r" b="b"/>
                <a:pathLst>
                  <a:path w="241299" h="135731">
                    <a:moveTo>
                      <a:pt x="0" y="0"/>
                    </a:moveTo>
                    <a:lnTo>
                      <a:pt x="0" y="90487"/>
                    </a:lnTo>
                    <a:cubicBezTo>
                      <a:pt x="0" y="115475"/>
                      <a:pt x="54017" y="135731"/>
                      <a:pt x="120650" y="135731"/>
                    </a:cubicBezTo>
                    <a:cubicBezTo>
                      <a:pt x="187283" y="135731"/>
                      <a:pt x="241299" y="115475"/>
                      <a:pt x="241299" y="90487"/>
                    </a:cubicBezTo>
                    <a:lnTo>
                      <a:pt x="241299" y="0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441450" y="2143125"/>
                <a:ext cx="241299" cy="135731"/>
              </a:xfrm>
              <a:custGeom>
                <a:avLst/>
                <a:gdLst/>
                <a:ahLst/>
                <a:cxnLst/>
                <a:rect l="l" t="t" r="r" b="b"/>
                <a:pathLst>
                  <a:path w="241299" h="135731">
                    <a:moveTo>
                      <a:pt x="0" y="0"/>
                    </a:moveTo>
                    <a:lnTo>
                      <a:pt x="0" y="90487"/>
                    </a:lnTo>
                    <a:cubicBezTo>
                      <a:pt x="0" y="115475"/>
                      <a:pt x="54017" y="135731"/>
                      <a:pt x="120650" y="135731"/>
                    </a:cubicBezTo>
                    <a:cubicBezTo>
                      <a:pt x="187283" y="135731"/>
                      <a:pt x="241299" y="115475"/>
                      <a:pt x="241299" y="90487"/>
                    </a:cubicBezTo>
                    <a:lnTo>
                      <a:pt x="241299" y="0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</p:grpSp>
        <p:sp>
          <p:nvSpPr>
            <p:cNvPr id="11" name="TextBox 11"/>
            <p:cNvSpPr txBox="1"/>
            <p:nvPr/>
          </p:nvSpPr>
          <p:spPr>
            <a:xfrm>
              <a:off x="1872615" y="2015490"/>
              <a:ext cx="130587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官方数据包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365885" y="2480310"/>
              <a:ext cx="128663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数据/ 只读原始区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3152775" y="2295525"/>
              <a:ext cx="666750" cy="9525"/>
            </a:xfrm>
            <a:custGeom>
              <a:avLst/>
              <a:gdLst/>
              <a:ahLst/>
              <a:cxnLst/>
              <a:rect l="l" t="t" r="r" b="b"/>
              <a:pathLst>
                <a:path w="666750" h="9525">
                  <a:moveTo>
                    <a:pt x="0" y="0"/>
                  </a:moveTo>
                  <a:lnTo>
                    <a:pt x="666750" y="0"/>
                  </a:lnTo>
                </a:path>
              </a:pathLst>
            </a:custGeom>
            <a:noFill/>
            <a:ln w="28575">
              <a:solidFill>
                <a:srgbClr val="62B8FF"/>
              </a:solidFill>
            </a:ln>
          </p:spPr>
        </p:sp>
        <p:sp>
          <p:nvSpPr>
            <p:cNvPr id="14" name="Polygon 14"/>
            <p:cNvSpPr/>
            <p:nvPr/>
          </p:nvSpPr>
          <p:spPr>
            <a:xfrm>
              <a:off x="3686175" y="2219325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13335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62B8FF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3819525" y="1695450"/>
              <a:ext cx="2076450" cy="1200150"/>
            </a:xfrm>
            <a:prstGeom prst="roundRect">
              <a:avLst>
                <a:gd name="adj" fmla="val 11111"/>
              </a:avLst>
            </a:prstGeom>
            <a:solidFill>
              <a:srgbClr val="142231"/>
            </a:solidFill>
            <a:ln w="9525">
              <a:solidFill>
                <a:srgbClr val="28455E"/>
              </a:solidFill>
            </a:ln>
          </p:spPr>
        </p:sp>
        <p:grpSp>
          <p:nvGrpSpPr>
            <p:cNvPr id="19" name="Group 19"/>
            <p:cNvGrpSpPr/>
            <p:nvPr/>
          </p:nvGrpSpPr>
          <p:grpSpPr>
            <a:xfrm>
              <a:off x="4169569" y="2007394"/>
              <a:ext cx="271462" cy="271462"/>
              <a:chOff x="4169569" y="2007394"/>
              <a:chExt cx="271462" cy="271462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4169569" y="2218531"/>
                <a:ext cx="603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60325" h="60325">
                    <a:moveTo>
                      <a:pt x="0" y="30162"/>
                    </a:moveTo>
                    <a:cubicBezTo>
                      <a:pt x="0" y="46821"/>
                      <a:pt x="13504" y="60325"/>
                      <a:pt x="30162" y="60325"/>
                    </a:cubicBezTo>
                    <a:cubicBezTo>
                      <a:pt x="46821" y="60325"/>
                      <a:pt x="60325" y="46821"/>
                      <a:pt x="60325" y="30162"/>
                    </a:cubicBezTo>
                    <a:cubicBezTo>
                      <a:pt x="60325" y="13504"/>
                      <a:pt x="46821" y="0"/>
                      <a:pt x="30162" y="0"/>
                    </a:cubicBezTo>
                    <a:cubicBezTo>
                      <a:pt x="13504" y="0"/>
                      <a:pt x="0" y="13504"/>
                      <a:pt x="0" y="30162"/>
                    </a:cubicBez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4380706" y="2007394"/>
                <a:ext cx="603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60325" h="60325">
                    <a:moveTo>
                      <a:pt x="30162" y="60325"/>
                    </a:moveTo>
                    <a:cubicBezTo>
                      <a:pt x="46821" y="60325"/>
                      <a:pt x="60325" y="46821"/>
                      <a:pt x="60325" y="30162"/>
                    </a:cubicBezTo>
                    <a:cubicBezTo>
                      <a:pt x="60325" y="13504"/>
                      <a:pt x="46821" y="0"/>
                      <a:pt x="30162" y="0"/>
                    </a:cubicBezTo>
                    <a:cubicBezTo>
                      <a:pt x="13504" y="0"/>
                      <a:pt x="0" y="13504"/>
                      <a:pt x="0" y="30162"/>
                    </a:cubicBezTo>
                    <a:cubicBezTo>
                      <a:pt x="0" y="46821"/>
                      <a:pt x="13504" y="60325"/>
                      <a:pt x="30162" y="60325"/>
                    </a:cubicBez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4199731" y="2037556"/>
                <a:ext cx="226218" cy="211137"/>
              </a:xfrm>
              <a:custGeom>
                <a:avLst/>
                <a:gdLst/>
                <a:ahLst/>
                <a:cxnLst/>
                <a:rect l="l" t="t" r="r" b="b"/>
                <a:pathLst>
                  <a:path w="226218" h="211137">
                    <a:moveTo>
                      <a:pt x="90487" y="211137"/>
                    </a:moveTo>
                    <a:lnTo>
                      <a:pt x="173434" y="211137"/>
                    </a:lnTo>
                    <a:cubicBezTo>
                      <a:pt x="202586" y="211137"/>
                      <a:pt x="226218" y="187505"/>
                      <a:pt x="226218" y="158353"/>
                    </a:cubicBezTo>
                    <a:cubicBezTo>
                      <a:pt x="226218" y="129201"/>
                      <a:pt x="202586" y="105569"/>
                      <a:pt x="173434" y="105569"/>
                    </a:cubicBezTo>
                    <a:lnTo>
                      <a:pt x="52784" y="105569"/>
                    </a:lnTo>
                    <a:cubicBezTo>
                      <a:pt x="23632" y="105569"/>
                      <a:pt x="0" y="81936"/>
                      <a:pt x="0" y="52784"/>
                    </a:cubicBezTo>
                    <a:cubicBezTo>
                      <a:pt x="0" y="23632"/>
                      <a:pt x="23632" y="0"/>
                      <a:pt x="52784" y="0"/>
                    </a:cubicBezTo>
                    <a:lnTo>
                      <a:pt x="120650" y="0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</p:grpSp>
        <p:sp>
          <p:nvSpPr>
            <p:cNvPr id="20" name="TextBox 20"/>
            <p:cNvSpPr txBox="1"/>
            <p:nvPr/>
          </p:nvSpPr>
          <p:spPr>
            <a:xfrm>
              <a:off x="4615815" y="2015490"/>
              <a:ext cx="1091651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raw 登记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109085" y="2480310"/>
              <a:ext cx="14706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来源、时间、可信度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5895975" y="2295525"/>
              <a:ext cx="666750" cy="9525"/>
            </a:xfrm>
            <a:custGeom>
              <a:avLst/>
              <a:gdLst/>
              <a:ahLst/>
              <a:cxnLst/>
              <a:rect l="l" t="t" r="r" b="b"/>
              <a:pathLst>
                <a:path w="666750" h="9525">
                  <a:moveTo>
                    <a:pt x="0" y="0"/>
                  </a:moveTo>
                  <a:lnTo>
                    <a:pt x="666750" y="0"/>
                  </a:lnTo>
                </a:path>
              </a:pathLst>
            </a:custGeom>
            <a:noFill/>
            <a:ln w="28575">
              <a:solidFill>
                <a:srgbClr val="62B8FF"/>
              </a:solidFill>
            </a:ln>
          </p:spPr>
        </p:sp>
        <p:sp>
          <p:nvSpPr>
            <p:cNvPr id="23" name="Polygon 23"/>
            <p:cNvSpPr/>
            <p:nvPr/>
          </p:nvSpPr>
          <p:spPr>
            <a:xfrm>
              <a:off x="6429375" y="2219325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13335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62B8FF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6562725" y="1695450"/>
              <a:ext cx="2076450" cy="1200150"/>
            </a:xfrm>
            <a:prstGeom prst="roundRect">
              <a:avLst>
                <a:gd name="adj" fmla="val 11111"/>
              </a:avLst>
            </a:prstGeom>
            <a:solidFill>
              <a:srgbClr val="142231"/>
            </a:solidFill>
            <a:ln w="9525">
              <a:solidFill>
                <a:srgbClr val="28455E"/>
              </a:solidFill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6927850" y="2022475"/>
              <a:ext cx="241300" cy="241300"/>
              <a:chOff x="6927850" y="2022475"/>
              <a:chExt cx="241300" cy="241300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6988175" y="2022475"/>
                <a:ext cx="180975" cy="180975"/>
              </a:xfrm>
              <a:custGeom>
                <a:avLst/>
                <a:gdLst/>
                <a:ahLst/>
                <a:cxnLst/>
                <a:rect l="l" t="t" r="r" b="b"/>
                <a:pathLst>
                  <a:path w="180975" h="180975">
                    <a:moveTo>
                      <a:pt x="0" y="30162"/>
                    </a:moveTo>
                    <a:cubicBezTo>
                      <a:pt x="0" y="13504"/>
                      <a:pt x="13504" y="0"/>
                      <a:pt x="30162" y="0"/>
                    </a:cubicBezTo>
                    <a:lnTo>
                      <a:pt x="150812" y="0"/>
                    </a:lnTo>
                    <a:cubicBezTo>
                      <a:pt x="167470" y="0"/>
                      <a:pt x="180975" y="13504"/>
                      <a:pt x="180975" y="30162"/>
                    </a:cubicBezTo>
                    <a:lnTo>
                      <a:pt x="180975" y="150812"/>
                    </a:lnTo>
                    <a:cubicBezTo>
                      <a:pt x="180975" y="167470"/>
                      <a:pt x="167470" y="180975"/>
                      <a:pt x="150812" y="180975"/>
                    </a:cubicBezTo>
                    <a:lnTo>
                      <a:pt x="30162" y="180975"/>
                    </a:lnTo>
                    <a:cubicBezTo>
                      <a:pt x="13504" y="180975"/>
                      <a:pt x="0" y="167470"/>
                      <a:pt x="0" y="150812"/>
                    </a:cubicBezTo>
                    <a:lnTo>
                      <a:pt x="0" y="30162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6927850" y="2082800"/>
                <a:ext cx="180975" cy="180975"/>
              </a:xfrm>
              <a:custGeom>
                <a:avLst/>
                <a:gdLst/>
                <a:ahLst/>
                <a:cxnLst/>
                <a:rect l="l" t="t" r="r" b="b"/>
                <a:pathLst>
                  <a:path w="180975" h="180975">
                    <a:moveTo>
                      <a:pt x="0" y="30162"/>
                    </a:moveTo>
                    <a:cubicBezTo>
                      <a:pt x="0" y="13504"/>
                      <a:pt x="13504" y="0"/>
                      <a:pt x="30162" y="0"/>
                    </a:cubicBezTo>
                    <a:lnTo>
                      <a:pt x="150812" y="0"/>
                    </a:lnTo>
                    <a:cubicBezTo>
                      <a:pt x="167470" y="0"/>
                      <a:pt x="180975" y="13504"/>
                      <a:pt x="180975" y="30162"/>
                    </a:cubicBezTo>
                    <a:lnTo>
                      <a:pt x="180975" y="150812"/>
                    </a:lnTo>
                    <a:cubicBezTo>
                      <a:pt x="180975" y="167470"/>
                      <a:pt x="167470" y="180975"/>
                      <a:pt x="150812" y="180975"/>
                    </a:cubicBezTo>
                    <a:lnTo>
                      <a:pt x="30162" y="180975"/>
                    </a:lnTo>
                    <a:cubicBezTo>
                      <a:pt x="13504" y="180975"/>
                      <a:pt x="0" y="167470"/>
                      <a:pt x="0" y="150812"/>
                    </a:cubicBezTo>
                    <a:lnTo>
                      <a:pt x="0" y="30162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7359015" y="2015490"/>
              <a:ext cx="135628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E7F2FF"/>
                  </a:solidFill>
                  <a:latin typeface="Arial"/>
                  <a:ea typeface="Arial"/>
                  <a:cs typeface="Arial"/>
                </a:rPr>
                <a:t>normalized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852285" y="2480310"/>
              <a:ext cx="16306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名单、字段、口径统一</a:t>
              </a:r>
            </a:p>
          </p:txBody>
        </p:sp>
        <p:sp>
          <p:nvSpPr>
            <p:cNvPr id="30" name="Line 30"/>
            <p:cNvSpPr/>
            <p:nvPr/>
          </p:nvSpPr>
          <p:spPr>
            <a:xfrm>
              <a:off x="8639175" y="2295525"/>
              <a:ext cx="666750" cy="9525"/>
            </a:xfrm>
            <a:custGeom>
              <a:avLst/>
              <a:gdLst/>
              <a:ahLst/>
              <a:cxnLst/>
              <a:rect l="l" t="t" r="r" b="b"/>
              <a:pathLst>
                <a:path w="666750" h="9525">
                  <a:moveTo>
                    <a:pt x="0" y="0"/>
                  </a:moveTo>
                  <a:lnTo>
                    <a:pt x="666750" y="0"/>
                  </a:lnTo>
                </a:path>
              </a:pathLst>
            </a:custGeom>
            <a:noFill/>
            <a:ln w="28575">
              <a:solidFill>
                <a:srgbClr val="62B8FF"/>
              </a:solidFill>
            </a:ln>
          </p:spPr>
        </p:sp>
        <p:sp>
          <p:nvSpPr>
            <p:cNvPr id="31" name="Polygon 31"/>
            <p:cNvSpPr/>
            <p:nvPr/>
          </p:nvSpPr>
          <p:spPr>
            <a:xfrm>
              <a:off x="9172575" y="2219325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13335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62B8FF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9305925" y="1695450"/>
              <a:ext cx="2076450" cy="1200150"/>
            </a:xfrm>
            <a:prstGeom prst="roundRect">
              <a:avLst>
                <a:gd name="adj" fmla="val 11111"/>
              </a:avLst>
            </a:prstGeom>
            <a:solidFill>
              <a:srgbClr val="142231"/>
            </a:solidFill>
            <a:ln w="9525">
              <a:solidFill>
                <a:srgbClr val="33E18A"/>
              </a:solidFill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9686131" y="2007394"/>
              <a:ext cx="211137" cy="271461"/>
              <a:chOff x="9686131" y="2007394"/>
              <a:chExt cx="211137" cy="271461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9686131" y="2037556"/>
                <a:ext cx="211137" cy="241299"/>
              </a:xfrm>
              <a:custGeom>
                <a:avLst/>
                <a:gdLst/>
                <a:ahLst/>
                <a:cxnLst/>
                <a:rect l="l" t="t" r="r" b="b"/>
                <a:pathLst>
                  <a:path w="211137" h="241299">
                    <a:moveTo>
                      <a:pt x="60325" y="0"/>
                    </a:moveTo>
                    <a:lnTo>
                      <a:pt x="30162" y="0"/>
                    </a:lnTo>
                    <a:cubicBezTo>
                      <a:pt x="13504" y="0"/>
                      <a:pt x="0" y="13504"/>
                      <a:pt x="0" y="30162"/>
                    </a:cubicBezTo>
                    <a:lnTo>
                      <a:pt x="0" y="211137"/>
                    </a:lnTo>
                    <a:cubicBezTo>
                      <a:pt x="0" y="227795"/>
                      <a:pt x="13504" y="241299"/>
                      <a:pt x="30162" y="241299"/>
                    </a:cubicBezTo>
                    <a:lnTo>
                      <a:pt x="180975" y="241299"/>
                    </a:lnTo>
                    <a:cubicBezTo>
                      <a:pt x="197633" y="241299"/>
                      <a:pt x="211137" y="227795"/>
                      <a:pt x="211137" y="211137"/>
                    </a:cubicBezTo>
                    <a:lnTo>
                      <a:pt x="211137" y="30162"/>
                    </a:lnTo>
                    <a:cubicBezTo>
                      <a:pt x="211137" y="13504"/>
                      <a:pt x="197633" y="0"/>
                      <a:pt x="180975" y="0"/>
                    </a:cubicBezTo>
                    <a:lnTo>
                      <a:pt x="150812" y="0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9746456" y="2007394"/>
                <a:ext cx="90487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90487" h="60325">
                    <a:moveTo>
                      <a:pt x="0" y="30162"/>
                    </a:moveTo>
                    <a:cubicBezTo>
                      <a:pt x="0" y="13504"/>
                      <a:pt x="13504" y="0"/>
                      <a:pt x="30162" y="0"/>
                    </a:cubicBezTo>
                    <a:lnTo>
                      <a:pt x="60325" y="0"/>
                    </a:lnTo>
                    <a:cubicBezTo>
                      <a:pt x="76983" y="0"/>
                      <a:pt x="90487" y="13504"/>
                      <a:pt x="90487" y="30162"/>
                    </a:cubicBezTo>
                    <a:cubicBezTo>
                      <a:pt x="90487" y="46821"/>
                      <a:pt x="76983" y="60325"/>
                      <a:pt x="60325" y="60325"/>
                    </a:cubicBezTo>
                    <a:lnTo>
                      <a:pt x="30162" y="60325"/>
                    </a:lnTo>
                    <a:cubicBezTo>
                      <a:pt x="13504" y="60325"/>
                      <a:pt x="0" y="46821"/>
                      <a:pt x="0" y="30162"/>
                    </a:cubicBez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9746456" y="2143125"/>
                <a:ext cx="90487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90487" h="60325">
                    <a:moveTo>
                      <a:pt x="0" y="30162"/>
                    </a:moveTo>
                    <a:lnTo>
                      <a:pt x="30162" y="60325"/>
                    </a:lnTo>
                    <a:lnTo>
                      <a:pt x="90487" y="0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10102215" y="2015490"/>
              <a:ext cx="1381487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E7F2FF"/>
                  </a:solidFill>
                  <a:latin typeface="Arial"/>
                  <a:ea typeface="Arial"/>
                  <a:cs typeface="Arial"/>
                </a:rPr>
                <a:t>clean/final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595485" y="2480310"/>
              <a:ext cx="11506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质检后进入预测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047750" y="3752850"/>
            <a:ext cx="10096500" cy="1390650"/>
            <a:chOff x="1047750" y="3752850"/>
            <a:chExt cx="10096500" cy="1390650"/>
          </a:xfrm>
        </p:grpSpPr>
        <p:sp>
          <p:nvSpPr>
            <p:cNvPr id="40" name="Rectangle 40"/>
            <p:cNvSpPr/>
            <p:nvPr/>
          </p:nvSpPr>
          <p:spPr>
            <a:xfrm>
              <a:off x="1047750" y="3752850"/>
              <a:ext cx="10096500" cy="1390650"/>
            </a:xfrm>
            <a:prstGeom prst="roundRect">
              <a:avLst>
                <a:gd name="adj" fmla="val 12329"/>
              </a:avLst>
            </a:prstGeom>
            <a:solidFill>
              <a:srgbClr val="101820"/>
            </a:solidFill>
            <a:ln w="9525">
              <a:solidFill>
                <a:srgbClr val="28455E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1383982" y="3953351"/>
              <a:ext cx="1752648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5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当前验证状态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1409700" y="4457700"/>
              <a:ext cx="2247900" cy="400050"/>
            </a:xfrm>
            <a:prstGeom prst="roundRect">
              <a:avLst>
                <a:gd name="adj" fmla="val 19048"/>
              </a:avLst>
            </a:prstGeom>
            <a:solidFill>
              <a:srgbClr val="142231"/>
            </a:solidFill>
            <a:ln w="9525">
              <a:solidFill>
                <a:srgbClr val="28455E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1602105" y="4578668"/>
              <a:ext cx="152757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3E18A"/>
                  </a:solidFill>
                  <a:latin typeface="Arial"/>
                  <a:ea typeface="Microsoft YaHei"/>
                  <a:cs typeface="Arial"/>
                </a:rPr>
                <a:t>30 picks / 0 重复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3905250" y="4457700"/>
              <a:ext cx="2247900" cy="400050"/>
            </a:xfrm>
            <a:prstGeom prst="roundRect">
              <a:avLst>
                <a:gd name="adj" fmla="val 19048"/>
              </a:avLst>
            </a:prstGeom>
            <a:solidFill>
              <a:srgbClr val="142231"/>
            </a:solidFill>
            <a:ln w="9525">
              <a:solidFill>
                <a:srgbClr val="28455E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4097655" y="4578668"/>
              <a:ext cx="134800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62B8FF"/>
                  </a:solidFill>
                  <a:latin typeface="Arial"/>
                  <a:ea typeface="Microsoft YaHei"/>
                  <a:cs typeface="Arial"/>
                </a:rPr>
                <a:t>124 本地候选池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400800" y="4457700"/>
              <a:ext cx="2247900" cy="400050"/>
            </a:xfrm>
            <a:prstGeom prst="roundRect">
              <a:avLst>
                <a:gd name="adj" fmla="val 19048"/>
              </a:avLst>
            </a:prstGeom>
            <a:solidFill>
              <a:srgbClr val="142231"/>
            </a:solidFill>
            <a:ln w="9525">
              <a:solidFill>
                <a:srgbClr val="28455E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593205" y="4578668"/>
              <a:ext cx="115898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62B8FF"/>
                  </a:solidFill>
                  <a:latin typeface="Arial"/>
                  <a:ea typeface="Microsoft YaHei"/>
                  <a:cs typeface="Arial"/>
                </a:rPr>
                <a:t>124 球员特征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8896350" y="4457700"/>
              <a:ext cx="1885950" cy="400050"/>
            </a:xfrm>
            <a:prstGeom prst="roundRect">
              <a:avLst>
                <a:gd name="adj" fmla="val 19048"/>
              </a:avLst>
            </a:prstGeom>
            <a:solidFill>
              <a:srgbClr val="142231"/>
            </a:solidFill>
            <a:ln w="9525">
              <a:solidFill>
                <a:srgbClr val="28455E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9088755" y="4578668"/>
              <a:ext cx="118733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D166"/>
                  </a:solidFill>
                  <a:latin typeface="Arial"/>
                  <a:ea typeface="Microsoft YaHei"/>
                  <a:cs typeface="Arial"/>
                </a:rPr>
                <a:t>5 个 RAG 索引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2038350" y="5619750"/>
            <a:ext cx="8115300" cy="514350"/>
            <a:chOff x="2038350" y="5619750"/>
            <a:chExt cx="8115300" cy="514350"/>
          </a:xfrm>
        </p:grpSpPr>
        <p:sp>
          <p:nvSpPr>
            <p:cNvPr id="51" name="Rectangle 51"/>
            <p:cNvSpPr/>
            <p:nvPr/>
          </p:nvSpPr>
          <p:spPr>
            <a:xfrm>
              <a:off x="2038350" y="5619750"/>
              <a:ext cx="8115300" cy="514350"/>
            </a:xfrm>
            <a:prstGeom prst="roundRect">
              <a:avLst>
                <a:gd name="adj" fmla="val 18519"/>
              </a:avLst>
            </a:prstGeom>
            <a:solidFill>
              <a:srgbClr val="142231"/>
            </a:solidFill>
            <a:ln w="9525">
              <a:solidFill>
                <a:srgbClr val="33E18A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2303145" y="5775008"/>
              <a:ext cx="6510719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33E18A"/>
                  </a:solidFill>
                  <a:latin typeface="Arial"/>
                  <a:ea typeface="Microsoft YaHei"/>
                  <a:cs typeface="Arial"/>
                </a:rPr>
                <a:t>模型回答前，先有证据结构；预测输出后，还能回到证据结构。</a:t>
              </a:r>
            </a:p>
          </p:txBody>
        </p:sp>
      </p:grpSp>
      <p:sp>
        <p:nvSpPr>
          <p:cNvPr id="54" name="TextBox 54"/>
          <p:cNvSpPr txBox="1"/>
          <p:nvPr/>
        </p:nvSpPr>
        <p:spPr>
          <a:xfrm>
            <a:off x="595312" y="6298406"/>
            <a:ext cx="53113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5" dirty="0">
                <a:solidFill>
                  <a:srgbClr val="94A8BC"/>
                </a:solidFill>
                <a:latin typeface="Consolas"/>
                <a:ea typeface="Consolas"/>
                <a:cs typeface="Consolas"/>
              </a:rPr>
              <a:t>03 / 08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B10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69595" y="402908"/>
            <a:ext cx="6850206" cy="844867"/>
            <a:chOff x="569595" y="402908"/>
            <a:chExt cx="6850206" cy="844867"/>
          </a:xfrm>
        </p:grpSpPr>
        <p:sp>
          <p:nvSpPr>
            <p:cNvPr id="3" name="TextBox 3"/>
            <p:cNvSpPr txBox="1"/>
            <p:nvPr/>
          </p:nvSpPr>
          <p:spPr>
            <a:xfrm>
              <a:off x="569595" y="402908"/>
              <a:ext cx="6850206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多 Agent 协作：分工，而不是群聊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0550" y="942975"/>
              <a:ext cx="621887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每个 Agent 只交付结构化文件，Supervisor 用证据和规则统一验收。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1304925" y="1562100"/>
            <a:ext cx="9582150" cy="1200150"/>
            <a:chOff x="1304925" y="1562100"/>
            <a:chExt cx="9582150" cy="1200150"/>
          </a:xfrm>
        </p:grpSpPr>
        <p:sp>
          <p:nvSpPr>
            <p:cNvPr id="6" name="Rectangle 6"/>
            <p:cNvSpPr/>
            <p:nvPr/>
          </p:nvSpPr>
          <p:spPr>
            <a:xfrm>
              <a:off x="1304925" y="1562100"/>
              <a:ext cx="1581150" cy="1200150"/>
            </a:xfrm>
            <a:prstGeom prst="roundRect">
              <a:avLst>
                <a:gd name="adj" fmla="val 11111"/>
              </a:avLst>
            </a:prstGeom>
            <a:solidFill>
              <a:srgbClr val="142231"/>
            </a:solidFill>
            <a:ln w="9525">
              <a:solidFill>
                <a:srgbClr val="62B8FF"/>
              </a:solidFill>
            </a:ln>
          </p:spPr>
        </p:sp>
        <p:grpSp>
          <p:nvGrpSpPr>
            <p:cNvPr id="10" name="Group 10"/>
            <p:cNvGrpSpPr/>
            <p:nvPr/>
          </p:nvGrpSpPr>
          <p:grpSpPr>
            <a:xfrm>
              <a:off x="1606550" y="1850231"/>
              <a:ext cx="215901" cy="242888"/>
              <a:chOff x="1606550" y="1850231"/>
              <a:chExt cx="215901" cy="242888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1606550" y="1850231"/>
                <a:ext cx="215901" cy="80963"/>
              </a:xfrm>
              <a:custGeom>
                <a:avLst/>
                <a:gdLst/>
                <a:ahLst/>
                <a:cxnLst/>
                <a:rect l="l" t="t" r="r" b="b"/>
                <a:pathLst>
                  <a:path w="215901" h="80963">
                    <a:moveTo>
                      <a:pt x="0" y="40481"/>
                    </a:moveTo>
                    <a:cubicBezTo>
                      <a:pt x="0" y="62839"/>
                      <a:pt x="48331" y="80963"/>
                      <a:pt x="107950" y="80963"/>
                    </a:cubicBezTo>
                    <a:cubicBezTo>
                      <a:pt x="167570" y="80963"/>
                      <a:pt x="215901" y="62839"/>
                      <a:pt x="215901" y="40481"/>
                    </a:cubicBezTo>
                    <a:cubicBezTo>
                      <a:pt x="215901" y="18124"/>
                      <a:pt x="167570" y="0"/>
                      <a:pt x="107950" y="0"/>
                    </a:cubicBezTo>
                    <a:cubicBezTo>
                      <a:pt x="48331" y="0"/>
                      <a:pt x="0" y="18124"/>
                      <a:pt x="0" y="40481"/>
                    </a:cubicBez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1606550" y="1890713"/>
                <a:ext cx="215901" cy="121444"/>
              </a:xfrm>
              <a:custGeom>
                <a:avLst/>
                <a:gdLst/>
                <a:ahLst/>
                <a:cxnLst/>
                <a:rect l="l" t="t" r="r" b="b"/>
                <a:pathLst>
                  <a:path w="215901" h="121444">
                    <a:moveTo>
                      <a:pt x="0" y="0"/>
                    </a:moveTo>
                    <a:lnTo>
                      <a:pt x="0" y="80963"/>
                    </a:lnTo>
                    <a:cubicBezTo>
                      <a:pt x="0" y="103320"/>
                      <a:pt x="48331" y="121444"/>
                      <a:pt x="107950" y="121444"/>
                    </a:cubicBezTo>
                    <a:cubicBezTo>
                      <a:pt x="167570" y="121444"/>
                      <a:pt x="215901" y="103320"/>
                      <a:pt x="215901" y="80963"/>
                    </a:cubicBezTo>
                    <a:lnTo>
                      <a:pt x="215901" y="0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606550" y="1971675"/>
                <a:ext cx="215901" cy="121444"/>
              </a:xfrm>
              <a:custGeom>
                <a:avLst/>
                <a:gdLst/>
                <a:ahLst/>
                <a:cxnLst/>
                <a:rect l="l" t="t" r="r" b="b"/>
                <a:pathLst>
                  <a:path w="215901" h="121444">
                    <a:moveTo>
                      <a:pt x="0" y="0"/>
                    </a:moveTo>
                    <a:lnTo>
                      <a:pt x="0" y="80963"/>
                    </a:lnTo>
                    <a:cubicBezTo>
                      <a:pt x="0" y="103320"/>
                      <a:pt x="48331" y="121444"/>
                      <a:pt x="107950" y="121444"/>
                    </a:cubicBezTo>
                    <a:cubicBezTo>
                      <a:pt x="167570" y="121444"/>
                      <a:pt x="215901" y="103320"/>
                      <a:pt x="215901" y="80963"/>
                    </a:cubicBezTo>
                    <a:lnTo>
                      <a:pt x="215901" y="0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</p:grpSp>
        <p:sp>
          <p:nvSpPr>
            <p:cNvPr id="11" name="TextBox 11"/>
            <p:cNvSpPr txBox="1"/>
            <p:nvPr/>
          </p:nvSpPr>
          <p:spPr>
            <a:xfrm>
              <a:off x="1533525" y="2181225"/>
              <a:ext cx="75218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A1 采集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539240" y="2496502"/>
              <a:ext cx="8667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94A8BC"/>
                  </a:solidFill>
                  <a:latin typeface="Arial"/>
                  <a:ea typeface="Arial"/>
                  <a:cs typeface="Arial"/>
                </a:rPr>
                <a:t>raw sources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3305175" y="1562100"/>
              <a:ext cx="1581150" cy="1200150"/>
            </a:xfrm>
            <a:prstGeom prst="roundRect">
              <a:avLst>
                <a:gd name="adj" fmla="val 11111"/>
              </a:avLst>
            </a:prstGeom>
            <a:solidFill>
              <a:srgbClr val="142231"/>
            </a:solidFill>
            <a:ln w="9525">
              <a:solidFill>
                <a:srgbClr val="28455E"/>
              </a:solidFill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3606800" y="1863725"/>
              <a:ext cx="215900" cy="215900"/>
              <a:chOff x="3606800" y="1863725"/>
              <a:chExt cx="215900" cy="2159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3660775" y="1863725"/>
                <a:ext cx="161925" cy="161925"/>
              </a:xfrm>
              <a:custGeom>
                <a:avLst/>
                <a:gdLst/>
                <a:ahLst/>
                <a:cxnLst/>
                <a:rect l="l" t="t" r="r" b="b"/>
                <a:pathLst>
                  <a:path w="161925" h="161925">
                    <a:moveTo>
                      <a:pt x="0" y="26988"/>
                    </a:moveTo>
                    <a:cubicBezTo>
                      <a:pt x="0" y="12083"/>
                      <a:pt x="12083" y="0"/>
                      <a:pt x="26988" y="0"/>
                    </a:cubicBezTo>
                    <a:lnTo>
                      <a:pt x="134938" y="0"/>
                    </a:lnTo>
                    <a:cubicBezTo>
                      <a:pt x="149843" y="0"/>
                      <a:pt x="161925" y="12083"/>
                      <a:pt x="161925" y="26988"/>
                    </a:cubicBezTo>
                    <a:lnTo>
                      <a:pt x="161925" y="134938"/>
                    </a:lnTo>
                    <a:cubicBezTo>
                      <a:pt x="161925" y="149843"/>
                      <a:pt x="149843" y="161925"/>
                      <a:pt x="134938" y="161925"/>
                    </a:cubicBezTo>
                    <a:lnTo>
                      <a:pt x="26988" y="161925"/>
                    </a:lnTo>
                    <a:cubicBezTo>
                      <a:pt x="12083" y="161925"/>
                      <a:pt x="0" y="149843"/>
                      <a:pt x="0" y="134938"/>
                    </a:cubicBezTo>
                    <a:lnTo>
                      <a:pt x="0" y="26988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3606800" y="1917700"/>
                <a:ext cx="161925" cy="161925"/>
              </a:xfrm>
              <a:custGeom>
                <a:avLst/>
                <a:gdLst/>
                <a:ahLst/>
                <a:cxnLst/>
                <a:rect l="l" t="t" r="r" b="b"/>
                <a:pathLst>
                  <a:path w="161925" h="161925">
                    <a:moveTo>
                      <a:pt x="0" y="26988"/>
                    </a:moveTo>
                    <a:cubicBezTo>
                      <a:pt x="0" y="12083"/>
                      <a:pt x="12083" y="0"/>
                      <a:pt x="26988" y="0"/>
                    </a:cubicBezTo>
                    <a:lnTo>
                      <a:pt x="134938" y="0"/>
                    </a:lnTo>
                    <a:cubicBezTo>
                      <a:pt x="149843" y="0"/>
                      <a:pt x="161925" y="12083"/>
                      <a:pt x="161925" y="26988"/>
                    </a:cubicBezTo>
                    <a:lnTo>
                      <a:pt x="161925" y="134938"/>
                    </a:lnTo>
                    <a:cubicBezTo>
                      <a:pt x="161925" y="149843"/>
                      <a:pt x="149843" y="161925"/>
                      <a:pt x="134938" y="161925"/>
                    </a:cubicBezTo>
                    <a:lnTo>
                      <a:pt x="26988" y="161925"/>
                    </a:lnTo>
                    <a:cubicBezTo>
                      <a:pt x="12083" y="161925"/>
                      <a:pt x="0" y="149843"/>
                      <a:pt x="0" y="134938"/>
                    </a:cubicBezTo>
                    <a:lnTo>
                      <a:pt x="0" y="26988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3533775" y="2181225"/>
              <a:ext cx="1098733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A2/A3 清洗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539490" y="2496502"/>
              <a:ext cx="126582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94A8BC"/>
                  </a:solidFill>
                  <a:latin typeface="Arial"/>
                  <a:ea typeface="Arial"/>
                  <a:cs typeface="Arial"/>
                </a:rPr>
                <a:t>normalized / clean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05425" y="1562100"/>
              <a:ext cx="1581150" cy="1200150"/>
            </a:xfrm>
            <a:prstGeom prst="roundRect">
              <a:avLst>
                <a:gd name="adj" fmla="val 11111"/>
              </a:avLst>
            </a:prstGeom>
            <a:solidFill>
              <a:srgbClr val="142231"/>
            </a:solidFill>
            <a:ln w="9525">
              <a:solidFill>
                <a:srgbClr val="28455E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5593556" y="1850231"/>
              <a:ext cx="242888" cy="242888"/>
              <a:chOff x="5593556" y="1850231"/>
              <a:chExt cx="242888" cy="242888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5715000" y="1985169"/>
                <a:ext cx="94456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94456" h="107950">
                    <a:moveTo>
                      <a:pt x="47228" y="0"/>
                    </a:moveTo>
                    <a:cubicBezTo>
                      <a:pt x="21145" y="0"/>
                      <a:pt x="0" y="21145"/>
                      <a:pt x="0" y="47228"/>
                    </a:cubicBezTo>
                    <a:lnTo>
                      <a:pt x="0" y="60722"/>
                    </a:lnTo>
                    <a:cubicBezTo>
                      <a:pt x="0" y="86805"/>
                      <a:pt x="21145" y="107950"/>
                      <a:pt x="47228" y="107950"/>
                    </a:cubicBezTo>
                    <a:cubicBezTo>
                      <a:pt x="73312" y="107950"/>
                      <a:pt x="94456" y="86805"/>
                      <a:pt x="94456" y="60722"/>
                    </a:cubicBezTo>
                    <a:lnTo>
                      <a:pt x="94456" y="36433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5620544" y="1985169"/>
                <a:ext cx="94456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94456" h="107950">
                    <a:moveTo>
                      <a:pt x="47228" y="0"/>
                    </a:moveTo>
                    <a:cubicBezTo>
                      <a:pt x="73312" y="0"/>
                      <a:pt x="94456" y="21145"/>
                      <a:pt x="94456" y="47228"/>
                    </a:cubicBezTo>
                    <a:lnTo>
                      <a:pt x="94456" y="60722"/>
                    </a:lnTo>
                    <a:cubicBezTo>
                      <a:pt x="94456" y="86805"/>
                      <a:pt x="73312" y="107950"/>
                      <a:pt x="47228" y="107950"/>
                    </a:cubicBezTo>
                    <a:cubicBezTo>
                      <a:pt x="21145" y="107950"/>
                      <a:pt x="0" y="86805"/>
                      <a:pt x="0" y="60722"/>
                    </a:cubicBezTo>
                    <a:lnTo>
                      <a:pt x="0" y="36433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5782469" y="1931194"/>
                <a:ext cx="53975" cy="94456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94456">
                    <a:moveTo>
                      <a:pt x="6747" y="94456"/>
                    </a:moveTo>
                    <a:cubicBezTo>
                      <a:pt x="32830" y="94456"/>
                      <a:pt x="53975" y="73312"/>
                      <a:pt x="53975" y="47228"/>
                    </a:cubicBezTo>
                    <a:cubicBezTo>
                      <a:pt x="53975" y="21145"/>
                      <a:pt x="32830" y="0"/>
                      <a:pt x="6747" y="0"/>
                    </a:cubicBez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5715000" y="1850231"/>
                <a:ext cx="94456" cy="85011"/>
              </a:xfrm>
              <a:custGeom>
                <a:avLst/>
                <a:gdLst/>
                <a:ahLst/>
                <a:cxnLst/>
                <a:rect l="l" t="t" r="r" b="b"/>
                <a:pathLst>
                  <a:path w="94456" h="85011">
                    <a:moveTo>
                      <a:pt x="94456" y="85011"/>
                    </a:moveTo>
                    <a:lnTo>
                      <a:pt x="94456" y="47228"/>
                    </a:lnTo>
                    <a:cubicBezTo>
                      <a:pt x="94456" y="21145"/>
                      <a:pt x="73312" y="0"/>
                      <a:pt x="47228" y="0"/>
                    </a:cubicBezTo>
                    <a:cubicBezTo>
                      <a:pt x="21145" y="0"/>
                      <a:pt x="0" y="21145"/>
                      <a:pt x="0" y="47228"/>
                    </a:cubicBez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5593556" y="1931194"/>
                <a:ext cx="53975" cy="94456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94456">
                    <a:moveTo>
                      <a:pt x="47228" y="94456"/>
                    </a:moveTo>
                    <a:cubicBezTo>
                      <a:pt x="21145" y="94456"/>
                      <a:pt x="0" y="73312"/>
                      <a:pt x="0" y="47228"/>
                    </a:cubicBezTo>
                    <a:cubicBezTo>
                      <a:pt x="0" y="21145"/>
                      <a:pt x="21145" y="0"/>
                      <a:pt x="47228" y="0"/>
                    </a:cubicBezTo>
                    <a:lnTo>
                      <a:pt x="53975" y="0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5620544" y="1850231"/>
                <a:ext cx="94456" cy="182166"/>
              </a:xfrm>
              <a:custGeom>
                <a:avLst/>
                <a:gdLst/>
                <a:ahLst/>
                <a:cxnLst/>
                <a:rect l="l" t="t" r="r" b="b"/>
                <a:pathLst>
                  <a:path w="94456" h="182166">
                    <a:moveTo>
                      <a:pt x="0" y="85011"/>
                    </a:moveTo>
                    <a:lnTo>
                      <a:pt x="0" y="47228"/>
                    </a:lnTo>
                    <a:cubicBezTo>
                      <a:pt x="0" y="21145"/>
                      <a:pt x="21145" y="0"/>
                      <a:pt x="47228" y="0"/>
                    </a:cubicBezTo>
                    <a:cubicBezTo>
                      <a:pt x="73312" y="0"/>
                      <a:pt x="94456" y="21145"/>
                      <a:pt x="94456" y="47228"/>
                    </a:cubicBezTo>
                    <a:lnTo>
                      <a:pt x="94456" y="182166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5534025" y="2181225"/>
              <a:ext cx="1098733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A4/A5 画像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539740" y="2496502"/>
              <a:ext cx="1006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球员与球队偏好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7305675" y="1562100"/>
              <a:ext cx="1581150" cy="1200150"/>
            </a:xfrm>
            <a:prstGeom prst="roundRect">
              <a:avLst>
                <a:gd name="adj" fmla="val 11111"/>
              </a:avLst>
            </a:prstGeom>
            <a:solidFill>
              <a:srgbClr val="142231"/>
            </a:solidFill>
            <a:ln w="9525">
              <a:solidFill>
                <a:srgbClr val="28455E"/>
              </a:solidFill>
            </a:ln>
          </p:spPr>
        </p:sp>
        <p:grpSp>
          <p:nvGrpSpPr>
            <p:cNvPr id="39" name="Group 39"/>
            <p:cNvGrpSpPr/>
            <p:nvPr/>
          </p:nvGrpSpPr>
          <p:grpSpPr>
            <a:xfrm>
              <a:off x="7607300" y="1863725"/>
              <a:ext cx="215901" cy="215901"/>
              <a:chOff x="7607300" y="1863725"/>
              <a:chExt cx="215901" cy="215901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7607300" y="1917700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26988"/>
                    </a:move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8"/>
                    </a:cubicBez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7634288" y="1863725"/>
                <a:ext cx="952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3975">
                    <a:moveTo>
                      <a:pt x="0" y="0"/>
                    </a:moveTo>
                    <a:lnTo>
                      <a:pt x="0" y="53975"/>
                    </a:ln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7634288" y="1971675"/>
                <a:ext cx="9525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7950">
                    <a:moveTo>
                      <a:pt x="0" y="0"/>
                    </a:moveTo>
                    <a:lnTo>
                      <a:pt x="0" y="107950"/>
                    </a:ln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7688263" y="1998663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26988"/>
                    </a:move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8"/>
                    </a:cubicBez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7715250" y="1863725"/>
                <a:ext cx="9525" cy="13493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34938">
                    <a:moveTo>
                      <a:pt x="0" y="0"/>
                    </a:moveTo>
                    <a:lnTo>
                      <a:pt x="0" y="134938"/>
                    </a:ln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7715250" y="2052638"/>
                <a:ext cx="9525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6988">
                    <a:moveTo>
                      <a:pt x="0" y="0"/>
                    </a:moveTo>
                    <a:lnTo>
                      <a:pt x="0" y="26988"/>
                    </a:ln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7769226" y="1877219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26988"/>
                    </a:move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8"/>
                    </a:cubicBez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7796213" y="1863725"/>
                <a:ext cx="9525" cy="13494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3494">
                    <a:moveTo>
                      <a:pt x="0" y="0"/>
                    </a:moveTo>
                    <a:lnTo>
                      <a:pt x="0" y="13494"/>
                    </a:ln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7796213" y="1931194"/>
                <a:ext cx="9525" cy="14843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48432">
                    <a:moveTo>
                      <a:pt x="0" y="0"/>
                    </a:moveTo>
                    <a:lnTo>
                      <a:pt x="0" y="148432"/>
                    </a:ln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</p:grpSp>
        <p:sp>
          <p:nvSpPr>
            <p:cNvPr id="40" name="TextBox 40"/>
            <p:cNvSpPr txBox="1"/>
            <p:nvPr/>
          </p:nvSpPr>
          <p:spPr>
            <a:xfrm>
              <a:off x="7534275" y="2181225"/>
              <a:ext cx="75218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A6 参数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539990" y="2496502"/>
              <a:ext cx="7267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规则与场景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9305925" y="1562100"/>
              <a:ext cx="1581150" cy="1200150"/>
            </a:xfrm>
            <a:prstGeom prst="roundRect">
              <a:avLst>
                <a:gd name="adj" fmla="val 11111"/>
              </a:avLst>
            </a:prstGeom>
            <a:solidFill>
              <a:srgbClr val="142231"/>
            </a:solidFill>
            <a:ln w="9525">
              <a:solidFill>
                <a:srgbClr val="33E18A"/>
              </a:solidFill>
            </a:ln>
          </p:spPr>
        </p:sp>
        <p:grpSp>
          <p:nvGrpSpPr>
            <p:cNvPr id="49" name="Group 49"/>
            <p:cNvGrpSpPr/>
            <p:nvPr/>
          </p:nvGrpSpPr>
          <p:grpSpPr>
            <a:xfrm>
              <a:off x="9594056" y="1850231"/>
              <a:ext cx="242888" cy="242888"/>
              <a:chOff x="9594056" y="1850231"/>
              <a:chExt cx="242888" cy="242888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9594056" y="1850231"/>
                <a:ext cx="242888" cy="242888"/>
              </a:xfrm>
              <a:custGeom>
                <a:avLst/>
                <a:gdLst/>
                <a:ahLst/>
                <a:cxnLst/>
                <a:rect l="l" t="t" r="r" b="b"/>
                <a:pathLst>
                  <a:path w="242888" h="242888">
                    <a:moveTo>
                      <a:pt x="0" y="0"/>
                    </a:moveTo>
                    <a:lnTo>
                      <a:pt x="0" y="242888"/>
                    </a:lnTo>
                    <a:lnTo>
                      <a:pt x="242888" y="242888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9648031" y="1904206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26988"/>
                    </a:move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8"/>
                    </a:cubicBez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9782969" y="1877219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26988"/>
                    </a:move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8"/>
                    </a:cubicBez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9715500" y="1985169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26988"/>
                    </a:move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8"/>
                    </a:cubicBez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9690672" y="1953054"/>
                <a:ext cx="31575" cy="38862"/>
              </a:xfrm>
              <a:custGeom>
                <a:avLst/>
                <a:gdLst/>
                <a:ahLst/>
                <a:cxnLst/>
                <a:rect l="l" t="t" r="r" b="b"/>
                <a:pathLst>
                  <a:path w="31575" h="38862">
                    <a:moveTo>
                      <a:pt x="0" y="0"/>
                    </a:moveTo>
                    <a:lnTo>
                      <a:pt x="31575" y="38862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9757169" y="1927713"/>
                <a:ext cx="38282" cy="61882"/>
              </a:xfrm>
              <a:custGeom>
                <a:avLst/>
                <a:gdLst/>
                <a:ahLst/>
                <a:cxnLst/>
                <a:rect l="l" t="t" r="r" b="b"/>
                <a:pathLst>
                  <a:path w="38282" h="61882">
                    <a:moveTo>
                      <a:pt x="0" y="61882"/>
                    </a:moveTo>
                    <a:lnTo>
                      <a:pt x="38282" y="0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</p:grpSp>
        <p:sp>
          <p:nvSpPr>
            <p:cNvPr id="50" name="TextBox 50"/>
            <p:cNvSpPr txBox="1"/>
            <p:nvPr/>
          </p:nvSpPr>
          <p:spPr>
            <a:xfrm>
              <a:off x="9534525" y="2181225"/>
              <a:ext cx="75218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A7 预测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540240" y="2496502"/>
              <a:ext cx="88077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94A8BC"/>
                  </a:solidFill>
                  <a:latin typeface="Arial"/>
                  <a:ea typeface="Arial"/>
                  <a:cs typeface="Arial"/>
                </a:rPr>
                <a:t>locked board</a:t>
              </a:r>
            </a:p>
          </p:txBody>
        </p:sp>
        <p:sp>
          <p:nvSpPr>
            <p:cNvPr id="52" name="Line 52"/>
            <p:cNvSpPr/>
            <p:nvPr/>
          </p:nvSpPr>
          <p:spPr>
            <a:xfrm>
              <a:off x="2886075" y="2162175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419100" y="0"/>
                  </a:lnTo>
                </a:path>
              </a:pathLst>
            </a:custGeom>
            <a:noFill/>
            <a:ln w="28575">
              <a:solidFill>
                <a:srgbClr val="62B8FF"/>
              </a:solidFill>
            </a:ln>
          </p:spPr>
        </p:sp>
        <p:sp>
          <p:nvSpPr>
            <p:cNvPr id="53" name="Polygon 53"/>
            <p:cNvSpPr/>
            <p:nvPr/>
          </p:nvSpPr>
          <p:spPr>
            <a:xfrm>
              <a:off x="3171825" y="2085975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13335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62B8FF"/>
            </a:solidFill>
            <a:ln>
              <a:noFill/>
            </a:ln>
          </p:spPr>
        </p:sp>
        <p:sp>
          <p:nvSpPr>
            <p:cNvPr id="54" name="Line 54"/>
            <p:cNvSpPr/>
            <p:nvPr/>
          </p:nvSpPr>
          <p:spPr>
            <a:xfrm>
              <a:off x="4886325" y="2162175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419100" y="0"/>
                  </a:lnTo>
                </a:path>
              </a:pathLst>
            </a:custGeom>
            <a:noFill/>
            <a:ln w="28575">
              <a:solidFill>
                <a:srgbClr val="62B8FF"/>
              </a:solidFill>
            </a:ln>
          </p:spPr>
        </p:sp>
        <p:sp>
          <p:nvSpPr>
            <p:cNvPr id="55" name="Polygon 55"/>
            <p:cNvSpPr/>
            <p:nvPr/>
          </p:nvSpPr>
          <p:spPr>
            <a:xfrm>
              <a:off x="5172075" y="2085975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13335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62B8FF"/>
            </a:solidFill>
            <a:ln>
              <a:noFill/>
            </a:ln>
          </p:spPr>
        </p:sp>
        <p:sp>
          <p:nvSpPr>
            <p:cNvPr id="56" name="Line 56"/>
            <p:cNvSpPr/>
            <p:nvPr/>
          </p:nvSpPr>
          <p:spPr>
            <a:xfrm>
              <a:off x="6886575" y="2162175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419100" y="0"/>
                  </a:lnTo>
                </a:path>
              </a:pathLst>
            </a:custGeom>
            <a:noFill/>
            <a:ln w="28575">
              <a:solidFill>
                <a:srgbClr val="62B8FF"/>
              </a:solidFill>
            </a:ln>
          </p:spPr>
        </p:sp>
        <p:sp>
          <p:nvSpPr>
            <p:cNvPr id="57" name="Polygon 57"/>
            <p:cNvSpPr/>
            <p:nvPr/>
          </p:nvSpPr>
          <p:spPr>
            <a:xfrm>
              <a:off x="7172325" y="2085975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13335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62B8FF"/>
            </a:solidFill>
            <a:ln>
              <a:noFill/>
            </a:ln>
          </p:spPr>
        </p:sp>
        <p:sp>
          <p:nvSpPr>
            <p:cNvPr id="58" name="Line 58"/>
            <p:cNvSpPr/>
            <p:nvPr/>
          </p:nvSpPr>
          <p:spPr>
            <a:xfrm>
              <a:off x="8886825" y="2162175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419100" y="0"/>
                  </a:lnTo>
                </a:path>
              </a:pathLst>
            </a:custGeom>
            <a:noFill/>
            <a:ln w="28575">
              <a:solidFill>
                <a:srgbClr val="62B8FF"/>
              </a:solidFill>
            </a:ln>
          </p:spPr>
        </p:sp>
        <p:sp>
          <p:nvSpPr>
            <p:cNvPr id="59" name="Polygon 59"/>
            <p:cNvSpPr/>
            <p:nvPr/>
          </p:nvSpPr>
          <p:spPr>
            <a:xfrm>
              <a:off x="9172575" y="2085975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13335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62B8FF"/>
            </a:solidFill>
            <a:ln>
              <a:noFill/>
            </a:ln>
          </p:spPr>
        </p:sp>
      </p:grpSp>
      <p:grpSp>
        <p:nvGrpSpPr>
          <p:cNvPr id="75" name="Group 75"/>
          <p:cNvGrpSpPr/>
          <p:nvPr/>
        </p:nvGrpSpPr>
        <p:grpSpPr>
          <a:xfrm>
            <a:off x="1200150" y="3562350"/>
            <a:ext cx="10475405" cy="1676400"/>
            <a:chOff x="1200150" y="3562350"/>
            <a:chExt cx="10475405" cy="1676400"/>
          </a:xfrm>
        </p:grpSpPr>
        <p:sp>
          <p:nvSpPr>
            <p:cNvPr id="61" name="Rectangle 61"/>
            <p:cNvSpPr/>
            <p:nvPr/>
          </p:nvSpPr>
          <p:spPr>
            <a:xfrm>
              <a:off x="1200150" y="3562350"/>
              <a:ext cx="4476750" cy="1676400"/>
            </a:xfrm>
            <a:prstGeom prst="roundRect">
              <a:avLst>
                <a:gd name="adj" fmla="val 9091"/>
              </a:avLst>
            </a:prstGeom>
            <a:solidFill>
              <a:srgbClr val="101820"/>
            </a:solidFill>
            <a:ln w="9525">
              <a:solidFill>
                <a:srgbClr val="28455E"/>
              </a:solidFill>
            </a:ln>
          </p:spPr>
        </p:sp>
        <p:grpSp>
          <p:nvGrpSpPr>
            <p:cNvPr id="64" name="Group 64"/>
            <p:cNvGrpSpPr/>
            <p:nvPr/>
          </p:nvGrpSpPr>
          <p:grpSpPr>
            <a:xfrm>
              <a:off x="1569251" y="3952875"/>
              <a:ext cx="310011" cy="285751"/>
              <a:chOff x="1569251" y="3952875"/>
              <a:chExt cx="310011" cy="285751"/>
            </a:xfrm>
          </p:grpSpPr>
          <p:sp>
            <p:nvSpPr>
              <p:cNvPr id="62" name="Freeform 62"/>
              <p:cNvSpPr/>
              <p:nvPr/>
            </p:nvSpPr>
            <p:spPr>
              <a:xfrm>
                <a:off x="1569251" y="3952875"/>
                <a:ext cx="310011" cy="283306"/>
              </a:xfrm>
              <a:custGeom>
                <a:avLst/>
                <a:gdLst/>
                <a:ahLst/>
                <a:cxnLst/>
                <a:rect l="l" t="t" r="r" b="b"/>
                <a:pathLst>
                  <a:path w="310011" h="283306">
                    <a:moveTo>
                      <a:pt x="155727" y="283306"/>
                    </a:moveTo>
                    <a:cubicBezTo>
                      <a:pt x="56277" y="252479"/>
                      <a:pt x="0" y="147517"/>
                      <a:pt x="29362" y="47625"/>
                    </a:cubicBezTo>
                    <a:cubicBezTo>
                      <a:pt x="78821" y="49888"/>
                      <a:pt x="127218" y="32807"/>
                      <a:pt x="164299" y="0"/>
                    </a:cubicBezTo>
                    <a:cubicBezTo>
                      <a:pt x="201381" y="32807"/>
                      <a:pt x="249778" y="49888"/>
                      <a:pt x="299237" y="47625"/>
                    </a:cubicBezTo>
                    <a:cubicBezTo>
                      <a:pt x="310011" y="84282"/>
                      <a:pt x="309513" y="123332"/>
                      <a:pt x="297808" y="159703"/>
                    </a:cubicBez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1781175" y="4175126"/>
                <a:ext cx="9525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63500">
                    <a:moveTo>
                      <a:pt x="0" y="31750"/>
                    </a:moveTo>
                    <a:lnTo>
                      <a:pt x="31750" y="63500"/>
                    </a:lnTo>
                    <a:lnTo>
                      <a:pt x="95250" y="0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</p:grpSp>
        <p:sp>
          <p:nvSpPr>
            <p:cNvPr id="65" name="TextBox 65"/>
            <p:cNvSpPr txBox="1"/>
            <p:nvPr/>
          </p:nvSpPr>
          <p:spPr>
            <a:xfrm>
              <a:off x="2087880" y="3945255"/>
              <a:ext cx="2567354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Supervisor 守边界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522095" y="4527232"/>
              <a:ext cx="466248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缺来源、字段不完整、结构不合法，全部退回。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525905" y="4883468"/>
              <a:ext cx="399478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预测变化只能来自数据、参数、护栏或完整重跑。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6515100" y="3562350"/>
              <a:ext cx="4476750" cy="1676400"/>
            </a:xfrm>
            <a:prstGeom prst="roundRect">
              <a:avLst>
                <a:gd name="adj" fmla="val 9091"/>
              </a:avLst>
            </a:prstGeom>
            <a:solidFill>
              <a:srgbClr val="101820"/>
            </a:solidFill>
            <a:ln w="9525">
              <a:solidFill>
                <a:srgbClr val="28455E"/>
              </a:solidFill>
            </a:ln>
          </p:spPr>
        </p:sp>
        <p:grpSp>
          <p:nvGrpSpPr>
            <p:cNvPr id="71" name="Group 71"/>
            <p:cNvGrpSpPr/>
            <p:nvPr/>
          </p:nvGrpSpPr>
          <p:grpSpPr>
            <a:xfrm>
              <a:off x="6937375" y="3952875"/>
              <a:ext cx="254001" cy="301626"/>
              <a:chOff x="6937375" y="3952875"/>
              <a:chExt cx="254001" cy="301626"/>
            </a:xfrm>
          </p:grpSpPr>
          <p:sp>
            <p:nvSpPr>
              <p:cNvPr id="69" name="Freeform 69"/>
              <p:cNvSpPr/>
              <p:nvPr/>
            </p:nvSpPr>
            <p:spPr>
              <a:xfrm>
                <a:off x="7080250" y="3952875"/>
                <a:ext cx="79375" cy="79375"/>
              </a:xfrm>
              <a:custGeom>
                <a:avLst/>
                <a:gdLst/>
                <a:ahLst/>
                <a:cxnLst/>
                <a:rect l="l" t="t" r="r" b="b"/>
                <a:pathLst>
                  <a:path w="79375" h="79375">
                    <a:moveTo>
                      <a:pt x="0" y="0"/>
                    </a:moveTo>
                    <a:lnTo>
                      <a:pt x="0" y="63500"/>
                    </a:lnTo>
                    <a:cubicBezTo>
                      <a:pt x="0" y="72268"/>
                      <a:pt x="7107" y="79375"/>
                      <a:pt x="15875" y="79375"/>
                    </a:cubicBezTo>
                    <a:lnTo>
                      <a:pt x="79375" y="79375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6937375" y="3952875"/>
                <a:ext cx="254001" cy="301626"/>
              </a:xfrm>
              <a:custGeom>
                <a:avLst/>
                <a:gdLst/>
                <a:ahLst/>
                <a:cxnLst/>
                <a:rect l="l" t="t" r="r" b="b"/>
                <a:pathLst>
                  <a:path w="254001" h="301626">
                    <a:moveTo>
                      <a:pt x="103188" y="285751"/>
                    </a:moveTo>
                    <a:lnTo>
                      <a:pt x="31750" y="285751"/>
                    </a:lnTo>
                    <a:cubicBezTo>
                      <a:pt x="14215" y="285751"/>
                      <a:pt x="0" y="271536"/>
                      <a:pt x="0" y="254001"/>
                    </a:cubicBezTo>
                    <a:lnTo>
                      <a:pt x="0" y="31750"/>
                    </a:lnTo>
                    <a:cubicBezTo>
                      <a:pt x="0" y="14215"/>
                      <a:pt x="14215" y="0"/>
                      <a:pt x="31750" y="0"/>
                    </a:cubicBezTo>
                    <a:lnTo>
                      <a:pt x="142875" y="0"/>
                    </a:lnTo>
                    <a:lnTo>
                      <a:pt x="222250" y="79375"/>
                    </a:lnTo>
                    <a:lnTo>
                      <a:pt x="222250" y="158750"/>
                    </a:lnTo>
                    <a:moveTo>
                      <a:pt x="142875" y="254001"/>
                    </a:moveTo>
                    <a:lnTo>
                      <a:pt x="254001" y="254001"/>
                    </a:lnTo>
                    <a:moveTo>
                      <a:pt x="206375" y="206375"/>
                    </a:moveTo>
                    <a:lnTo>
                      <a:pt x="254001" y="254001"/>
                    </a:lnTo>
                    <a:lnTo>
                      <a:pt x="206375" y="301626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</p:grpSp>
        <p:sp>
          <p:nvSpPr>
            <p:cNvPr id="72" name="TextBox 72"/>
            <p:cNvSpPr txBox="1"/>
            <p:nvPr/>
          </p:nvSpPr>
          <p:spPr>
            <a:xfrm>
              <a:off x="7402830" y="3945255"/>
              <a:ext cx="2405634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前端只展示与导出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6837045" y="4527232"/>
              <a:ext cx="483851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查看证据、风险、备选项，导出 JSON 和 brief。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6840855" y="4883468"/>
              <a:ext cx="327469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不开放人工换人、人工调权、人工重排。</a:t>
              </a: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2362200" y="5715000"/>
            <a:ext cx="7467600" cy="476250"/>
            <a:chOff x="2362200" y="5715000"/>
            <a:chExt cx="7467600" cy="476250"/>
          </a:xfrm>
        </p:grpSpPr>
        <p:sp>
          <p:nvSpPr>
            <p:cNvPr id="76" name="Rectangle 76"/>
            <p:cNvSpPr/>
            <p:nvPr/>
          </p:nvSpPr>
          <p:spPr>
            <a:xfrm>
              <a:off x="2362200" y="5715000"/>
              <a:ext cx="7467600" cy="476250"/>
            </a:xfrm>
            <a:prstGeom prst="roundRect">
              <a:avLst>
                <a:gd name="adj" fmla="val 20000"/>
              </a:avLst>
            </a:prstGeom>
            <a:solidFill>
              <a:srgbClr val="142231"/>
            </a:solidFill>
            <a:ln w="9525">
              <a:solidFill>
                <a:srgbClr val="33E18A"/>
              </a:solidFill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2666048" y="5849779"/>
              <a:ext cx="6677885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33E18A"/>
                  </a:solidFill>
                  <a:latin typeface="Arial"/>
                  <a:ea typeface="Microsoft YaHei"/>
                  <a:cs typeface="Arial"/>
                </a:rPr>
                <a:t>这套流程把“模型可能胡说”的风险，压回到文件证据和脚本验证里。</a:t>
              </a:r>
            </a:p>
          </p:txBody>
        </p:sp>
      </p:grpSp>
      <p:sp>
        <p:nvSpPr>
          <p:cNvPr id="79" name="TextBox 79"/>
          <p:cNvSpPr txBox="1"/>
          <p:nvPr/>
        </p:nvSpPr>
        <p:spPr>
          <a:xfrm>
            <a:off x="595312" y="6298406"/>
            <a:ext cx="53113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5" dirty="0">
                <a:solidFill>
                  <a:srgbClr val="94A8BC"/>
                </a:solidFill>
                <a:latin typeface="Consolas"/>
                <a:ea typeface="Consolas"/>
                <a:cs typeface="Consolas"/>
              </a:rPr>
              <a:t>04 / 08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B10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69595" y="402908"/>
            <a:ext cx="6320940" cy="844867"/>
            <a:chOff x="569595" y="402908"/>
            <a:chExt cx="6320940" cy="844867"/>
          </a:xfrm>
        </p:grpSpPr>
        <p:sp>
          <p:nvSpPr>
            <p:cNvPr id="3" name="TextBox 3"/>
            <p:cNvSpPr txBox="1"/>
            <p:nvPr/>
          </p:nvSpPr>
          <p:spPr>
            <a:xfrm>
              <a:off x="569595" y="402908"/>
              <a:ext cx="6320940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预测算法：顺位贪心 + 风险校验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0550" y="942975"/>
              <a:ext cx="536876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对每个“球队-球员”组合打分，再按真实选秀顺序依次选择。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1047750" y="1676400"/>
            <a:ext cx="10820400" cy="1333500"/>
            <a:chOff x="1047750" y="1676400"/>
            <a:chExt cx="10820400" cy="1333500"/>
          </a:xfrm>
        </p:grpSpPr>
        <p:sp>
          <p:nvSpPr>
            <p:cNvPr id="6" name="Rectangle 6"/>
            <p:cNvSpPr/>
            <p:nvPr/>
          </p:nvSpPr>
          <p:spPr>
            <a:xfrm>
              <a:off x="1047750" y="1676400"/>
              <a:ext cx="2857500" cy="1333500"/>
            </a:xfrm>
            <a:prstGeom prst="roundRect">
              <a:avLst>
                <a:gd name="adj" fmla="val 11429"/>
              </a:avLst>
            </a:prstGeom>
            <a:solidFill>
              <a:srgbClr val="142231"/>
            </a:solidFill>
            <a:ln w="9525">
              <a:solidFill>
                <a:srgbClr val="28455E"/>
              </a:solidFill>
            </a:ln>
          </p:spPr>
        </p:sp>
        <p:grpSp>
          <p:nvGrpSpPr>
            <p:cNvPr id="10" name="Group 10"/>
            <p:cNvGrpSpPr/>
            <p:nvPr/>
          </p:nvGrpSpPr>
          <p:grpSpPr>
            <a:xfrm>
              <a:off x="1431925" y="2007394"/>
              <a:ext cx="241299" cy="271462"/>
              <a:chOff x="1431925" y="2007394"/>
              <a:chExt cx="241299" cy="271462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1431925" y="2007394"/>
                <a:ext cx="241299" cy="90487"/>
              </a:xfrm>
              <a:custGeom>
                <a:avLst/>
                <a:gdLst/>
                <a:ahLst/>
                <a:cxnLst/>
                <a:rect l="l" t="t" r="r" b="b"/>
                <a:pathLst>
                  <a:path w="241299" h="90487">
                    <a:moveTo>
                      <a:pt x="0" y="45244"/>
                    </a:moveTo>
                    <a:cubicBezTo>
                      <a:pt x="0" y="70231"/>
                      <a:pt x="54017" y="90487"/>
                      <a:pt x="120650" y="90487"/>
                    </a:cubicBezTo>
                    <a:cubicBezTo>
                      <a:pt x="187283" y="90487"/>
                      <a:pt x="241299" y="70231"/>
                      <a:pt x="241299" y="45244"/>
                    </a:cubicBezTo>
                    <a:cubicBezTo>
                      <a:pt x="241299" y="20256"/>
                      <a:pt x="187283" y="0"/>
                      <a:pt x="120650" y="0"/>
                    </a:cubicBezTo>
                    <a:cubicBezTo>
                      <a:pt x="54017" y="0"/>
                      <a:pt x="0" y="20256"/>
                      <a:pt x="0" y="45244"/>
                    </a:cubicBez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1431925" y="2052637"/>
                <a:ext cx="241299" cy="135731"/>
              </a:xfrm>
              <a:custGeom>
                <a:avLst/>
                <a:gdLst/>
                <a:ahLst/>
                <a:cxnLst/>
                <a:rect l="l" t="t" r="r" b="b"/>
                <a:pathLst>
                  <a:path w="241299" h="135731">
                    <a:moveTo>
                      <a:pt x="0" y="0"/>
                    </a:moveTo>
                    <a:lnTo>
                      <a:pt x="0" y="90487"/>
                    </a:lnTo>
                    <a:cubicBezTo>
                      <a:pt x="0" y="115475"/>
                      <a:pt x="54017" y="135731"/>
                      <a:pt x="120650" y="135731"/>
                    </a:cubicBezTo>
                    <a:cubicBezTo>
                      <a:pt x="187283" y="135731"/>
                      <a:pt x="241299" y="115475"/>
                      <a:pt x="241299" y="90487"/>
                    </a:cubicBezTo>
                    <a:lnTo>
                      <a:pt x="241299" y="0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431925" y="2143125"/>
                <a:ext cx="241299" cy="135731"/>
              </a:xfrm>
              <a:custGeom>
                <a:avLst/>
                <a:gdLst/>
                <a:ahLst/>
                <a:cxnLst/>
                <a:rect l="l" t="t" r="r" b="b"/>
                <a:pathLst>
                  <a:path w="241299" h="135731">
                    <a:moveTo>
                      <a:pt x="0" y="0"/>
                    </a:moveTo>
                    <a:lnTo>
                      <a:pt x="0" y="90487"/>
                    </a:lnTo>
                    <a:cubicBezTo>
                      <a:pt x="0" y="115475"/>
                      <a:pt x="54017" y="135731"/>
                      <a:pt x="120650" y="135731"/>
                    </a:cubicBezTo>
                    <a:cubicBezTo>
                      <a:pt x="187283" y="135731"/>
                      <a:pt x="241299" y="115475"/>
                      <a:pt x="241299" y="90487"/>
                    </a:cubicBezTo>
                    <a:lnTo>
                      <a:pt x="241299" y="0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</p:grpSp>
        <p:sp>
          <p:nvSpPr>
            <p:cNvPr id="11" name="TextBox 11"/>
            <p:cNvSpPr txBox="1"/>
            <p:nvPr/>
          </p:nvSpPr>
          <p:spPr>
            <a:xfrm>
              <a:off x="1881188" y="2026444"/>
              <a:ext cx="1360289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构造候选池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354455" y="2521268"/>
              <a:ext cx="363474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球队顺位、球员特征、官方名单与外部信号。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3905250" y="2343150"/>
              <a:ext cx="762000" cy="9525"/>
            </a:xfrm>
            <a:custGeom>
              <a:avLst/>
              <a:gdLst/>
              <a:ahLst/>
              <a:cxnLst/>
              <a:rect l="l" t="t" r="r" b="b"/>
              <a:pathLst>
                <a:path w="762000" h="9525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noFill/>
            <a:ln w="28575">
              <a:solidFill>
                <a:srgbClr val="62B8FF"/>
              </a:solidFill>
            </a:ln>
          </p:spPr>
        </p:sp>
        <p:sp>
          <p:nvSpPr>
            <p:cNvPr id="14" name="Polygon 14"/>
            <p:cNvSpPr/>
            <p:nvPr/>
          </p:nvSpPr>
          <p:spPr>
            <a:xfrm>
              <a:off x="4533900" y="2266950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13335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62B8FF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4667250" y="1676400"/>
              <a:ext cx="2857500" cy="1333500"/>
            </a:xfrm>
            <a:prstGeom prst="roundRect">
              <a:avLst>
                <a:gd name="adj" fmla="val 11429"/>
              </a:avLst>
            </a:prstGeom>
            <a:solidFill>
              <a:srgbClr val="142231"/>
            </a:solidFill>
            <a:ln w="9525">
              <a:solidFill>
                <a:srgbClr val="28455E"/>
              </a:solidFill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5051425" y="2022475"/>
              <a:ext cx="241299" cy="241300"/>
              <a:chOff x="5051425" y="2022475"/>
              <a:chExt cx="241299" cy="2413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5051425" y="2082800"/>
                <a:ext cx="603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60325" h="60325">
                    <a:moveTo>
                      <a:pt x="0" y="30162"/>
                    </a:moveTo>
                    <a:cubicBezTo>
                      <a:pt x="0" y="46821"/>
                      <a:pt x="13504" y="60325"/>
                      <a:pt x="30162" y="60325"/>
                    </a:cubicBezTo>
                    <a:cubicBezTo>
                      <a:pt x="46821" y="60325"/>
                      <a:pt x="60325" y="46821"/>
                      <a:pt x="60325" y="30162"/>
                    </a:cubicBezTo>
                    <a:cubicBezTo>
                      <a:pt x="60325" y="13504"/>
                      <a:pt x="46821" y="0"/>
                      <a:pt x="30162" y="0"/>
                    </a:cubicBezTo>
                    <a:cubicBezTo>
                      <a:pt x="13504" y="0"/>
                      <a:pt x="0" y="13504"/>
                      <a:pt x="0" y="30162"/>
                    </a:cubicBez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5081587" y="2022475"/>
                <a:ext cx="95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60325">
                    <a:moveTo>
                      <a:pt x="0" y="0"/>
                    </a:moveTo>
                    <a:lnTo>
                      <a:pt x="0" y="60325"/>
                    </a:ln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5081587" y="2143125"/>
                <a:ext cx="9525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0650">
                    <a:moveTo>
                      <a:pt x="0" y="0"/>
                    </a:moveTo>
                    <a:lnTo>
                      <a:pt x="0" y="120650"/>
                    </a:ln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5141912" y="2173287"/>
                <a:ext cx="603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60325" h="60325">
                    <a:moveTo>
                      <a:pt x="0" y="30162"/>
                    </a:moveTo>
                    <a:cubicBezTo>
                      <a:pt x="0" y="46821"/>
                      <a:pt x="13504" y="60325"/>
                      <a:pt x="30162" y="60325"/>
                    </a:cubicBezTo>
                    <a:cubicBezTo>
                      <a:pt x="46821" y="60325"/>
                      <a:pt x="60325" y="46821"/>
                      <a:pt x="60325" y="30162"/>
                    </a:cubicBezTo>
                    <a:cubicBezTo>
                      <a:pt x="60325" y="13504"/>
                      <a:pt x="46821" y="0"/>
                      <a:pt x="30162" y="0"/>
                    </a:cubicBezTo>
                    <a:cubicBezTo>
                      <a:pt x="13504" y="0"/>
                      <a:pt x="0" y="13504"/>
                      <a:pt x="0" y="30162"/>
                    </a:cubicBez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5172075" y="2022475"/>
                <a:ext cx="9525" cy="15081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50812">
                    <a:moveTo>
                      <a:pt x="0" y="0"/>
                    </a:moveTo>
                    <a:lnTo>
                      <a:pt x="0" y="150812"/>
                    </a:ln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5172075" y="2233612"/>
                <a:ext cx="9525" cy="3016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0162">
                    <a:moveTo>
                      <a:pt x="0" y="0"/>
                    </a:moveTo>
                    <a:lnTo>
                      <a:pt x="0" y="30162"/>
                    </a:ln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5232399" y="2037556"/>
                <a:ext cx="603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60325" h="60325">
                    <a:moveTo>
                      <a:pt x="0" y="30162"/>
                    </a:moveTo>
                    <a:cubicBezTo>
                      <a:pt x="0" y="46821"/>
                      <a:pt x="13504" y="60325"/>
                      <a:pt x="30162" y="60325"/>
                    </a:cubicBezTo>
                    <a:cubicBezTo>
                      <a:pt x="46821" y="60325"/>
                      <a:pt x="60325" y="46821"/>
                      <a:pt x="60325" y="30162"/>
                    </a:cubicBezTo>
                    <a:cubicBezTo>
                      <a:pt x="60325" y="13504"/>
                      <a:pt x="46821" y="0"/>
                      <a:pt x="30162" y="0"/>
                    </a:cubicBezTo>
                    <a:cubicBezTo>
                      <a:pt x="13504" y="0"/>
                      <a:pt x="0" y="13504"/>
                      <a:pt x="0" y="30162"/>
                    </a:cubicBez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5262562" y="2022475"/>
                <a:ext cx="9525" cy="1508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5081">
                    <a:moveTo>
                      <a:pt x="0" y="0"/>
                    </a:moveTo>
                    <a:lnTo>
                      <a:pt x="0" y="15081"/>
                    </a:ln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5262562" y="2097881"/>
                <a:ext cx="9525" cy="165893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65893">
                    <a:moveTo>
                      <a:pt x="0" y="0"/>
                    </a:moveTo>
                    <a:lnTo>
                      <a:pt x="0" y="165893"/>
                    </a:ln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5500688" y="2026444"/>
              <a:ext cx="1622822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逐队逐人打分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973955" y="2521268"/>
              <a:ext cx="327469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共识、需求、能力、潜力、热度和风险。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7524750" y="2343150"/>
              <a:ext cx="762000" cy="9525"/>
            </a:xfrm>
            <a:custGeom>
              <a:avLst/>
              <a:gdLst/>
              <a:ahLst/>
              <a:cxnLst/>
              <a:rect l="l" t="t" r="r" b="b"/>
              <a:pathLst>
                <a:path w="762000" h="9525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noFill/>
            <a:ln w="28575">
              <a:solidFill>
                <a:srgbClr val="62B8FF"/>
              </a:solidFill>
            </a:ln>
          </p:spPr>
        </p:sp>
        <p:sp>
          <p:nvSpPr>
            <p:cNvPr id="29" name="Polygon 29"/>
            <p:cNvSpPr/>
            <p:nvPr/>
          </p:nvSpPr>
          <p:spPr>
            <a:xfrm>
              <a:off x="8153400" y="2266950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13335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62B8FF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8286750" y="1676400"/>
              <a:ext cx="2857500" cy="1333500"/>
            </a:xfrm>
            <a:prstGeom prst="roundRect">
              <a:avLst>
                <a:gd name="adj" fmla="val 11429"/>
              </a:avLst>
            </a:prstGeom>
            <a:solidFill>
              <a:srgbClr val="142231"/>
            </a:solidFill>
            <a:ln w="9525">
              <a:solidFill>
                <a:srgbClr val="33E18A"/>
              </a:solidFill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8655844" y="2007394"/>
              <a:ext cx="271462" cy="271462"/>
              <a:chOff x="8655844" y="2007394"/>
              <a:chExt cx="271462" cy="271462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8655844" y="2007394"/>
                <a:ext cx="271462" cy="271462"/>
              </a:xfrm>
              <a:custGeom>
                <a:avLst/>
                <a:gdLst/>
                <a:ahLst/>
                <a:cxnLst/>
                <a:rect l="l" t="t" r="r" b="b"/>
                <a:pathLst>
                  <a:path w="271462" h="271462">
                    <a:moveTo>
                      <a:pt x="0" y="0"/>
                    </a:moveTo>
                    <a:lnTo>
                      <a:pt x="0" y="271462"/>
                    </a:lnTo>
                    <a:lnTo>
                      <a:pt x="271462" y="271462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8716169" y="2067719"/>
                <a:ext cx="603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60325" h="60325">
                    <a:moveTo>
                      <a:pt x="0" y="30162"/>
                    </a:moveTo>
                    <a:cubicBezTo>
                      <a:pt x="0" y="46821"/>
                      <a:pt x="13504" y="60325"/>
                      <a:pt x="30162" y="60325"/>
                    </a:cubicBezTo>
                    <a:cubicBezTo>
                      <a:pt x="46821" y="60325"/>
                      <a:pt x="60325" y="46821"/>
                      <a:pt x="60325" y="30162"/>
                    </a:cubicBezTo>
                    <a:cubicBezTo>
                      <a:pt x="60325" y="13504"/>
                      <a:pt x="46821" y="0"/>
                      <a:pt x="30162" y="0"/>
                    </a:cubicBezTo>
                    <a:cubicBezTo>
                      <a:pt x="13504" y="0"/>
                      <a:pt x="0" y="13504"/>
                      <a:pt x="0" y="30162"/>
                    </a:cubicBez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8866981" y="2037556"/>
                <a:ext cx="603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60325" h="60325">
                    <a:moveTo>
                      <a:pt x="0" y="30162"/>
                    </a:moveTo>
                    <a:cubicBezTo>
                      <a:pt x="0" y="46821"/>
                      <a:pt x="13504" y="60325"/>
                      <a:pt x="30162" y="60325"/>
                    </a:cubicBezTo>
                    <a:cubicBezTo>
                      <a:pt x="46821" y="60325"/>
                      <a:pt x="60325" y="46821"/>
                      <a:pt x="60325" y="30162"/>
                    </a:cubicBezTo>
                    <a:cubicBezTo>
                      <a:pt x="60325" y="13504"/>
                      <a:pt x="46821" y="0"/>
                      <a:pt x="30162" y="0"/>
                    </a:cubicBezTo>
                    <a:cubicBezTo>
                      <a:pt x="13504" y="0"/>
                      <a:pt x="0" y="13504"/>
                      <a:pt x="0" y="30162"/>
                    </a:cubicBez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8791575" y="2158206"/>
                <a:ext cx="603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60325" h="60325">
                    <a:moveTo>
                      <a:pt x="0" y="30162"/>
                    </a:moveTo>
                    <a:cubicBezTo>
                      <a:pt x="0" y="46821"/>
                      <a:pt x="13504" y="60325"/>
                      <a:pt x="30162" y="60325"/>
                    </a:cubicBezTo>
                    <a:cubicBezTo>
                      <a:pt x="46821" y="60325"/>
                      <a:pt x="60325" y="46821"/>
                      <a:pt x="60325" y="30162"/>
                    </a:cubicBezTo>
                    <a:cubicBezTo>
                      <a:pt x="60325" y="13504"/>
                      <a:pt x="46821" y="0"/>
                      <a:pt x="30162" y="0"/>
                    </a:cubicBezTo>
                    <a:cubicBezTo>
                      <a:pt x="13504" y="0"/>
                      <a:pt x="0" y="13504"/>
                      <a:pt x="0" y="30162"/>
                    </a:cubicBez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8763825" y="2122313"/>
                <a:ext cx="35290" cy="43434"/>
              </a:xfrm>
              <a:custGeom>
                <a:avLst/>
                <a:gdLst/>
                <a:ahLst/>
                <a:cxnLst/>
                <a:rect l="l" t="t" r="r" b="b"/>
                <a:pathLst>
                  <a:path w="35290" h="43434">
                    <a:moveTo>
                      <a:pt x="0" y="0"/>
                    </a:moveTo>
                    <a:lnTo>
                      <a:pt x="35290" y="43434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8838145" y="2093990"/>
                <a:ext cx="42785" cy="69162"/>
              </a:xfrm>
              <a:custGeom>
                <a:avLst/>
                <a:gdLst/>
                <a:ahLst/>
                <a:cxnLst/>
                <a:rect l="l" t="t" r="r" b="b"/>
                <a:pathLst>
                  <a:path w="42785" h="69162">
                    <a:moveTo>
                      <a:pt x="0" y="69162"/>
                    </a:moveTo>
                    <a:lnTo>
                      <a:pt x="42785" y="0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9120188" y="2026444"/>
              <a:ext cx="2252901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输出 locked board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593455" y="2521268"/>
              <a:ext cx="327469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30 picks、无重复、含证据和 warning。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1143000" y="3638550"/>
            <a:ext cx="9906000" cy="1016794"/>
            <a:chOff x="1143000" y="3638550"/>
            <a:chExt cx="9906000" cy="1016794"/>
          </a:xfrm>
        </p:grpSpPr>
        <p:sp>
          <p:nvSpPr>
            <p:cNvPr id="41" name="Rectangle 41"/>
            <p:cNvSpPr/>
            <p:nvPr/>
          </p:nvSpPr>
          <p:spPr>
            <a:xfrm>
              <a:off x="1143000" y="3638550"/>
              <a:ext cx="9906000" cy="990600"/>
            </a:xfrm>
            <a:prstGeom prst="roundRect">
              <a:avLst>
                <a:gd name="adj" fmla="val 17308"/>
              </a:avLst>
            </a:prstGeom>
            <a:solidFill>
              <a:srgbClr val="101820"/>
            </a:solidFill>
            <a:ln w="9525">
              <a:solidFill>
                <a:srgbClr val="28455E"/>
              </a:solidFill>
            </a:ln>
          </p:spPr>
        </p:sp>
        <p:grpSp>
          <p:nvGrpSpPr>
            <p:cNvPr id="45" name="Group 45"/>
            <p:cNvGrpSpPr/>
            <p:nvPr/>
          </p:nvGrpSpPr>
          <p:grpSpPr>
            <a:xfrm>
              <a:off x="1516856" y="3974306"/>
              <a:ext cx="300038" cy="300038"/>
              <a:chOff x="1516856" y="3974306"/>
              <a:chExt cx="300038" cy="300038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1650206" y="4107656"/>
                <a:ext cx="33338" cy="33338"/>
              </a:xfrm>
              <a:custGeom>
                <a:avLst/>
                <a:gdLst/>
                <a:ahLst/>
                <a:cxnLst/>
                <a:rect l="l" t="t" r="r" b="b"/>
                <a:pathLst>
                  <a:path w="33338" h="33338">
                    <a:moveTo>
                      <a:pt x="0" y="16669"/>
                    </a:moveTo>
                    <a:cubicBezTo>
                      <a:pt x="0" y="25875"/>
                      <a:pt x="7463" y="33338"/>
                      <a:pt x="16669" y="33338"/>
                    </a:cubicBezTo>
                    <a:cubicBezTo>
                      <a:pt x="25875" y="33338"/>
                      <a:pt x="33338" y="25875"/>
                      <a:pt x="33338" y="16669"/>
                    </a:cubicBezTo>
                    <a:cubicBezTo>
                      <a:pt x="33338" y="7463"/>
                      <a:pt x="25875" y="0"/>
                      <a:pt x="16669" y="0"/>
                    </a:cubicBezTo>
                    <a:cubicBezTo>
                      <a:pt x="7463" y="0"/>
                      <a:pt x="0" y="7463"/>
                      <a:pt x="0" y="16669"/>
                    </a:cubicBez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1583531" y="4040981"/>
                <a:ext cx="166688" cy="166688"/>
              </a:xfrm>
              <a:custGeom>
                <a:avLst/>
                <a:gdLst/>
                <a:ahLst/>
                <a:cxnLst/>
                <a:rect l="l" t="t" r="r" b="b"/>
                <a:pathLst>
                  <a:path w="166688" h="166688">
                    <a:moveTo>
                      <a:pt x="0" y="83344"/>
                    </a:moveTo>
                    <a:cubicBezTo>
                      <a:pt x="0" y="129373"/>
                      <a:pt x="37314" y="166688"/>
                      <a:pt x="83344" y="166688"/>
                    </a:cubicBezTo>
                    <a:cubicBezTo>
                      <a:pt x="129373" y="166688"/>
                      <a:pt x="166688" y="129373"/>
                      <a:pt x="166688" y="83344"/>
                    </a:cubicBezTo>
                    <a:cubicBezTo>
                      <a:pt x="166688" y="37314"/>
                      <a:pt x="129373" y="0"/>
                      <a:pt x="83344" y="0"/>
                    </a:cubicBezTo>
                    <a:cubicBezTo>
                      <a:pt x="37314" y="0"/>
                      <a:pt x="0" y="37314"/>
                      <a:pt x="0" y="83344"/>
                    </a:cubicBez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1516856" y="3974306"/>
                <a:ext cx="300038" cy="300038"/>
              </a:xfrm>
              <a:custGeom>
                <a:avLst/>
                <a:gdLst/>
                <a:ahLst/>
                <a:cxnLst/>
                <a:rect l="l" t="t" r="r" b="b"/>
                <a:pathLst>
                  <a:path w="300038" h="300038">
                    <a:moveTo>
                      <a:pt x="0" y="150019"/>
                    </a:moveTo>
                    <a:cubicBezTo>
                      <a:pt x="0" y="232872"/>
                      <a:pt x="67166" y="300038"/>
                      <a:pt x="150019" y="300038"/>
                    </a:cubicBezTo>
                    <a:cubicBezTo>
                      <a:pt x="232872" y="300038"/>
                      <a:pt x="300038" y="232872"/>
                      <a:pt x="300038" y="150019"/>
                    </a:cubicBezTo>
                    <a:cubicBezTo>
                      <a:pt x="300038" y="67166"/>
                      <a:pt x="232872" y="0"/>
                      <a:pt x="150019" y="0"/>
                    </a:cubicBezTo>
                    <a:cubicBezTo>
                      <a:pt x="67166" y="0"/>
                      <a:pt x="0" y="67166"/>
                      <a:pt x="0" y="150019"/>
                    </a:cubicBez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2069782" y="4010501"/>
              <a:ext cx="5977326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5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总分 = 共识 + 需求 + 能力 + 潜力 + 热度 - 风险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2079308" y="4396264"/>
              <a:ext cx="557507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路演只展示影响因素，不暴露内部权重；权重仍由 Agent/脚本内部使用。</a:t>
              </a:r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1676400" y="5219700"/>
            <a:ext cx="9124950" cy="666750"/>
            <a:chOff x="1676400" y="5219700"/>
            <a:chExt cx="9124950" cy="666750"/>
          </a:xfrm>
        </p:grpSpPr>
        <p:sp>
          <p:nvSpPr>
            <p:cNvPr id="49" name="Rectangle 49"/>
            <p:cNvSpPr/>
            <p:nvPr/>
          </p:nvSpPr>
          <p:spPr>
            <a:xfrm>
              <a:off x="1676400" y="5219700"/>
              <a:ext cx="2038350" cy="666750"/>
            </a:xfrm>
            <a:prstGeom prst="roundRect">
              <a:avLst>
                <a:gd name="adj" fmla="val 17143"/>
              </a:avLst>
            </a:prstGeom>
            <a:solidFill>
              <a:srgbClr val="142231"/>
            </a:solidFill>
            <a:ln w="9525">
              <a:solidFill>
                <a:srgbClr val="28455E"/>
              </a:solidFill>
            </a:ln>
          </p:spPr>
        </p:sp>
        <p:grpSp>
          <p:nvGrpSpPr>
            <p:cNvPr id="54" name="Group 54"/>
            <p:cNvGrpSpPr/>
            <p:nvPr/>
          </p:nvGrpSpPr>
          <p:grpSpPr>
            <a:xfrm>
              <a:off x="1983581" y="5438775"/>
              <a:ext cx="178595" cy="202406"/>
              <a:chOff x="1983581" y="5438775"/>
              <a:chExt cx="178595" cy="202406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1983581" y="5438775"/>
                <a:ext cx="142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90500">
                    <a:moveTo>
                      <a:pt x="54947" y="190500"/>
                    </a:moveTo>
                    <a:lnTo>
                      <a:pt x="23812" y="190500"/>
                    </a:lnTo>
                    <a:cubicBezTo>
                      <a:pt x="10661" y="190500"/>
                      <a:pt x="0" y="179839"/>
                      <a:pt x="0" y="166688"/>
                    </a:cubicBezTo>
                    <a:lnTo>
                      <a:pt x="0" y="23812"/>
                    </a:lnTo>
                    <a:cubicBezTo>
                      <a:pt x="0" y="10661"/>
                      <a:pt x="10661" y="0"/>
                      <a:pt x="23812" y="0"/>
                    </a:cubicBezTo>
                    <a:lnTo>
                      <a:pt x="119062" y="0"/>
                    </a:lnTo>
                    <a:cubicBezTo>
                      <a:pt x="132214" y="0"/>
                      <a:pt x="142875" y="10661"/>
                      <a:pt x="142875" y="23812"/>
                    </a:cubicBezTo>
                    <a:lnTo>
                      <a:pt x="142875" y="119062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2090738" y="5593556"/>
                <a:ext cx="71438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47625">
                    <a:moveTo>
                      <a:pt x="0" y="23812"/>
                    </a:moveTo>
                    <a:lnTo>
                      <a:pt x="23812" y="47625"/>
                    </a:lnTo>
                    <a:lnTo>
                      <a:pt x="71438" y="0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2031206" y="5486400"/>
                <a:ext cx="476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9525">
                    <a:moveTo>
                      <a:pt x="0" y="0"/>
                    </a:moveTo>
                    <a:lnTo>
                      <a:pt x="47625" y="0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2031206" y="5534025"/>
                <a:ext cx="2381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3812" h="9525">
                    <a:moveTo>
                      <a:pt x="0" y="0"/>
                    </a:moveTo>
                    <a:lnTo>
                      <a:pt x="23812" y="0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</p:grpSp>
        <p:sp>
          <p:nvSpPr>
            <p:cNvPr id="55" name="TextBox 55"/>
            <p:cNvSpPr txBox="1"/>
            <p:nvPr/>
          </p:nvSpPr>
          <p:spPr>
            <a:xfrm>
              <a:off x="2324100" y="5457825"/>
              <a:ext cx="66817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无重复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3007995" y="5441632"/>
              <a:ext cx="64698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33E18A"/>
                  </a:solidFill>
                  <a:latin typeface="Consolas"/>
                  <a:ea typeface="Consolas"/>
                  <a:cs typeface="Consolas"/>
                </a:rPr>
                <a:t>30/30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4038600" y="5219700"/>
              <a:ext cx="2038350" cy="666750"/>
            </a:xfrm>
            <a:prstGeom prst="roundRect">
              <a:avLst>
                <a:gd name="adj" fmla="val 17143"/>
              </a:avLst>
            </a:prstGeom>
            <a:solidFill>
              <a:srgbClr val="142231"/>
            </a:solidFill>
            <a:ln w="9525">
              <a:solidFill>
                <a:srgbClr val="28455E"/>
              </a:solidFill>
            </a:ln>
          </p:spPr>
        </p:sp>
        <p:grpSp>
          <p:nvGrpSpPr>
            <p:cNvPr id="60" name="Group 60"/>
            <p:cNvGrpSpPr/>
            <p:nvPr/>
          </p:nvGrpSpPr>
          <p:grpSpPr>
            <a:xfrm>
              <a:off x="4321969" y="5462588"/>
              <a:ext cx="214312" cy="142875"/>
              <a:chOff x="4321969" y="5462588"/>
              <a:chExt cx="214312" cy="142875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4405312" y="5510212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0" y="23812"/>
                    </a:moveTo>
                    <a:cubicBezTo>
                      <a:pt x="0" y="36964"/>
                      <a:pt x="10661" y="47625"/>
                      <a:pt x="23812" y="47625"/>
                    </a:cubicBezTo>
                    <a:cubicBezTo>
                      <a:pt x="36964" y="47625"/>
                      <a:pt x="47625" y="36964"/>
                      <a:pt x="47625" y="23812"/>
                    </a:cubicBezTo>
                    <a:cubicBezTo>
                      <a:pt x="47625" y="10661"/>
                      <a:pt x="36964" y="0"/>
                      <a:pt x="23812" y="0"/>
                    </a:cubicBezTo>
                    <a:cubicBezTo>
                      <a:pt x="10661" y="0"/>
                      <a:pt x="0" y="10661"/>
                      <a:pt x="0" y="23812"/>
                    </a:cubicBez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4321969" y="5462588"/>
                <a:ext cx="214312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214312" h="142875">
                    <a:moveTo>
                      <a:pt x="214312" y="71438"/>
                    </a:moveTo>
                    <a:cubicBezTo>
                      <a:pt x="185738" y="119062"/>
                      <a:pt x="150019" y="142875"/>
                      <a:pt x="107156" y="142875"/>
                    </a:cubicBezTo>
                    <a:cubicBezTo>
                      <a:pt x="64294" y="142875"/>
                      <a:pt x="28575" y="119062"/>
                      <a:pt x="0" y="71438"/>
                    </a:cubicBezTo>
                    <a:cubicBezTo>
                      <a:pt x="28575" y="23812"/>
                      <a:pt x="64294" y="0"/>
                      <a:pt x="107156" y="0"/>
                    </a:cubicBezTo>
                    <a:cubicBezTo>
                      <a:pt x="150019" y="0"/>
                      <a:pt x="185738" y="23812"/>
                      <a:pt x="214312" y="71438"/>
                    </a:cubicBez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</p:grpSp>
        <p:sp>
          <p:nvSpPr>
            <p:cNvPr id="61" name="TextBox 61"/>
            <p:cNvSpPr txBox="1"/>
            <p:nvPr/>
          </p:nvSpPr>
          <p:spPr>
            <a:xfrm>
              <a:off x="4686300" y="5457825"/>
              <a:ext cx="66817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低置信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5370195" y="5441632"/>
              <a:ext cx="16292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FFD166"/>
                  </a:solidFill>
                  <a:latin typeface="Consolas"/>
                  <a:ea typeface="Consolas"/>
                  <a:cs typeface="Consolas"/>
                </a:rPr>
                <a:t>1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6400800" y="5219700"/>
              <a:ext cx="2038350" cy="666750"/>
            </a:xfrm>
            <a:prstGeom prst="roundRect">
              <a:avLst>
                <a:gd name="adj" fmla="val 17143"/>
              </a:avLst>
            </a:prstGeom>
            <a:solidFill>
              <a:srgbClr val="142231"/>
            </a:solidFill>
            <a:ln w="9525">
              <a:solidFill>
                <a:srgbClr val="28455E"/>
              </a:solidFill>
            </a:ln>
          </p:spPr>
        </p:sp>
        <p:grpSp>
          <p:nvGrpSpPr>
            <p:cNvPr id="66" name="Group 66"/>
            <p:cNvGrpSpPr/>
            <p:nvPr/>
          </p:nvGrpSpPr>
          <p:grpSpPr>
            <a:xfrm>
              <a:off x="6668101" y="5426869"/>
              <a:ext cx="232508" cy="214312"/>
              <a:chOff x="6668101" y="5426869"/>
              <a:chExt cx="232508" cy="214312"/>
            </a:xfrm>
          </p:grpSpPr>
          <p:sp>
            <p:nvSpPr>
              <p:cNvPr id="64" name="Freeform 64"/>
              <p:cNvSpPr/>
              <p:nvPr/>
            </p:nvSpPr>
            <p:spPr>
              <a:xfrm>
                <a:off x="6668101" y="5426869"/>
                <a:ext cx="232508" cy="212479"/>
              </a:xfrm>
              <a:custGeom>
                <a:avLst/>
                <a:gdLst/>
                <a:ahLst/>
                <a:cxnLst/>
                <a:rect l="l" t="t" r="r" b="b"/>
                <a:pathLst>
                  <a:path w="232508" h="212479">
                    <a:moveTo>
                      <a:pt x="116795" y="212479"/>
                    </a:moveTo>
                    <a:cubicBezTo>
                      <a:pt x="42208" y="189358"/>
                      <a:pt x="0" y="110638"/>
                      <a:pt x="22021" y="35719"/>
                    </a:cubicBezTo>
                    <a:cubicBezTo>
                      <a:pt x="59115" y="37416"/>
                      <a:pt x="95413" y="24605"/>
                      <a:pt x="123224" y="0"/>
                    </a:cubicBezTo>
                    <a:cubicBezTo>
                      <a:pt x="151035" y="24605"/>
                      <a:pt x="187333" y="37416"/>
                      <a:pt x="224427" y="35719"/>
                    </a:cubicBezTo>
                    <a:cubicBezTo>
                      <a:pt x="232508" y="63212"/>
                      <a:pt x="232135" y="92499"/>
                      <a:pt x="223356" y="119777"/>
                    </a:cubicBez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6827044" y="5593556"/>
                <a:ext cx="71438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47625">
                    <a:moveTo>
                      <a:pt x="0" y="23812"/>
                    </a:moveTo>
                    <a:lnTo>
                      <a:pt x="23812" y="47625"/>
                    </a:lnTo>
                    <a:lnTo>
                      <a:pt x="71438" y="0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</p:grpSp>
        <p:sp>
          <p:nvSpPr>
            <p:cNvPr id="67" name="TextBox 67"/>
            <p:cNvSpPr txBox="1"/>
            <p:nvPr/>
          </p:nvSpPr>
          <p:spPr>
            <a:xfrm>
              <a:off x="7048500" y="5457825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证据承载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7941945" y="5441632"/>
              <a:ext cx="52597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62B8FF"/>
                  </a:solidFill>
                  <a:latin typeface="Consolas"/>
                  <a:ea typeface="Consolas"/>
                  <a:cs typeface="Consolas"/>
                </a:rPr>
                <a:t>PASS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8763000" y="5219700"/>
              <a:ext cx="2038350" cy="666750"/>
            </a:xfrm>
            <a:prstGeom prst="roundRect">
              <a:avLst>
                <a:gd name="adj" fmla="val 17143"/>
              </a:avLst>
            </a:prstGeom>
            <a:solidFill>
              <a:srgbClr val="142231"/>
            </a:solidFill>
            <a:ln w="9525">
              <a:solidFill>
                <a:srgbClr val="28455E"/>
              </a:solidFill>
            </a:ln>
          </p:spPr>
        </p:sp>
        <p:grpSp>
          <p:nvGrpSpPr>
            <p:cNvPr id="73" name="Group 73"/>
            <p:cNvGrpSpPr/>
            <p:nvPr/>
          </p:nvGrpSpPr>
          <p:grpSpPr>
            <a:xfrm>
              <a:off x="9070181" y="5426869"/>
              <a:ext cx="166688" cy="214312"/>
              <a:chOff x="9070181" y="5426869"/>
              <a:chExt cx="166688" cy="214312"/>
            </a:xfrm>
          </p:grpSpPr>
          <p:sp>
            <p:nvSpPr>
              <p:cNvPr id="70" name="Freeform 70"/>
              <p:cNvSpPr/>
              <p:nvPr/>
            </p:nvSpPr>
            <p:spPr>
              <a:xfrm>
                <a:off x="9070181" y="5522119"/>
                <a:ext cx="166688" cy="119062"/>
              </a:xfrm>
              <a:custGeom>
                <a:avLst/>
                <a:gdLst/>
                <a:ahLst/>
                <a:cxnLst/>
                <a:rect l="l" t="t" r="r" b="b"/>
                <a:pathLst>
                  <a:path w="166688" h="119062">
                    <a:moveTo>
                      <a:pt x="0" y="23812"/>
                    </a:moveTo>
                    <a:cubicBezTo>
                      <a:pt x="0" y="10661"/>
                      <a:pt x="10661" y="0"/>
                      <a:pt x="23812" y="0"/>
                    </a:cubicBezTo>
                    <a:lnTo>
                      <a:pt x="142875" y="0"/>
                    </a:lnTo>
                    <a:cubicBezTo>
                      <a:pt x="156026" y="0"/>
                      <a:pt x="166688" y="10661"/>
                      <a:pt x="166688" y="23812"/>
                    </a:cubicBezTo>
                    <a:lnTo>
                      <a:pt x="166688" y="95250"/>
                    </a:lnTo>
                    <a:cubicBezTo>
                      <a:pt x="166688" y="108401"/>
                      <a:pt x="156026" y="119062"/>
                      <a:pt x="142875" y="119062"/>
                    </a:cubicBezTo>
                    <a:lnTo>
                      <a:pt x="23812" y="119062"/>
                    </a:lnTo>
                    <a:cubicBezTo>
                      <a:pt x="10661" y="119062"/>
                      <a:pt x="0" y="108401"/>
                      <a:pt x="0" y="95250"/>
                    </a:cubicBezTo>
                    <a:lnTo>
                      <a:pt x="0" y="23812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9141619" y="5569744"/>
                <a:ext cx="23812" cy="23812"/>
              </a:xfrm>
              <a:custGeom>
                <a:avLst/>
                <a:gdLst/>
                <a:ahLst/>
                <a:cxnLst/>
                <a:rect l="l" t="t" r="r" b="b"/>
                <a:pathLst>
                  <a:path w="23812" h="23812">
                    <a:moveTo>
                      <a:pt x="0" y="11906"/>
                    </a:moveTo>
                    <a:cubicBezTo>
                      <a:pt x="0" y="18482"/>
                      <a:pt x="5331" y="23812"/>
                      <a:pt x="11906" y="23812"/>
                    </a:cubicBezTo>
                    <a:cubicBezTo>
                      <a:pt x="18482" y="23812"/>
                      <a:pt x="23812" y="18482"/>
                      <a:pt x="23812" y="11906"/>
                    </a:cubicBezTo>
                    <a:cubicBezTo>
                      <a:pt x="23812" y="5331"/>
                      <a:pt x="18482" y="0"/>
                      <a:pt x="11906" y="0"/>
                    </a:cubicBezTo>
                    <a:cubicBezTo>
                      <a:pt x="5331" y="0"/>
                      <a:pt x="0" y="5331"/>
                      <a:pt x="0" y="11906"/>
                    </a:cubicBez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9105900" y="5426869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0" y="95250"/>
                    </a:moveTo>
                    <a:lnTo>
                      <a:pt x="0" y="47625"/>
                    </a:lnTo>
                    <a:cubicBezTo>
                      <a:pt x="0" y="21322"/>
                      <a:pt x="21322" y="0"/>
                      <a:pt x="47625" y="0"/>
                    </a:cubicBezTo>
                    <a:cubicBezTo>
                      <a:pt x="73928" y="0"/>
                      <a:pt x="95250" y="21322"/>
                      <a:pt x="95250" y="47625"/>
                    </a:cubicBezTo>
                    <a:lnTo>
                      <a:pt x="95250" y="95250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</p:grpSp>
        <p:sp>
          <p:nvSpPr>
            <p:cNvPr id="74" name="TextBox 74"/>
            <p:cNvSpPr txBox="1"/>
            <p:nvPr/>
          </p:nvSpPr>
          <p:spPr>
            <a:xfrm>
              <a:off x="9410700" y="5457825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人工换人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0304145" y="5441632"/>
              <a:ext cx="16292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33E18A"/>
                  </a:solidFill>
                  <a:latin typeface="Consolas"/>
                  <a:ea typeface="Consolas"/>
                  <a:cs typeface="Consolas"/>
                </a:rPr>
                <a:t>0</a:t>
              </a:r>
            </a:p>
          </p:txBody>
        </p:sp>
      </p:grpSp>
      <p:sp>
        <p:nvSpPr>
          <p:cNvPr id="77" name="TextBox 77"/>
          <p:cNvSpPr txBox="1"/>
          <p:nvPr/>
        </p:nvSpPr>
        <p:spPr>
          <a:xfrm>
            <a:off x="595312" y="6298406"/>
            <a:ext cx="53113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5" dirty="0">
                <a:solidFill>
                  <a:srgbClr val="94A8BC"/>
                </a:solidFill>
                <a:latin typeface="Consolas"/>
                <a:ea typeface="Consolas"/>
                <a:cs typeface="Consolas"/>
              </a:rPr>
              <a:t>05 / 08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B10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71500" y="400050"/>
            <a:ext cx="6376988" cy="828675"/>
            <a:chOff x="571500" y="400050"/>
            <a:chExt cx="6376988" cy="828675"/>
          </a:xfrm>
        </p:grpSpPr>
        <p:sp>
          <p:nvSpPr>
            <p:cNvPr id="3" name="TextBox 3"/>
            <p:cNvSpPr txBox="1"/>
            <p:nvPr/>
          </p:nvSpPr>
          <p:spPr>
            <a:xfrm>
              <a:off x="571500" y="400050"/>
              <a:ext cx="6376988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产品界面佐证：预测、证据、导出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0550" y="923925"/>
              <a:ext cx="575881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三件事在同一驾驶舱完成；截图保留 raster，标注保持可编辑。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90550" y="1428750"/>
            <a:ext cx="7029450" cy="4724400"/>
            <a:chOff x="590550" y="1428750"/>
            <a:chExt cx="7029450" cy="4724400"/>
          </a:xfrm>
        </p:grpSpPr>
        <p:sp>
          <p:nvSpPr>
            <p:cNvPr id="6" name="Rectangle 6"/>
            <p:cNvSpPr/>
            <p:nvPr/>
          </p:nvSpPr>
          <p:spPr>
            <a:xfrm>
              <a:off x="590550" y="1428750"/>
              <a:ext cx="7029450" cy="4724400"/>
            </a:xfrm>
            <a:prstGeom prst="roundRect">
              <a:avLst>
                <a:gd name="adj" fmla="val 3226"/>
              </a:avLst>
            </a:prstGeom>
            <a:solidFill>
              <a:srgbClr val="101820"/>
            </a:solidFill>
            <a:ln w="9525">
              <a:solidFill>
                <a:srgbClr val="28455E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78027" y="1619250"/>
              <a:ext cx="6254496" cy="4343400"/>
            </a:xfrm>
            <a:prstGeom prst="rect">
              <a:avLst/>
            </a:prstGeom>
          </p:spPr>
        </p:pic>
      </p:grpSp>
      <p:grpSp>
        <p:nvGrpSpPr>
          <p:cNvPr id="17" name="Group 17"/>
          <p:cNvGrpSpPr/>
          <p:nvPr/>
        </p:nvGrpSpPr>
        <p:grpSpPr>
          <a:xfrm>
            <a:off x="7962900" y="1466850"/>
            <a:ext cx="3505200" cy="1200150"/>
            <a:chOff x="7962900" y="1466850"/>
            <a:chExt cx="3505200" cy="1200150"/>
          </a:xfrm>
        </p:grpSpPr>
        <p:sp>
          <p:nvSpPr>
            <p:cNvPr id="9" name="Rectangle 9"/>
            <p:cNvSpPr/>
            <p:nvPr/>
          </p:nvSpPr>
          <p:spPr>
            <a:xfrm>
              <a:off x="7962900" y="1466850"/>
              <a:ext cx="3505200" cy="1200150"/>
            </a:xfrm>
            <a:prstGeom prst="roundRect">
              <a:avLst>
                <a:gd name="adj" fmla="val 11111"/>
              </a:avLst>
            </a:prstGeom>
            <a:solidFill>
              <a:srgbClr val="142231"/>
            </a:solidFill>
            <a:ln w="9525">
              <a:solidFill>
                <a:srgbClr val="33E18A"/>
              </a:solidFill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8301038" y="1809750"/>
              <a:ext cx="214312" cy="242888"/>
              <a:chOff x="8301038" y="1809750"/>
              <a:chExt cx="214312" cy="242888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8301038" y="1809750"/>
                <a:ext cx="17145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228600">
                    <a:moveTo>
                      <a:pt x="65937" y="228600"/>
                    </a:moveTo>
                    <a:lnTo>
                      <a:pt x="28575" y="228600"/>
                    </a:lnTo>
                    <a:cubicBezTo>
                      <a:pt x="12793" y="228600"/>
                      <a:pt x="0" y="215807"/>
                      <a:pt x="0" y="200025"/>
                    </a:cubicBezTo>
                    <a:lnTo>
                      <a:pt x="0" y="28575"/>
                    </a:lnTo>
                    <a:cubicBezTo>
                      <a:pt x="0" y="12793"/>
                      <a:pt x="12793" y="0"/>
                      <a:pt x="28575" y="0"/>
                    </a:cubicBezTo>
                    <a:lnTo>
                      <a:pt x="142875" y="0"/>
                    </a:lnTo>
                    <a:cubicBezTo>
                      <a:pt x="158657" y="0"/>
                      <a:pt x="171450" y="12793"/>
                      <a:pt x="171450" y="28575"/>
                    </a:cubicBezTo>
                    <a:lnTo>
                      <a:pt x="171450" y="142875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8429625" y="1995488"/>
                <a:ext cx="85725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57150">
                    <a:moveTo>
                      <a:pt x="0" y="28575"/>
                    </a:moveTo>
                    <a:lnTo>
                      <a:pt x="28575" y="57150"/>
                    </a:lnTo>
                    <a:lnTo>
                      <a:pt x="85725" y="0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8358188" y="1866900"/>
                <a:ext cx="571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9525">
                    <a:moveTo>
                      <a:pt x="0" y="0"/>
                    </a:moveTo>
                    <a:lnTo>
                      <a:pt x="57150" y="0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8358188" y="1924050"/>
                <a:ext cx="285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9525">
                    <a:moveTo>
                      <a:pt x="0" y="0"/>
                    </a:moveTo>
                    <a:lnTo>
                      <a:pt x="28575" y="0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8722042" y="1814036"/>
              <a:ext cx="1831138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30 顺位直接展开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213408" y="2243614"/>
              <a:ext cx="309276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完整性、低置信、锁定状态在顶部可见。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7962900" y="2990850"/>
            <a:ext cx="3505200" cy="1200150"/>
            <a:chOff x="7962900" y="2990850"/>
            <a:chExt cx="3505200" cy="1200150"/>
          </a:xfrm>
        </p:grpSpPr>
        <p:sp>
          <p:nvSpPr>
            <p:cNvPr id="18" name="Rectangle 18"/>
            <p:cNvSpPr/>
            <p:nvPr/>
          </p:nvSpPr>
          <p:spPr>
            <a:xfrm>
              <a:off x="7962900" y="2990850"/>
              <a:ext cx="3505200" cy="1200150"/>
            </a:xfrm>
            <a:prstGeom prst="roundRect">
              <a:avLst>
                <a:gd name="adj" fmla="val 11111"/>
              </a:avLst>
            </a:prstGeom>
            <a:solidFill>
              <a:srgbClr val="142231"/>
            </a:solidFill>
            <a:ln w="9525">
              <a:solidFill>
                <a:srgbClr val="62B8FF"/>
              </a:solidFill>
            </a:ln>
          </p:spPr>
        </p:sp>
        <p:grpSp>
          <p:nvGrpSpPr>
            <p:cNvPr id="21" name="Group 21"/>
            <p:cNvGrpSpPr/>
            <p:nvPr/>
          </p:nvGrpSpPr>
          <p:grpSpPr>
            <a:xfrm>
              <a:off x="8272462" y="3362325"/>
              <a:ext cx="257175" cy="171450"/>
              <a:chOff x="8272462" y="3362325"/>
              <a:chExt cx="257175" cy="17145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8372475" y="3419475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28575"/>
                    </a:moveTo>
                    <a:cubicBezTo>
                      <a:pt x="0" y="44357"/>
                      <a:pt x="12793" y="57150"/>
                      <a:pt x="28575" y="57150"/>
                    </a:cubicBezTo>
                    <a:cubicBezTo>
                      <a:pt x="44357" y="57150"/>
                      <a:pt x="57150" y="44357"/>
                      <a:pt x="57150" y="28575"/>
                    </a:cubicBezTo>
                    <a:cubicBezTo>
                      <a:pt x="57150" y="12793"/>
                      <a:pt x="44357" y="0"/>
                      <a:pt x="28575" y="0"/>
                    </a:cubicBezTo>
                    <a:cubicBezTo>
                      <a:pt x="12793" y="0"/>
                      <a:pt x="0" y="12793"/>
                      <a:pt x="0" y="28575"/>
                    </a:cubicBez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8272462" y="3362325"/>
                <a:ext cx="257175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257175" h="171450">
                    <a:moveTo>
                      <a:pt x="257175" y="85725"/>
                    </a:moveTo>
                    <a:cubicBezTo>
                      <a:pt x="222885" y="142875"/>
                      <a:pt x="180022" y="171450"/>
                      <a:pt x="128588" y="171450"/>
                    </a:cubicBezTo>
                    <a:cubicBezTo>
                      <a:pt x="77153" y="171450"/>
                      <a:pt x="34290" y="142875"/>
                      <a:pt x="0" y="85725"/>
                    </a:cubicBezTo>
                    <a:cubicBezTo>
                      <a:pt x="34290" y="28575"/>
                      <a:pt x="77153" y="0"/>
                      <a:pt x="128588" y="0"/>
                    </a:cubicBezTo>
                    <a:cubicBezTo>
                      <a:pt x="180022" y="0"/>
                      <a:pt x="222885" y="28575"/>
                      <a:pt x="257175" y="85725"/>
                    </a:cubicBez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8722042" y="3338036"/>
              <a:ext cx="1625838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单 pick 可解释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213408" y="3767614"/>
              <a:ext cx="309276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证据、风险、适配、备选跟随球员切换。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7962900" y="4514850"/>
            <a:ext cx="3505200" cy="1200150"/>
            <a:chOff x="7962900" y="4514850"/>
            <a:chExt cx="3505200" cy="1200150"/>
          </a:xfrm>
        </p:grpSpPr>
        <p:sp>
          <p:nvSpPr>
            <p:cNvPr id="25" name="Rectangle 25"/>
            <p:cNvSpPr/>
            <p:nvPr/>
          </p:nvSpPr>
          <p:spPr>
            <a:xfrm>
              <a:off x="7962900" y="4514850"/>
              <a:ext cx="3505200" cy="1200150"/>
            </a:xfrm>
            <a:prstGeom prst="roundRect">
              <a:avLst>
                <a:gd name="adj" fmla="val 11111"/>
              </a:avLst>
            </a:prstGeom>
            <a:solidFill>
              <a:srgbClr val="142231"/>
            </a:solidFill>
            <a:ln w="9525">
              <a:solidFill>
                <a:srgbClr val="FFD166"/>
              </a:solidFill>
            </a:ln>
          </p:spPr>
        </p:sp>
        <p:grpSp>
          <p:nvGrpSpPr>
            <p:cNvPr id="28" name="Group 28"/>
            <p:cNvGrpSpPr/>
            <p:nvPr/>
          </p:nvGrpSpPr>
          <p:grpSpPr>
            <a:xfrm>
              <a:off x="8301038" y="4843462"/>
              <a:ext cx="228600" cy="271462"/>
              <a:chOff x="8301038" y="4843462"/>
              <a:chExt cx="228600" cy="271462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8429625" y="4843462"/>
                <a:ext cx="71438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71438">
                    <a:moveTo>
                      <a:pt x="0" y="0"/>
                    </a:moveTo>
                    <a:lnTo>
                      <a:pt x="0" y="57150"/>
                    </a:lnTo>
                    <a:cubicBezTo>
                      <a:pt x="0" y="65041"/>
                      <a:pt x="6397" y="71438"/>
                      <a:pt x="14288" y="71438"/>
                    </a:cubicBezTo>
                    <a:lnTo>
                      <a:pt x="71438" y="71438"/>
                    </a:ln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8301038" y="4843462"/>
                <a:ext cx="228600" cy="271462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71462">
                    <a:moveTo>
                      <a:pt x="92869" y="257175"/>
                    </a:moveTo>
                    <a:lnTo>
                      <a:pt x="28575" y="257175"/>
                    </a:lnTo>
                    <a:cubicBezTo>
                      <a:pt x="12793" y="257175"/>
                      <a:pt x="0" y="244382"/>
                      <a:pt x="0" y="228600"/>
                    </a:cubicBezTo>
                    <a:lnTo>
                      <a:pt x="0" y="28575"/>
                    </a:lnTo>
                    <a:cubicBezTo>
                      <a:pt x="0" y="12793"/>
                      <a:pt x="12793" y="0"/>
                      <a:pt x="28575" y="0"/>
                    </a:cubicBezTo>
                    <a:lnTo>
                      <a:pt x="128588" y="0"/>
                    </a:lnTo>
                    <a:lnTo>
                      <a:pt x="200025" y="71438"/>
                    </a:lnTo>
                    <a:lnTo>
                      <a:pt x="200025" y="142875"/>
                    </a:lnTo>
                    <a:moveTo>
                      <a:pt x="128588" y="228600"/>
                    </a:moveTo>
                    <a:lnTo>
                      <a:pt x="228600" y="228600"/>
                    </a:lnTo>
                    <a:moveTo>
                      <a:pt x="185738" y="185738"/>
                    </a:moveTo>
                    <a:lnTo>
                      <a:pt x="228600" y="228600"/>
                    </a:lnTo>
                    <a:lnTo>
                      <a:pt x="185738" y="271462"/>
                    </a:ln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8722042" y="4862036"/>
              <a:ext cx="1251466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现场可导出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213408" y="5291614"/>
              <a:ext cx="317777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JSON 与 brief 都从 locked board 生成。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7429500" y="1990725"/>
            <a:ext cx="533400" cy="3200400"/>
            <a:chOff x="7429500" y="1990725"/>
            <a:chExt cx="533400" cy="3200400"/>
          </a:xfrm>
        </p:grpSpPr>
        <p:sp>
          <p:nvSpPr>
            <p:cNvPr id="32" name="Line 32"/>
            <p:cNvSpPr/>
            <p:nvPr/>
          </p:nvSpPr>
          <p:spPr>
            <a:xfrm>
              <a:off x="7429500" y="2066925"/>
              <a:ext cx="533400" cy="9525"/>
            </a:xfrm>
            <a:custGeom>
              <a:avLst/>
              <a:gdLst/>
              <a:ahLst/>
              <a:cxnLst/>
              <a:rect l="l" t="t" r="r" b="b"/>
              <a:pathLst>
                <a:path w="533400" h="9525">
                  <a:moveTo>
                    <a:pt x="533400" y="0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33E18A"/>
              </a:solidFill>
            </a:ln>
          </p:spPr>
        </p:sp>
        <p:sp>
          <p:nvSpPr>
            <p:cNvPr id="33" name="Polygon 33"/>
            <p:cNvSpPr/>
            <p:nvPr/>
          </p:nvSpPr>
          <p:spPr>
            <a:xfrm>
              <a:off x="7429500" y="1990725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0" y="76200"/>
                  </a:moveTo>
                  <a:lnTo>
                    <a:pt x="133350" y="0"/>
                  </a:lnTo>
                  <a:lnTo>
                    <a:pt x="133350" y="152400"/>
                  </a:lnTo>
                  <a:close/>
                </a:path>
              </a:pathLst>
            </a:custGeom>
            <a:solidFill>
              <a:srgbClr val="33E18A"/>
            </a:solidFill>
            <a:ln>
              <a:noFill/>
            </a:ln>
          </p:spPr>
        </p:sp>
        <p:sp>
          <p:nvSpPr>
            <p:cNvPr id="34" name="Line 34"/>
            <p:cNvSpPr/>
            <p:nvPr/>
          </p:nvSpPr>
          <p:spPr>
            <a:xfrm>
              <a:off x="7429500" y="3590925"/>
              <a:ext cx="533400" cy="9525"/>
            </a:xfrm>
            <a:custGeom>
              <a:avLst/>
              <a:gdLst/>
              <a:ahLst/>
              <a:cxnLst/>
              <a:rect l="l" t="t" r="r" b="b"/>
              <a:pathLst>
                <a:path w="533400" h="9525">
                  <a:moveTo>
                    <a:pt x="533400" y="0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62B8FF"/>
              </a:solidFill>
            </a:ln>
          </p:spPr>
        </p:sp>
        <p:sp>
          <p:nvSpPr>
            <p:cNvPr id="35" name="Polygon 35"/>
            <p:cNvSpPr/>
            <p:nvPr/>
          </p:nvSpPr>
          <p:spPr>
            <a:xfrm>
              <a:off x="7429500" y="3514725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0" y="76200"/>
                  </a:moveTo>
                  <a:lnTo>
                    <a:pt x="133350" y="0"/>
                  </a:lnTo>
                  <a:lnTo>
                    <a:pt x="133350" y="152400"/>
                  </a:lnTo>
                  <a:close/>
                </a:path>
              </a:pathLst>
            </a:custGeom>
            <a:solidFill>
              <a:srgbClr val="62B8FF"/>
            </a:solidFill>
            <a:ln>
              <a:noFill/>
            </a:ln>
          </p:spPr>
        </p:sp>
        <p:sp>
          <p:nvSpPr>
            <p:cNvPr id="36" name="Line 36"/>
            <p:cNvSpPr/>
            <p:nvPr/>
          </p:nvSpPr>
          <p:spPr>
            <a:xfrm>
              <a:off x="7429500" y="5114925"/>
              <a:ext cx="533400" cy="9525"/>
            </a:xfrm>
            <a:custGeom>
              <a:avLst/>
              <a:gdLst/>
              <a:ahLst/>
              <a:cxnLst/>
              <a:rect l="l" t="t" r="r" b="b"/>
              <a:pathLst>
                <a:path w="533400" h="9525">
                  <a:moveTo>
                    <a:pt x="533400" y="0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FFD166"/>
              </a:solidFill>
            </a:ln>
          </p:spPr>
        </p:sp>
        <p:sp>
          <p:nvSpPr>
            <p:cNvPr id="37" name="Polygon 37"/>
            <p:cNvSpPr/>
            <p:nvPr/>
          </p:nvSpPr>
          <p:spPr>
            <a:xfrm>
              <a:off x="7429500" y="5038725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0" y="76200"/>
                  </a:moveTo>
                  <a:lnTo>
                    <a:pt x="133350" y="0"/>
                  </a:lnTo>
                  <a:lnTo>
                    <a:pt x="133350" y="152400"/>
                  </a:lnTo>
                  <a:close/>
                </a:path>
              </a:pathLst>
            </a:custGeom>
            <a:solidFill>
              <a:srgbClr val="FFD166"/>
            </a:solidFill>
            <a:ln>
              <a:noFill/>
            </a:ln>
          </p:spPr>
        </p:sp>
      </p:grpSp>
      <p:sp>
        <p:nvSpPr>
          <p:cNvPr id="39" name="TextBox 39"/>
          <p:cNvSpPr txBox="1"/>
          <p:nvPr/>
        </p:nvSpPr>
        <p:spPr>
          <a:xfrm>
            <a:off x="595312" y="6298406"/>
            <a:ext cx="53113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5" dirty="0">
                <a:solidFill>
                  <a:srgbClr val="94A8BC"/>
                </a:solidFill>
                <a:latin typeface="Consolas"/>
                <a:ea typeface="Consolas"/>
                <a:cs typeface="Consolas"/>
              </a:rPr>
              <a:t>06 / 08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B10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69595" y="402908"/>
            <a:ext cx="7158945" cy="844867"/>
            <a:chOff x="569595" y="402908"/>
            <a:chExt cx="7158945" cy="844867"/>
          </a:xfrm>
        </p:grpSpPr>
        <p:sp>
          <p:nvSpPr>
            <p:cNvPr id="3" name="TextBox 3"/>
            <p:cNvSpPr txBox="1"/>
            <p:nvPr/>
          </p:nvSpPr>
          <p:spPr>
            <a:xfrm>
              <a:off x="569595" y="402908"/>
              <a:ext cx="7158945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AWS/RAG：可回答、能部署、可追溯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0550" y="942975"/>
              <a:ext cx="583882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前端展示结果，Lambda/API 和 RAG 层负责只读问答与证据检索。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1362075" y="1600200"/>
            <a:ext cx="9467850" cy="1066800"/>
            <a:chOff x="1362075" y="1600200"/>
            <a:chExt cx="9467850" cy="1066800"/>
          </a:xfrm>
        </p:grpSpPr>
        <p:sp>
          <p:nvSpPr>
            <p:cNvPr id="6" name="Rectangle 6"/>
            <p:cNvSpPr/>
            <p:nvPr/>
          </p:nvSpPr>
          <p:spPr>
            <a:xfrm>
              <a:off x="1362075" y="1600200"/>
              <a:ext cx="1809750" cy="1066800"/>
            </a:xfrm>
            <a:prstGeom prst="roundRect">
              <a:avLst>
                <a:gd name="adj" fmla="val 12500"/>
              </a:avLst>
            </a:prstGeom>
            <a:solidFill>
              <a:srgbClr val="142231"/>
            </a:solidFill>
            <a:ln w="9525">
              <a:solidFill>
                <a:srgbClr val="62B8FF"/>
              </a:solidFill>
            </a:ln>
          </p:spPr>
        </p:sp>
        <p:grpSp>
          <p:nvGrpSpPr>
            <p:cNvPr id="13" name="Group 13"/>
            <p:cNvGrpSpPr/>
            <p:nvPr/>
          </p:nvGrpSpPr>
          <p:grpSpPr>
            <a:xfrm>
              <a:off x="1650206" y="1901825"/>
              <a:ext cx="242889" cy="225426"/>
              <a:chOff x="1650206" y="1901825"/>
              <a:chExt cx="242889" cy="225426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1650206" y="1901825"/>
                <a:ext cx="242888" cy="161925"/>
              </a:xfrm>
              <a:custGeom>
                <a:avLst/>
                <a:gdLst/>
                <a:ahLst/>
                <a:cxnLst/>
                <a:rect l="l" t="t" r="r" b="b"/>
                <a:pathLst>
                  <a:path w="242888" h="161925">
                    <a:moveTo>
                      <a:pt x="242888" y="107950"/>
                    </a:moveTo>
                    <a:lnTo>
                      <a:pt x="242888" y="148432"/>
                    </a:lnTo>
                    <a:cubicBezTo>
                      <a:pt x="242888" y="155884"/>
                      <a:pt x="236847" y="161925"/>
                      <a:pt x="229394" y="161925"/>
                    </a:cubicBezTo>
                    <a:lnTo>
                      <a:pt x="13494" y="161925"/>
                    </a:lnTo>
                    <a:cubicBezTo>
                      <a:pt x="6041" y="161925"/>
                      <a:pt x="0" y="155884"/>
                      <a:pt x="0" y="148432"/>
                    </a:cubicBezTo>
                    <a:lnTo>
                      <a:pt x="0" y="13494"/>
                    </a:lnTo>
                    <a:cubicBezTo>
                      <a:pt x="0" y="6041"/>
                      <a:pt x="6041" y="0"/>
                      <a:pt x="13494" y="0"/>
                    </a:cubicBezTo>
                    <a:lnTo>
                      <a:pt x="134938" y="0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1704181" y="2117726"/>
                <a:ext cx="13493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34938" h="9525">
                    <a:moveTo>
                      <a:pt x="0" y="0"/>
                    </a:moveTo>
                    <a:lnTo>
                      <a:pt x="134938" y="0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731169" y="2063751"/>
                <a:ext cx="952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3975">
                    <a:moveTo>
                      <a:pt x="0" y="0"/>
                    </a:moveTo>
                    <a:lnTo>
                      <a:pt x="0" y="53975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812132" y="2063751"/>
                <a:ext cx="952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3975">
                    <a:moveTo>
                      <a:pt x="0" y="0"/>
                    </a:moveTo>
                    <a:lnTo>
                      <a:pt x="0" y="53975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839119" y="1901825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0"/>
                    </a:moveTo>
                    <a:lnTo>
                      <a:pt x="53975" y="0"/>
                    </a:lnTo>
                    <a:lnTo>
                      <a:pt x="53975" y="53975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825626" y="1901825"/>
                <a:ext cx="67469" cy="67469"/>
              </a:xfrm>
              <a:custGeom>
                <a:avLst/>
                <a:gdLst/>
                <a:ahLst/>
                <a:cxnLst/>
                <a:rect l="l" t="t" r="r" b="b"/>
                <a:pathLst>
                  <a:path w="67469" h="67469">
                    <a:moveTo>
                      <a:pt x="0" y="67469"/>
                    </a:moveTo>
                    <a:lnTo>
                      <a:pt x="67469" y="0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</p:grpSp>
        <p:sp>
          <p:nvSpPr>
            <p:cNvPr id="14" name="TextBox 14"/>
            <p:cNvSpPr txBox="1"/>
            <p:nvPr/>
          </p:nvSpPr>
          <p:spPr>
            <a:xfrm>
              <a:off x="2045970" y="1898332"/>
              <a:ext cx="1636009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DraftOps 前端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595438" y="2316956"/>
              <a:ext cx="142374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预测板 / 证据 / 导出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3171825" y="2133600"/>
              <a:ext cx="742950" cy="9525"/>
            </a:xfrm>
            <a:custGeom>
              <a:avLst/>
              <a:gdLst/>
              <a:ahLst/>
              <a:cxnLst/>
              <a:rect l="l" t="t" r="r" b="b"/>
              <a:pathLst>
                <a:path w="742950" h="9525">
                  <a:moveTo>
                    <a:pt x="0" y="0"/>
                  </a:moveTo>
                  <a:lnTo>
                    <a:pt x="742950" y="0"/>
                  </a:lnTo>
                </a:path>
              </a:pathLst>
            </a:custGeom>
            <a:noFill/>
            <a:ln w="28575">
              <a:solidFill>
                <a:srgbClr val="62B8FF"/>
              </a:solidFill>
            </a:ln>
          </p:spPr>
        </p:sp>
        <p:sp>
          <p:nvSpPr>
            <p:cNvPr id="17" name="Polygon 17"/>
            <p:cNvSpPr/>
            <p:nvPr/>
          </p:nvSpPr>
          <p:spPr>
            <a:xfrm>
              <a:off x="3781425" y="2057400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13335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62B8FF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3914775" y="1600200"/>
              <a:ext cx="1809750" cy="1066800"/>
            </a:xfrm>
            <a:prstGeom prst="roundRect">
              <a:avLst>
                <a:gd name="adj" fmla="val 12500"/>
              </a:avLst>
            </a:prstGeom>
            <a:solidFill>
              <a:srgbClr val="142231"/>
            </a:solidFill>
            <a:ln w="9525">
              <a:solidFill>
                <a:srgbClr val="28455E"/>
              </a:solidFill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4216400" y="1955800"/>
              <a:ext cx="225426" cy="107950"/>
              <a:chOff x="4216400" y="1955800"/>
              <a:chExt cx="225426" cy="10795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4216400" y="2023269"/>
                <a:ext cx="67469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7469" h="9525">
                    <a:moveTo>
                      <a:pt x="0" y="0"/>
                    </a:moveTo>
                    <a:lnTo>
                      <a:pt x="67469" y="0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4324350" y="1955800"/>
                <a:ext cx="67469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67469" h="107950">
                    <a:moveTo>
                      <a:pt x="0" y="107950"/>
                    </a:moveTo>
                    <a:lnTo>
                      <a:pt x="0" y="0"/>
                    </a:lnTo>
                    <a:lnTo>
                      <a:pt x="40481" y="0"/>
                    </a:lnTo>
                    <a:cubicBezTo>
                      <a:pt x="55386" y="0"/>
                      <a:pt x="67469" y="12083"/>
                      <a:pt x="67469" y="26988"/>
                    </a:cubicBezTo>
                    <a:lnTo>
                      <a:pt x="67469" y="40481"/>
                    </a:lnTo>
                    <a:cubicBezTo>
                      <a:pt x="67469" y="55386"/>
                      <a:pt x="55386" y="67469"/>
                      <a:pt x="40481" y="67469"/>
                    </a:cubicBezTo>
                    <a:lnTo>
                      <a:pt x="0" y="67469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4432301" y="1955800"/>
                <a:ext cx="9525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7950">
                    <a:moveTo>
                      <a:pt x="0" y="0"/>
                    </a:moveTo>
                    <a:lnTo>
                      <a:pt x="0" y="107950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4216400" y="1955800"/>
                <a:ext cx="67469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67469" h="107950">
                    <a:moveTo>
                      <a:pt x="67469" y="107950"/>
                    </a:moveTo>
                    <a:lnTo>
                      <a:pt x="67469" y="33734"/>
                    </a:lnTo>
                    <a:cubicBezTo>
                      <a:pt x="67469" y="15103"/>
                      <a:pt x="52365" y="0"/>
                      <a:pt x="33734" y="0"/>
                    </a:cubicBezTo>
                    <a:cubicBezTo>
                      <a:pt x="15103" y="0"/>
                      <a:pt x="0" y="15103"/>
                      <a:pt x="0" y="33734"/>
                    </a:cubicBezTo>
                    <a:lnTo>
                      <a:pt x="0" y="107950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4598670" y="1898332"/>
              <a:ext cx="106998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E7F2FF"/>
                  </a:solidFill>
                  <a:latin typeface="Arial"/>
                  <a:ea typeface="Arial"/>
                  <a:cs typeface="Arial"/>
                </a:rPr>
                <a:t>Agent API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148138" y="2316956"/>
              <a:ext cx="152126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94A8BC"/>
                  </a:solidFill>
                  <a:latin typeface="Arial"/>
                  <a:ea typeface="Arial"/>
                  <a:cs typeface="Arial"/>
                </a:rPr>
                <a:t>Lambda / local proxy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5724525" y="2133600"/>
              <a:ext cx="742950" cy="9525"/>
            </a:xfrm>
            <a:custGeom>
              <a:avLst/>
              <a:gdLst/>
              <a:ahLst/>
              <a:cxnLst/>
              <a:rect l="l" t="t" r="r" b="b"/>
              <a:pathLst>
                <a:path w="742950" h="9525">
                  <a:moveTo>
                    <a:pt x="0" y="0"/>
                  </a:moveTo>
                  <a:lnTo>
                    <a:pt x="742950" y="0"/>
                  </a:lnTo>
                </a:path>
              </a:pathLst>
            </a:custGeom>
            <a:noFill/>
            <a:ln w="28575">
              <a:solidFill>
                <a:srgbClr val="62B8FF"/>
              </a:solidFill>
            </a:ln>
          </p:spPr>
        </p:sp>
        <p:sp>
          <p:nvSpPr>
            <p:cNvPr id="27" name="Polygon 27"/>
            <p:cNvSpPr/>
            <p:nvPr/>
          </p:nvSpPr>
          <p:spPr>
            <a:xfrm>
              <a:off x="6334125" y="2057400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13335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62B8FF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67475" y="1600200"/>
              <a:ext cx="1809750" cy="1066800"/>
            </a:xfrm>
            <a:prstGeom prst="roundRect">
              <a:avLst>
                <a:gd name="adj" fmla="val 12500"/>
              </a:avLst>
            </a:prstGeom>
            <a:solidFill>
              <a:srgbClr val="142231"/>
            </a:solidFill>
            <a:ln w="9525">
              <a:solidFill>
                <a:srgbClr val="33E18A"/>
              </a:solidFill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6755606" y="1888331"/>
              <a:ext cx="242888" cy="242888"/>
              <a:chOff x="6755606" y="1888331"/>
              <a:chExt cx="242888" cy="242888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6755606" y="2077244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26988"/>
                    </a:move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8"/>
                    </a:cubicBez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6944519" y="1888331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26988" y="53975"/>
                    </a:moveTo>
                    <a:cubicBezTo>
                      <a:pt x="41892" y="53975"/>
                      <a:pt x="53975" y="41892"/>
                      <a:pt x="53975" y="26988"/>
                    </a:cubicBez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  <a:cubicBezTo>
                      <a:pt x="0" y="41892"/>
                      <a:pt x="12083" y="53975"/>
                      <a:pt x="26988" y="53975"/>
                    </a:cubicBez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6782594" y="1915319"/>
                <a:ext cx="202407" cy="188913"/>
              </a:xfrm>
              <a:custGeom>
                <a:avLst/>
                <a:gdLst/>
                <a:ahLst/>
                <a:cxnLst/>
                <a:rect l="l" t="t" r="r" b="b"/>
                <a:pathLst>
                  <a:path w="202407" h="188913">
                    <a:moveTo>
                      <a:pt x="80963" y="188913"/>
                    </a:moveTo>
                    <a:lnTo>
                      <a:pt x="155178" y="188913"/>
                    </a:lnTo>
                    <a:cubicBezTo>
                      <a:pt x="181262" y="188913"/>
                      <a:pt x="202407" y="167768"/>
                      <a:pt x="202407" y="141685"/>
                    </a:cubicBezTo>
                    <a:cubicBezTo>
                      <a:pt x="202407" y="115601"/>
                      <a:pt x="181262" y="94456"/>
                      <a:pt x="155178" y="94456"/>
                    </a:cubicBezTo>
                    <a:lnTo>
                      <a:pt x="47228" y="94456"/>
                    </a:lnTo>
                    <a:cubicBezTo>
                      <a:pt x="21145" y="94456"/>
                      <a:pt x="0" y="73312"/>
                      <a:pt x="0" y="47228"/>
                    </a:cubicBezTo>
                    <a:cubicBezTo>
                      <a:pt x="0" y="21145"/>
                      <a:pt x="21145" y="0"/>
                      <a:pt x="47228" y="0"/>
                    </a:cubicBezTo>
                    <a:lnTo>
                      <a:pt x="107950" y="0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7151370" y="1898332"/>
              <a:ext cx="118550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RAG 检索层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700838" y="2316956"/>
              <a:ext cx="180629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94A8BC"/>
                  </a:solidFill>
                  <a:latin typeface="Arial"/>
                  <a:ea typeface="Arial"/>
                  <a:cs typeface="Arial"/>
                </a:rPr>
                <a:t>ranking / MMR / fallback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8277225" y="2133600"/>
              <a:ext cx="742950" cy="9525"/>
            </a:xfrm>
            <a:custGeom>
              <a:avLst/>
              <a:gdLst/>
              <a:ahLst/>
              <a:cxnLst/>
              <a:rect l="l" t="t" r="r" b="b"/>
              <a:pathLst>
                <a:path w="742950" h="9525">
                  <a:moveTo>
                    <a:pt x="0" y="0"/>
                  </a:moveTo>
                  <a:lnTo>
                    <a:pt x="742950" y="0"/>
                  </a:lnTo>
                </a:path>
              </a:pathLst>
            </a:custGeom>
            <a:noFill/>
            <a:ln w="28575">
              <a:solidFill>
                <a:srgbClr val="62B8FF"/>
              </a:solidFill>
            </a:ln>
          </p:spPr>
        </p:sp>
        <p:sp>
          <p:nvSpPr>
            <p:cNvPr id="36" name="Polygon 36"/>
            <p:cNvSpPr/>
            <p:nvPr/>
          </p:nvSpPr>
          <p:spPr>
            <a:xfrm>
              <a:off x="8886825" y="2057400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13335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62B8FF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9020175" y="1600200"/>
              <a:ext cx="1809750" cy="1066800"/>
            </a:xfrm>
            <a:prstGeom prst="roundRect">
              <a:avLst>
                <a:gd name="adj" fmla="val 12500"/>
              </a:avLst>
            </a:prstGeom>
            <a:solidFill>
              <a:srgbClr val="142231"/>
            </a:solidFill>
            <a:ln w="9525">
              <a:solidFill>
                <a:srgbClr val="28455E"/>
              </a:solidFill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9308306" y="1888331"/>
              <a:ext cx="242888" cy="242888"/>
              <a:chOff x="9308306" y="1888331"/>
              <a:chExt cx="242888" cy="242888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9429750" y="2023269"/>
                <a:ext cx="94456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94456" h="107950">
                    <a:moveTo>
                      <a:pt x="47228" y="0"/>
                    </a:moveTo>
                    <a:cubicBezTo>
                      <a:pt x="21145" y="0"/>
                      <a:pt x="0" y="21145"/>
                      <a:pt x="0" y="47228"/>
                    </a:cubicBezTo>
                    <a:lnTo>
                      <a:pt x="0" y="60722"/>
                    </a:lnTo>
                    <a:cubicBezTo>
                      <a:pt x="0" y="86805"/>
                      <a:pt x="21145" y="107950"/>
                      <a:pt x="47228" y="107950"/>
                    </a:cubicBezTo>
                    <a:cubicBezTo>
                      <a:pt x="73312" y="107950"/>
                      <a:pt x="94456" y="86805"/>
                      <a:pt x="94456" y="60722"/>
                    </a:cubicBezTo>
                    <a:lnTo>
                      <a:pt x="94456" y="36433"/>
                    </a:ln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9335294" y="2023269"/>
                <a:ext cx="94456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94456" h="107950">
                    <a:moveTo>
                      <a:pt x="47228" y="0"/>
                    </a:moveTo>
                    <a:cubicBezTo>
                      <a:pt x="73312" y="0"/>
                      <a:pt x="94456" y="21145"/>
                      <a:pt x="94456" y="47228"/>
                    </a:cubicBezTo>
                    <a:lnTo>
                      <a:pt x="94456" y="60722"/>
                    </a:lnTo>
                    <a:cubicBezTo>
                      <a:pt x="94456" y="86805"/>
                      <a:pt x="73312" y="107950"/>
                      <a:pt x="47228" y="107950"/>
                    </a:cubicBezTo>
                    <a:cubicBezTo>
                      <a:pt x="21145" y="107950"/>
                      <a:pt x="0" y="86805"/>
                      <a:pt x="0" y="60722"/>
                    </a:cubicBezTo>
                    <a:lnTo>
                      <a:pt x="0" y="36433"/>
                    </a:ln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9497219" y="1969294"/>
                <a:ext cx="53975" cy="94456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94456">
                    <a:moveTo>
                      <a:pt x="6747" y="94456"/>
                    </a:moveTo>
                    <a:cubicBezTo>
                      <a:pt x="32830" y="94456"/>
                      <a:pt x="53975" y="73312"/>
                      <a:pt x="53975" y="47228"/>
                    </a:cubicBezTo>
                    <a:cubicBezTo>
                      <a:pt x="53975" y="21145"/>
                      <a:pt x="32830" y="0"/>
                      <a:pt x="6747" y="0"/>
                    </a:cubicBez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9429750" y="1888331"/>
                <a:ext cx="94456" cy="85011"/>
              </a:xfrm>
              <a:custGeom>
                <a:avLst/>
                <a:gdLst/>
                <a:ahLst/>
                <a:cxnLst/>
                <a:rect l="l" t="t" r="r" b="b"/>
                <a:pathLst>
                  <a:path w="94456" h="85011">
                    <a:moveTo>
                      <a:pt x="94456" y="85011"/>
                    </a:moveTo>
                    <a:lnTo>
                      <a:pt x="94456" y="47228"/>
                    </a:lnTo>
                    <a:cubicBezTo>
                      <a:pt x="94456" y="21145"/>
                      <a:pt x="73312" y="0"/>
                      <a:pt x="47228" y="0"/>
                    </a:cubicBezTo>
                    <a:cubicBezTo>
                      <a:pt x="21145" y="0"/>
                      <a:pt x="0" y="21145"/>
                      <a:pt x="0" y="47228"/>
                    </a:cubicBez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9308306" y="1969294"/>
                <a:ext cx="53975" cy="94456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94456">
                    <a:moveTo>
                      <a:pt x="47228" y="94456"/>
                    </a:moveTo>
                    <a:cubicBezTo>
                      <a:pt x="21145" y="94456"/>
                      <a:pt x="0" y="73312"/>
                      <a:pt x="0" y="47228"/>
                    </a:cubicBezTo>
                    <a:cubicBezTo>
                      <a:pt x="0" y="21145"/>
                      <a:pt x="21145" y="0"/>
                      <a:pt x="47228" y="0"/>
                    </a:cubicBezTo>
                    <a:lnTo>
                      <a:pt x="53975" y="0"/>
                    </a:ln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9335294" y="1888331"/>
                <a:ext cx="94456" cy="182166"/>
              </a:xfrm>
              <a:custGeom>
                <a:avLst/>
                <a:gdLst/>
                <a:ahLst/>
                <a:cxnLst/>
                <a:rect l="l" t="t" r="r" b="b"/>
                <a:pathLst>
                  <a:path w="94456" h="182166">
                    <a:moveTo>
                      <a:pt x="0" y="85011"/>
                    </a:moveTo>
                    <a:lnTo>
                      <a:pt x="0" y="47228"/>
                    </a:lnTo>
                    <a:cubicBezTo>
                      <a:pt x="0" y="21145"/>
                      <a:pt x="21145" y="0"/>
                      <a:pt x="47228" y="0"/>
                    </a:cubicBezTo>
                    <a:cubicBezTo>
                      <a:pt x="73312" y="0"/>
                      <a:pt x="94456" y="21145"/>
                      <a:pt x="94456" y="47228"/>
                    </a:cubicBezTo>
                    <a:lnTo>
                      <a:pt x="94456" y="182166"/>
                    </a:ln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9704070" y="1898332"/>
              <a:ext cx="73499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模型层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253538" y="2316956"/>
              <a:ext cx="143875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94A8BC"/>
                  </a:solidFill>
                  <a:latin typeface="Arial"/>
                  <a:ea typeface="Arial"/>
                  <a:cs typeface="Arial"/>
                </a:rPr>
                <a:t>DeepSeek / Bedrock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1200150" y="3581400"/>
            <a:ext cx="9999225" cy="1428750"/>
            <a:chOff x="1200150" y="3581400"/>
            <a:chExt cx="9999225" cy="1428750"/>
          </a:xfrm>
        </p:grpSpPr>
        <p:sp>
          <p:nvSpPr>
            <p:cNvPr id="48" name="Rectangle 48"/>
            <p:cNvSpPr/>
            <p:nvPr/>
          </p:nvSpPr>
          <p:spPr>
            <a:xfrm>
              <a:off x="1200150" y="3581400"/>
              <a:ext cx="2857500" cy="1428750"/>
            </a:xfrm>
            <a:prstGeom prst="roundRect">
              <a:avLst>
                <a:gd name="adj" fmla="val 10667"/>
              </a:avLst>
            </a:prstGeom>
            <a:solidFill>
              <a:srgbClr val="101820"/>
            </a:solidFill>
            <a:ln w="9525">
              <a:solidFill>
                <a:srgbClr val="28455E"/>
              </a:solidFill>
            </a:ln>
          </p:spPr>
        </p:sp>
        <p:sp>
          <p:nvSpPr>
            <p:cNvPr id="49" name="Freeform 49"/>
            <p:cNvSpPr/>
            <p:nvPr/>
          </p:nvSpPr>
          <p:spPr>
            <a:xfrm>
              <a:off x="1574800" y="3979704"/>
              <a:ext cx="317501" cy="211360"/>
            </a:xfrm>
            <a:custGeom>
              <a:avLst/>
              <a:gdLst/>
              <a:ahLst/>
              <a:cxnLst/>
              <a:rect l="l" t="t" r="r" b="b"/>
              <a:pathLst>
                <a:path w="317501" h="211360">
                  <a:moveTo>
                    <a:pt x="73930" y="211297"/>
                  </a:moveTo>
                  <a:cubicBezTo>
                    <a:pt x="33099" y="211297"/>
                    <a:pt x="0" y="179435"/>
                    <a:pt x="0" y="140129"/>
                  </a:cubicBezTo>
                  <a:cubicBezTo>
                    <a:pt x="0" y="100838"/>
                    <a:pt x="33099" y="68977"/>
                    <a:pt x="73930" y="68977"/>
                  </a:cubicBezTo>
                  <a:cubicBezTo>
                    <a:pt x="80169" y="41005"/>
                    <a:pt x="102410" y="18177"/>
                    <a:pt x="132271" y="9081"/>
                  </a:cubicBezTo>
                  <a:cubicBezTo>
                    <a:pt x="162116" y="0"/>
                    <a:pt x="195072" y="6017"/>
                    <a:pt x="218694" y="24956"/>
                  </a:cubicBezTo>
                  <a:cubicBezTo>
                    <a:pt x="242316" y="43847"/>
                    <a:pt x="253016" y="72692"/>
                    <a:pt x="246793" y="100664"/>
                  </a:cubicBezTo>
                  <a:lnTo>
                    <a:pt x="262510" y="100664"/>
                  </a:lnTo>
                  <a:cubicBezTo>
                    <a:pt x="292878" y="100664"/>
                    <a:pt x="317501" y="125429"/>
                    <a:pt x="317501" y="156004"/>
                  </a:cubicBezTo>
                  <a:cubicBezTo>
                    <a:pt x="317501" y="186595"/>
                    <a:pt x="292878" y="211360"/>
                    <a:pt x="262494" y="211360"/>
                  </a:cubicBezTo>
                  <a:lnTo>
                    <a:pt x="73930" y="211360"/>
                  </a:lnTo>
                </a:path>
              </a:pathLst>
            </a:custGeom>
            <a:noFill/>
            <a:ln w="19050">
              <a:solidFill>
                <a:srgbClr val="62B8FF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2089785" y="3961448"/>
              <a:ext cx="1523914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S3 索引文件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522095" y="4451032"/>
              <a:ext cx="2675639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62B8FF"/>
                  </a:solidFill>
                  <a:latin typeface="Arial"/>
                  <a:ea typeface="Arial"/>
                  <a:cs typeface="Arial"/>
                </a:rPr>
                <a:t>5 indexes / 1336 chunks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528762" y="4774406"/>
              <a:ext cx="371153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board、team、prospect、milestone、architecture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4667250" y="3581400"/>
              <a:ext cx="2857500" cy="1428750"/>
            </a:xfrm>
            <a:prstGeom prst="roundRect">
              <a:avLst>
                <a:gd name="adj" fmla="val 10667"/>
              </a:avLst>
            </a:prstGeom>
            <a:solidFill>
              <a:srgbClr val="101820"/>
            </a:solidFill>
            <a:ln w="9525">
              <a:solidFill>
                <a:srgbClr val="28455E"/>
              </a:solidFill>
            </a:ln>
          </p:spPr>
        </p:sp>
        <p:grpSp>
          <p:nvGrpSpPr>
            <p:cNvPr id="58" name="Group 58"/>
            <p:cNvGrpSpPr/>
            <p:nvPr/>
          </p:nvGrpSpPr>
          <p:grpSpPr>
            <a:xfrm>
              <a:off x="5057775" y="3968750"/>
              <a:ext cx="285751" cy="254000"/>
              <a:chOff x="5057775" y="3968750"/>
              <a:chExt cx="285751" cy="254000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5057775" y="3968750"/>
                <a:ext cx="285751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285751" h="127000">
                    <a:moveTo>
                      <a:pt x="0" y="47625"/>
                    </a:moveTo>
                    <a:cubicBezTo>
                      <a:pt x="0" y="21322"/>
                      <a:pt x="21322" y="0"/>
                      <a:pt x="47625" y="0"/>
                    </a:cubicBezTo>
                    <a:lnTo>
                      <a:pt x="238125" y="0"/>
                    </a:lnTo>
                    <a:cubicBezTo>
                      <a:pt x="264428" y="0"/>
                      <a:pt x="285751" y="21322"/>
                      <a:pt x="285751" y="47625"/>
                    </a:cubicBezTo>
                    <a:lnTo>
                      <a:pt x="285751" y="79375"/>
                    </a:lnTo>
                    <a:cubicBezTo>
                      <a:pt x="285751" y="105678"/>
                      <a:pt x="264428" y="127000"/>
                      <a:pt x="238125" y="127000"/>
                    </a:cubicBezTo>
                    <a:lnTo>
                      <a:pt x="47625" y="127000"/>
                    </a:lnTo>
                    <a:cubicBezTo>
                      <a:pt x="21322" y="127000"/>
                      <a:pt x="0" y="105678"/>
                      <a:pt x="0" y="79375"/>
                    </a:cubicBez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5057775" y="4095750"/>
                <a:ext cx="285751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285751" h="127000">
                    <a:moveTo>
                      <a:pt x="0" y="47625"/>
                    </a:moveTo>
                    <a:cubicBezTo>
                      <a:pt x="0" y="21322"/>
                      <a:pt x="21322" y="0"/>
                      <a:pt x="47625" y="0"/>
                    </a:cubicBezTo>
                    <a:lnTo>
                      <a:pt x="238125" y="0"/>
                    </a:lnTo>
                    <a:cubicBezTo>
                      <a:pt x="264428" y="0"/>
                      <a:pt x="285751" y="21322"/>
                      <a:pt x="285751" y="47625"/>
                    </a:cubicBezTo>
                    <a:lnTo>
                      <a:pt x="285751" y="79375"/>
                    </a:lnTo>
                    <a:cubicBezTo>
                      <a:pt x="285751" y="105678"/>
                      <a:pt x="264428" y="127000"/>
                      <a:pt x="238125" y="127000"/>
                    </a:cubicBezTo>
                    <a:lnTo>
                      <a:pt x="47625" y="127000"/>
                    </a:lnTo>
                    <a:cubicBezTo>
                      <a:pt x="21322" y="127000"/>
                      <a:pt x="0" y="105678"/>
                      <a:pt x="0" y="79375"/>
                    </a:cubicBezTo>
                    <a:lnTo>
                      <a:pt x="0" y="47625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5121275" y="40322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59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5121275" y="415925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59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</p:grpSp>
        <p:sp>
          <p:nvSpPr>
            <p:cNvPr id="59" name="TextBox 59"/>
            <p:cNvSpPr txBox="1"/>
            <p:nvPr/>
          </p:nvSpPr>
          <p:spPr>
            <a:xfrm>
              <a:off x="5556885" y="3961448"/>
              <a:ext cx="1305487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E7F2FF"/>
                  </a:solidFill>
                  <a:latin typeface="Arial"/>
                  <a:ea typeface="Arial"/>
                  <a:cs typeface="Arial"/>
                </a:rPr>
                <a:t>DynamoDB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4989195" y="4451032"/>
              <a:ext cx="234064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33E18A"/>
                  </a:solidFill>
                  <a:latin typeface="Arial"/>
                  <a:ea typeface="Arial"/>
                  <a:cs typeface="Arial"/>
                </a:rPr>
                <a:t>124 feature records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4995862" y="4774406"/>
              <a:ext cx="257889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球员身体、测量、参考评分和嵌套特征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8134350" y="3581400"/>
              <a:ext cx="2857500" cy="1428750"/>
            </a:xfrm>
            <a:prstGeom prst="roundRect">
              <a:avLst>
                <a:gd name="adj" fmla="val 10667"/>
              </a:avLst>
            </a:prstGeom>
            <a:solidFill>
              <a:srgbClr val="101820"/>
            </a:solidFill>
            <a:ln w="9525">
              <a:solidFill>
                <a:srgbClr val="28455E"/>
              </a:solidFill>
            </a:ln>
          </p:spPr>
        </p:sp>
        <p:grpSp>
          <p:nvGrpSpPr>
            <p:cNvPr id="65" name="Group 65"/>
            <p:cNvGrpSpPr/>
            <p:nvPr/>
          </p:nvGrpSpPr>
          <p:grpSpPr>
            <a:xfrm>
              <a:off x="8503451" y="3952875"/>
              <a:ext cx="310011" cy="285751"/>
              <a:chOff x="8503451" y="3952875"/>
              <a:chExt cx="310011" cy="285751"/>
            </a:xfrm>
          </p:grpSpPr>
          <p:sp>
            <p:nvSpPr>
              <p:cNvPr id="63" name="Freeform 63"/>
              <p:cNvSpPr/>
              <p:nvPr/>
            </p:nvSpPr>
            <p:spPr>
              <a:xfrm>
                <a:off x="8503451" y="3952875"/>
                <a:ext cx="310011" cy="283306"/>
              </a:xfrm>
              <a:custGeom>
                <a:avLst/>
                <a:gdLst/>
                <a:ahLst/>
                <a:cxnLst/>
                <a:rect l="l" t="t" r="r" b="b"/>
                <a:pathLst>
                  <a:path w="310011" h="283306">
                    <a:moveTo>
                      <a:pt x="155727" y="283306"/>
                    </a:moveTo>
                    <a:cubicBezTo>
                      <a:pt x="56277" y="252479"/>
                      <a:pt x="0" y="147517"/>
                      <a:pt x="29362" y="47625"/>
                    </a:cubicBezTo>
                    <a:cubicBezTo>
                      <a:pt x="78821" y="49888"/>
                      <a:pt x="127218" y="32807"/>
                      <a:pt x="164299" y="0"/>
                    </a:cubicBezTo>
                    <a:cubicBezTo>
                      <a:pt x="201381" y="32807"/>
                      <a:pt x="249778" y="49888"/>
                      <a:pt x="299237" y="47625"/>
                    </a:cubicBezTo>
                    <a:cubicBezTo>
                      <a:pt x="310011" y="84282"/>
                      <a:pt x="309513" y="123332"/>
                      <a:pt x="297808" y="159703"/>
                    </a:cubicBez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8715375" y="4175126"/>
                <a:ext cx="9525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63500">
                    <a:moveTo>
                      <a:pt x="0" y="31750"/>
                    </a:moveTo>
                    <a:lnTo>
                      <a:pt x="31750" y="63500"/>
                    </a:lnTo>
                    <a:lnTo>
                      <a:pt x="95250" y="0"/>
                    </a:ln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</p:grpSp>
        <p:sp>
          <p:nvSpPr>
            <p:cNvPr id="66" name="TextBox 66"/>
            <p:cNvSpPr txBox="1"/>
            <p:nvPr/>
          </p:nvSpPr>
          <p:spPr>
            <a:xfrm>
              <a:off x="9023985" y="3961448"/>
              <a:ext cx="1141667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只读护栏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8456295" y="4451032"/>
              <a:ext cx="237530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FFD166"/>
                  </a:solidFill>
                  <a:latin typeface="Arial"/>
                  <a:ea typeface="Arial"/>
                  <a:cs typeface="Arial"/>
                </a:rPr>
                <a:t>weak evidence aware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8462962" y="4774406"/>
              <a:ext cx="273641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不直接改代码、换人、提交或覆盖 board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2057400" y="5619750"/>
            <a:ext cx="8077200" cy="514350"/>
            <a:chOff x="2057400" y="5619750"/>
            <a:chExt cx="8077200" cy="514350"/>
          </a:xfrm>
        </p:grpSpPr>
        <p:sp>
          <p:nvSpPr>
            <p:cNvPr id="70" name="Rectangle 70"/>
            <p:cNvSpPr/>
            <p:nvPr/>
          </p:nvSpPr>
          <p:spPr>
            <a:xfrm>
              <a:off x="2057400" y="5619750"/>
              <a:ext cx="8077200" cy="514350"/>
            </a:xfrm>
            <a:prstGeom prst="roundRect">
              <a:avLst>
                <a:gd name="adj" fmla="val 18519"/>
              </a:avLst>
            </a:prstGeom>
            <a:solidFill>
              <a:srgbClr val="142231"/>
            </a:solidFill>
            <a:ln w="9525">
              <a:solidFill>
                <a:srgbClr val="33E18A"/>
              </a:solidFill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2323148" y="5783104"/>
              <a:ext cx="7537942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33E18A"/>
                  </a:solidFill>
                  <a:latin typeface="Arial"/>
                  <a:ea typeface="Microsoft YaHei"/>
                  <a:cs typeface="Arial"/>
                </a:rPr>
                <a:t>路演表述：这是可部署 API 层；没有完整 IaC 前，不夸大成全量云原生平台。</a:t>
              </a:r>
            </a:p>
          </p:txBody>
        </p:sp>
      </p:grpSp>
      <p:sp>
        <p:nvSpPr>
          <p:cNvPr id="73" name="TextBox 73"/>
          <p:cNvSpPr txBox="1"/>
          <p:nvPr/>
        </p:nvSpPr>
        <p:spPr>
          <a:xfrm>
            <a:off x="595312" y="6298406"/>
            <a:ext cx="53113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5" dirty="0">
                <a:solidFill>
                  <a:srgbClr val="94A8BC"/>
                </a:solidFill>
                <a:latin typeface="Consolas"/>
                <a:ea typeface="Consolas"/>
                <a:cs typeface="Consolas"/>
              </a:rPr>
              <a:t>07 / 08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070B10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781050" y="685800"/>
              <a:ext cx="10629900" cy="5467350"/>
            </a:xfrm>
            <a:prstGeom prst="roundRect">
              <a:avLst>
                <a:gd name="adj" fmla="val 3833"/>
              </a:avLst>
            </a:prstGeom>
            <a:solidFill>
              <a:srgbClr val="101820"/>
            </a:solidFill>
            <a:ln w="9525">
              <a:solidFill>
                <a:srgbClr val="28455E"/>
              </a:solidFill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1215390" y="1110615"/>
            <a:ext cx="6071235" cy="2318385"/>
            <a:chOff x="1215390" y="1110615"/>
            <a:chExt cx="6071235" cy="2318385"/>
          </a:xfrm>
        </p:grpSpPr>
        <p:sp>
          <p:nvSpPr>
            <p:cNvPr id="5" name="TextBox 5"/>
            <p:cNvSpPr txBox="1"/>
            <p:nvPr/>
          </p:nvSpPr>
          <p:spPr>
            <a:xfrm>
              <a:off x="1215390" y="1110615"/>
              <a:ext cx="5212661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最终交付不是“模型回答”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228725" y="1719262"/>
              <a:ext cx="60579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而是一套可提交、可复核、可演示的资产包。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1257300" y="2266950"/>
              <a:ext cx="5143500" cy="47625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62B8FF"/>
                </a:gs>
                <a:gs pos="100000">
                  <a:srgbClr val="33E18A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234440" y="2701290"/>
              <a:ext cx="5509260" cy="7277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850"/>
                </a:lnSpc>
              </a:pPr>
              <a:r>
                <a:rPr lang="zh-CN" sz="1800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DraftOps 把高不确定的预测题，拆成可信数据工程、</a:t>
              </a:r>
              <a:r>
                <a:rPr lang="zh-CN" sz="1800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可复现 Agent 流程和可演示产品界面。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257300" y="3810000"/>
            <a:ext cx="9677400" cy="1200150"/>
            <a:chOff x="1257300" y="3810000"/>
            <a:chExt cx="9677400" cy="1200150"/>
          </a:xfrm>
        </p:grpSpPr>
        <p:sp>
          <p:nvSpPr>
            <p:cNvPr id="10" name="Rectangle 10"/>
            <p:cNvSpPr/>
            <p:nvPr/>
          </p:nvSpPr>
          <p:spPr>
            <a:xfrm>
              <a:off x="1257300" y="3810000"/>
              <a:ext cx="2781300" cy="1200150"/>
            </a:xfrm>
            <a:prstGeom prst="roundRect">
              <a:avLst>
                <a:gd name="adj" fmla="val 12698"/>
              </a:avLst>
            </a:prstGeom>
            <a:solidFill>
              <a:srgbClr val="142231"/>
            </a:solidFill>
            <a:ln w="9525">
              <a:solidFill>
                <a:srgbClr val="33E18A"/>
              </a:solidFill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1641475" y="4140994"/>
              <a:ext cx="241299" cy="271462"/>
              <a:chOff x="1641475" y="4140994"/>
              <a:chExt cx="241299" cy="271462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1641475" y="4140994"/>
                <a:ext cx="241299" cy="90487"/>
              </a:xfrm>
              <a:custGeom>
                <a:avLst/>
                <a:gdLst/>
                <a:ahLst/>
                <a:cxnLst/>
                <a:rect l="l" t="t" r="r" b="b"/>
                <a:pathLst>
                  <a:path w="241299" h="90487">
                    <a:moveTo>
                      <a:pt x="0" y="45244"/>
                    </a:moveTo>
                    <a:cubicBezTo>
                      <a:pt x="0" y="70231"/>
                      <a:pt x="54017" y="90487"/>
                      <a:pt x="120650" y="90487"/>
                    </a:cubicBezTo>
                    <a:cubicBezTo>
                      <a:pt x="187283" y="90487"/>
                      <a:pt x="241299" y="70231"/>
                      <a:pt x="241299" y="45244"/>
                    </a:cubicBezTo>
                    <a:cubicBezTo>
                      <a:pt x="241299" y="20256"/>
                      <a:pt x="187283" y="0"/>
                      <a:pt x="120650" y="0"/>
                    </a:cubicBezTo>
                    <a:cubicBezTo>
                      <a:pt x="54017" y="0"/>
                      <a:pt x="0" y="20256"/>
                      <a:pt x="0" y="45244"/>
                    </a:cubicBez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641475" y="4186237"/>
                <a:ext cx="241299" cy="135731"/>
              </a:xfrm>
              <a:custGeom>
                <a:avLst/>
                <a:gdLst/>
                <a:ahLst/>
                <a:cxnLst/>
                <a:rect l="l" t="t" r="r" b="b"/>
                <a:pathLst>
                  <a:path w="241299" h="135731">
                    <a:moveTo>
                      <a:pt x="0" y="0"/>
                    </a:moveTo>
                    <a:lnTo>
                      <a:pt x="0" y="90487"/>
                    </a:lnTo>
                    <a:cubicBezTo>
                      <a:pt x="0" y="115475"/>
                      <a:pt x="54017" y="135731"/>
                      <a:pt x="120650" y="135731"/>
                    </a:cubicBezTo>
                    <a:cubicBezTo>
                      <a:pt x="187283" y="135731"/>
                      <a:pt x="241299" y="115475"/>
                      <a:pt x="241299" y="90487"/>
                    </a:cubicBezTo>
                    <a:lnTo>
                      <a:pt x="241299" y="0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1641475" y="4276725"/>
                <a:ext cx="241299" cy="135731"/>
              </a:xfrm>
              <a:custGeom>
                <a:avLst/>
                <a:gdLst/>
                <a:ahLst/>
                <a:cxnLst/>
                <a:rect l="l" t="t" r="r" b="b"/>
                <a:pathLst>
                  <a:path w="241299" h="135731">
                    <a:moveTo>
                      <a:pt x="0" y="0"/>
                    </a:moveTo>
                    <a:lnTo>
                      <a:pt x="0" y="90487"/>
                    </a:lnTo>
                    <a:cubicBezTo>
                      <a:pt x="0" y="115475"/>
                      <a:pt x="54017" y="135731"/>
                      <a:pt x="120650" y="135731"/>
                    </a:cubicBezTo>
                    <a:cubicBezTo>
                      <a:pt x="187283" y="135731"/>
                      <a:pt x="241299" y="115475"/>
                      <a:pt x="241299" y="90487"/>
                    </a:cubicBezTo>
                    <a:lnTo>
                      <a:pt x="241299" y="0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2088832" y="4143851"/>
              <a:ext cx="1185577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5" b="1" dirty="0">
                  <a:solidFill>
                    <a:srgbClr val="33E18A"/>
                  </a:solidFill>
                  <a:latin typeface="Arial"/>
                  <a:ea typeface="Microsoft YaHei"/>
                  <a:cs typeface="Arial"/>
                </a:rPr>
                <a:t>可信数据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565910" y="4594860"/>
              <a:ext cx="197472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官方原始包 + 多层审计产物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4705350" y="3810000"/>
              <a:ext cx="2781300" cy="1200150"/>
            </a:xfrm>
            <a:prstGeom prst="roundRect">
              <a:avLst>
                <a:gd name="adj" fmla="val 12698"/>
              </a:avLst>
            </a:prstGeom>
            <a:solidFill>
              <a:srgbClr val="142231"/>
            </a:solidFill>
            <a:ln w="9525">
              <a:solidFill>
                <a:srgbClr val="62B8FF"/>
              </a:solidFill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5074444" y="4186237"/>
              <a:ext cx="271462" cy="180975"/>
              <a:chOff x="5074444" y="4186237"/>
              <a:chExt cx="271462" cy="180975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5180012" y="4246562"/>
                <a:ext cx="603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60325" h="60325">
                    <a:moveTo>
                      <a:pt x="0" y="30162"/>
                    </a:moveTo>
                    <a:cubicBezTo>
                      <a:pt x="0" y="46821"/>
                      <a:pt x="13504" y="60325"/>
                      <a:pt x="30162" y="60325"/>
                    </a:cubicBezTo>
                    <a:cubicBezTo>
                      <a:pt x="46821" y="60325"/>
                      <a:pt x="60325" y="46821"/>
                      <a:pt x="60325" y="30162"/>
                    </a:cubicBezTo>
                    <a:cubicBezTo>
                      <a:pt x="60325" y="13504"/>
                      <a:pt x="46821" y="0"/>
                      <a:pt x="30162" y="0"/>
                    </a:cubicBezTo>
                    <a:cubicBezTo>
                      <a:pt x="13504" y="0"/>
                      <a:pt x="0" y="13504"/>
                      <a:pt x="0" y="30162"/>
                    </a:cubicBez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5074444" y="4186237"/>
                <a:ext cx="271462" cy="180975"/>
              </a:xfrm>
              <a:custGeom>
                <a:avLst/>
                <a:gdLst/>
                <a:ahLst/>
                <a:cxnLst/>
                <a:rect l="l" t="t" r="r" b="b"/>
                <a:pathLst>
                  <a:path w="271462" h="180975">
                    <a:moveTo>
                      <a:pt x="271462" y="90487"/>
                    </a:moveTo>
                    <a:cubicBezTo>
                      <a:pt x="235267" y="150812"/>
                      <a:pt x="190023" y="180975"/>
                      <a:pt x="135731" y="180975"/>
                    </a:cubicBezTo>
                    <a:cubicBezTo>
                      <a:pt x="81439" y="180975"/>
                      <a:pt x="36195" y="150812"/>
                      <a:pt x="0" y="90487"/>
                    </a:cubicBezTo>
                    <a:cubicBezTo>
                      <a:pt x="36195" y="30162"/>
                      <a:pt x="81439" y="0"/>
                      <a:pt x="135731" y="0"/>
                    </a:cubicBezTo>
                    <a:cubicBezTo>
                      <a:pt x="190023" y="0"/>
                      <a:pt x="235267" y="30162"/>
                      <a:pt x="271462" y="90487"/>
                    </a:cubicBez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</p:grpSp>
        <p:sp>
          <p:nvSpPr>
            <p:cNvPr id="21" name="TextBox 21"/>
            <p:cNvSpPr txBox="1"/>
            <p:nvPr/>
          </p:nvSpPr>
          <p:spPr>
            <a:xfrm>
              <a:off x="5536882" y="4143851"/>
              <a:ext cx="1469112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5" b="1" dirty="0">
                  <a:solidFill>
                    <a:srgbClr val="62B8FF"/>
                  </a:solidFill>
                  <a:latin typeface="Arial"/>
                  <a:ea typeface="Microsoft YaHei"/>
                  <a:cs typeface="Arial"/>
                </a:rPr>
                <a:t>可解释预测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013960" y="4594860"/>
              <a:ext cx="19507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证据、风险、适配、备选项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8153400" y="3810000"/>
              <a:ext cx="2781300" cy="1200150"/>
            </a:xfrm>
            <a:prstGeom prst="roundRect">
              <a:avLst>
                <a:gd name="adj" fmla="val 12698"/>
              </a:avLst>
            </a:prstGeom>
            <a:solidFill>
              <a:srgbClr val="142231"/>
            </a:solidFill>
            <a:ln w="9525">
              <a:solidFill>
                <a:srgbClr val="FFD16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8552656" y="4140994"/>
              <a:ext cx="241299" cy="286543"/>
              <a:chOff x="8552656" y="4140994"/>
              <a:chExt cx="241299" cy="286543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8688387" y="4140994"/>
                <a:ext cx="75406" cy="75406"/>
              </a:xfrm>
              <a:custGeom>
                <a:avLst/>
                <a:gdLst/>
                <a:ahLst/>
                <a:cxnLst/>
                <a:rect l="l" t="t" r="r" b="b"/>
                <a:pathLst>
                  <a:path w="75406" h="75406">
                    <a:moveTo>
                      <a:pt x="0" y="0"/>
                    </a:moveTo>
                    <a:lnTo>
                      <a:pt x="0" y="60325"/>
                    </a:lnTo>
                    <a:cubicBezTo>
                      <a:pt x="0" y="68654"/>
                      <a:pt x="6752" y="75406"/>
                      <a:pt x="15081" y="75406"/>
                    </a:cubicBezTo>
                    <a:lnTo>
                      <a:pt x="75406" y="75406"/>
                    </a:ln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8552656" y="4140994"/>
                <a:ext cx="241299" cy="286543"/>
              </a:xfrm>
              <a:custGeom>
                <a:avLst/>
                <a:gdLst/>
                <a:ahLst/>
                <a:cxnLst/>
                <a:rect l="l" t="t" r="r" b="b"/>
                <a:pathLst>
                  <a:path w="241299" h="286543">
                    <a:moveTo>
                      <a:pt x="98028" y="271462"/>
                    </a:moveTo>
                    <a:lnTo>
                      <a:pt x="30162" y="271462"/>
                    </a:lnTo>
                    <a:cubicBezTo>
                      <a:pt x="13504" y="271462"/>
                      <a:pt x="0" y="257958"/>
                      <a:pt x="0" y="241299"/>
                    </a:cubicBezTo>
                    <a:lnTo>
                      <a:pt x="0" y="30162"/>
                    </a:lnTo>
                    <a:cubicBezTo>
                      <a:pt x="0" y="13504"/>
                      <a:pt x="13504" y="0"/>
                      <a:pt x="30162" y="0"/>
                    </a:cubicBezTo>
                    <a:lnTo>
                      <a:pt x="135731" y="0"/>
                    </a:lnTo>
                    <a:lnTo>
                      <a:pt x="211137" y="75406"/>
                    </a:lnTo>
                    <a:lnTo>
                      <a:pt x="211137" y="150812"/>
                    </a:lnTo>
                    <a:moveTo>
                      <a:pt x="135731" y="241299"/>
                    </a:moveTo>
                    <a:lnTo>
                      <a:pt x="241299" y="241299"/>
                    </a:lnTo>
                    <a:moveTo>
                      <a:pt x="196056" y="196056"/>
                    </a:moveTo>
                    <a:lnTo>
                      <a:pt x="241299" y="241299"/>
                    </a:lnTo>
                    <a:lnTo>
                      <a:pt x="196056" y="286543"/>
                    </a:ln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8984932" y="4143851"/>
              <a:ext cx="1469112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5" b="1" dirty="0">
                  <a:solidFill>
                    <a:srgbClr val="FFD166"/>
                  </a:solidFill>
                  <a:latin typeface="Arial"/>
                  <a:ea typeface="Microsoft YaHei"/>
                  <a:cs typeface="Arial"/>
                </a:rPr>
                <a:t>可提交系统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462010" y="4594860"/>
              <a:ext cx="203873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PPT、brief、JSON、答题卡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257300" y="5429250"/>
            <a:ext cx="9677400" cy="476250"/>
            <a:chOff x="1257300" y="5429250"/>
            <a:chExt cx="9677400" cy="476250"/>
          </a:xfrm>
        </p:grpSpPr>
        <p:sp>
          <p:nvSpPr>
            <p:cNvPr id="30" name="Rectangle 30"/>
            <p:cNvSpPr/>
            <p:nvPr/>
          </p:nvSpPr>
          <p:spPr>
            <a:xfrm>
              <a:off x="1257300" y="5429250"/>
              <a:ext cx="9677400" cy="476250"/>
            </a:xfrm>
            <a:prstGeom prst="roundRect">
              <a:avLst>
                <a:gd name="adj" fmla="val 20000"/>
              </a:avLst>
            </a:prstGeom>
            <a:solidFill>
              <a:srgbClr val="142231"/>
            </a:solidFill>
            <a:ln w="9525">
              <a:solidFill>
                <a:srgbClr val="28455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561148" y="5564029"/>
              <a:ext cx="1363170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一句话总结：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780348" y="5564029"/>
              <a:ext cx="5290661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让预测结果能被解释、被审计，并按比赛要求稳定提交。</a:t>
              </a:r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595312" y="6298406"/>
            <a:ext cx="53113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5" dirty="0">
                <a:solidFill>
                  <a:srgbClr val="94A8BC"/>
                </a:solidFill>
                <a:latin typeface="Consolas"/>
                <a:ea typeface="Consolas"/>
                <a:cs typeface="Consolas"/>
              </a:rPr>
              <a:t>08 / 08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2026-06-23T16:37:10Z</dcterms:created>
  <dcterms:modified xsi:type="dcterms:W3CDTF">2026-06-23T16:37:10Z</dcterms:modified>
  <cp:category/>
  <cp:contentStatus/>
</cp:coreProperties>
</file>