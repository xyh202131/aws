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这一页先给评委一个直观印象：DraftOps 不是一张静态名单，而是一个可以查看、复核、导出的选秀预测驾驶舱。我们把官方数据、外部选秀信号、球队上下文和 Agent 证据统一到一个可运行界面里。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比赛不是简单猜 30 个名字。它同时考察预测结果、里程碑问题、代码质量和 6 分钟路演。难点在于数据多、信息会变化、预测要可解释，并且最后不能靠人工拍脑袋改名单。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我们的第一层工作是建立可信数据链路。官方原始文件只读保存，外部来源进入 raw 登记，再经过 normalized、clean、final、boards 多层产物，最后由前端读取和导出。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Agent 协作不是大家一起聊天，而是每个 Agent 负责一个清晰环节。数据采集不直接改结果，预测生成不直接采集来源，最终由 Supervisor 和提交检查把结构、证据、重复、空值和规则边界统一验收。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逻辑可以讲得很直白：对每一个球队和球员组合打分，再按真实选秀顺序从第一顺位到第三十顺位依次选择。选中后移出候选池，所以不会重复。分数来自共识、球队需求、球员能力、上限、热度和风险惩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这一页用真实截图证明系统已经跑起来。左侧可以看到 30 顺位完整预测板，右侧可以看到单个球员的证据、风险、适配和来源，顶部还能导出路演简报和提交结果。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AWS/RAG 层让系统不仅能展示结果，还能回答比赛相关问题。S3 保存 RAG 索引和标准化文件，DynamoDB 保存球员特征，Lambda/API 负责只读问答入口，检索层再把证据交给 DeepSeek 或 Bedrock。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最后回到交付价值：我们提交的不是一段模型回答，而是一套可复核资产，包括锁定预测板、里程碑答案、填好的答题卡、前端演示、代码仓库、RAG 同步和验证报告。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9ac74e167830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dc842a1e985900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70B10"/>
                </a:gs>
                <a:gs pos="100000">
                  <a:srgbClr val="10203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19100"/>
              <a:ext cx="11391900" cy="6019800"/>
            </a:xfrm>
            <a:prstGeom prst="roundRect">
              <a:avLst>
                <a:gd name="adj" fmla="val 2848"/>
              </a:avLst>
            </a:prstGeom>
            <a:solidFill>
              <a:srgbClr val="101820">
                <a:alpha val="78000"/>
              </a:srgbClr>
            </a:solidFill>
            <a:ln w="14288">
              <a:solidFill>
                <a:srgbClr val="28455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66750" y="742950"/>
            <a:ext cx="5410200" cy="3226594"/>
            <a:chOff x="666750" y="742950"/>
            <a:chExt cx="5410200" cy="3226594"/>
          </a:xfrm>
        </p:grpSpPr>
        <p:sp>
          <p:nvSpPr>
            <p:cNvPr id="5" name="Ellipse 5"/>
            <p:cNvSpPr/>
            <p:nvPr/>
          </p:nvSpPr>
          <p:spPr>
            <a:xfrm>
              <a:off x="666750" y="742950"/>
              <a:ext cx="647700" cy="647700"/>
            </a:xfrm>
            <a:prstGeom prst="ellipse">
              <a:avLst/>
            </a:prstGeom>
            <a:solidFill>
              <a:srgbClr val="142231"/>
            </a:solidFill>
            <a:ln w="19050">
              <a:solidFill>
                <a:srgbClr val="62B8FF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3437" y="909637"/>
              <a:ext cx="314325" cy="314325"/>
              <a:chOff x="833437" y="909637"/>
              <a:chExt cx="314325" cy="3143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33437" y="909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0"/>
                    </a:moveTo>
                    <a:lnTo>
                      <a:pt x="221773" y="22177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713" y="955913"/>
                <a:ext cx="221773" cy="221773"/>
              </a:xfrm>
              <a:custGeom>
                <a:avLst/>
                <a:gdLst/>
                <a:ahLst/>
                <a:cxnLst/>
                <a:rect l="l" t="t" r="r" b="b"/>
                <a:pathLst>
                  <a:path w="221773" h="221773">
                    <a:moveTo>
                      <a:pt x="0" y="221773"/>
                    </a:moveTo>
                    <a:lnTo>
                      <a:pt x="22177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0600" y="909637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0" y="86798"/>
                      <a:pt x="70364" y="157162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7" y="1066800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0"/>
                    </a:moveTo>
                    <a:cubicBezTo>
                      <a:pt x="86798" y="0"/>
                      <a:pt x="157162" y="70364"/>
                      <a:pt x="157162" y="157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50658" y="852964"/>
              <a:ext cx="28173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AWS × NBA Competition Roadshow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990" y="1482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DraftOps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249805"/>
              <a:ext cx="51219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面向 2026 NBA 选秀的 Agent 预测驾驶舱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876550"/>
              <a:ext cx="5334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9138" y="3226594"/>
              <a:ext cx="4893469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把可信数据链路、多 Agent 复核和可解释算法</a:t>
              </a:r>
              <a:r>
                <a:rPr lang="zh-CN" sz="187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收束成一套可提交的首轮预测系统。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24700" y="781050"/>
            <a:ext cx="4171950" cy="2876550"/>
            <a:chOff x="7124700" y="781050"/>
            <a:chExt cx="4171950" cy="2876550"/>
          </a:xfrm>
        </p:grpSpPr>
        <p:sp>
          <p:nvSpPr>
            <p:cNvPr id="18" name="Rectangle 18"/>
            <p:cNvSpPr/>
            <p:nvPr/>
          </p:nvSpPr>
          <p:spPr>
            <a:xfrm>
              <a:off x="7124700" y="781050"/>
              <a:ext cx="4171950" cy="2819400"/>
            </a:xfrm>
            <a:prstGeom prst="roundRect">
              <a:avLst>
                <a:gd name="adj" fmla="val 4730"/>
              </a:avLst>
            </a:prstGeom>
            <a:solidFill>
              <a:srgbClr val="070B10"/>
            </a:solidFill>
            <a:ln w="11430">
              <a:solidFill>
                <a:srgbClr val="28455E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3879" y="952500"/>
              <a:ext cx="3593592" cy="249555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7315200" y="952500"/>
              <a:ext cx="3790950" cy="2495550"/>
            </a:xfrm>
            <a:prstGeom prst="rect">
              <a:avLst/>
            </a:prstGeom>
            <a:solidFill>
              <a:srgbClr val="070B10">
                <a:alpha val="1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34450" y="3276600"/>
              <a:ext cx="1962150" cy="381000"/>
            </a:xfrm>
            <a:prstGeom prst="roundRect">
              <a:avLst>
                <a:gd name="adj" fmla="val 5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134475" y="3390900"/>
              <a:ext cx="171450" cy="161925"/>
              <a:chOff x="9134475" y="3390900"/>
              <a:chExt cx="171450" cy="1619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134475" y="33909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76200"/>
                    </a:moveTo>
                    <a:lnTo>
                      <a:pt x="171450" y="104775"/>
                    </a:lnTo>
                    <a:cubicBezTo>
                      <a:pt x="171450" y="110036"/>
                      <a:pt x="167186" y="114300"/>
                      <a:pt x="1619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172575" y="3543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9162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48775" y="3505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67825" y="3390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58300" y="33909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47625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395460" y="34042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真实界面截图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950" y="4572000"/>
            <a:ext cx="6781800" cy="895350"/>
            <a:chOff x="742950" y="4572000"/>
            <a:chExt cx="6781800" cy="895350"/>
          </a:xfrm>
        </p:grpSpPr>
        <p:sp>
          <p:nvSpPr>
            <p:cNvPr id="31" name="Rectangle 31"/>
            <p:cNvSpPr/>
            <p:nvPr/>
          </p:nvSpPr>
          <p:spPr>
            <a:xfrm>
              <a:off x="7429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6310" y="4718685"/>
              <a:ext cx="110821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4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完整预测板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55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89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124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27008" y="51582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本地候选池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2481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7186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RAG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608" y="5158264"/>
              <a:ext cx="9079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问答层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00750" y="4572000"/>
              <a:ext cx="1524000" cy="895350"/>
            </a:xfrm>
            <a:prstGeom prst="roundRect">
              <a:avLst>
                <a:gd name="adj" fmla="val 12766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14110" y="47186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32208" y="51582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27710" y="5890260"/>
            <a:ext cx="26388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8BC"/>
                </a:solidFill>
                <a:latin typeface="Arial"/>
                <a:ea typeface="Microsoft YaHei"/>
                <a:cs typeface="Arial"/>
              </a:rPr>
              <a:t>可信数据 / 可解释预测 / 可提交系统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259830" cy="844867"/>
            <a:chOff x="569595" y="402908"/>
            <a:chExt cx="625983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53466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比赛任务不是“猜名单”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38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同一套系统要同时交付预测结果、工程质量、路演表达和里程碑答案。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62100"/>
            <a:ext cx="10820400" cy="1447800"/>
            <a:chOff x="685800" y="1562100"/>
            <a:chExt cx="10820400" cy="14478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969" y="1850231"/>
              <a:ext cx="188913" cy="242889"/>
              <a:chOff x="1019969" y="1850231"/>
              <a:chExt cx="188913" cy="2428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19969" y="1877219"/>
                <a:ext cx="18891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1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8"/>
                      <a:pt x="12083" y="215901"/>
                      <a:pt x="26988" y="215901"/>
                    </a:cubicBezTo>
                    <a:lnTo>
                      <a:pt x="161925" y="215901"/>
                    </a:lnTo>
                    <a:cubicBezTo>
                      <a:pt x="176830" y="215901"/>
                      <a:pt x="188913" y="203818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3944" y="1850231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cubicBezTo>
                      <a:pt x="80963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3944" y="197167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2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87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代码质量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212" y="2621756"/>
              <a:ext cx="164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AWS 使用与 GitHub 提交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433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50481" y="1863725"/>
              <a:ext cx="242888" cy="225426"/>
              <a:chOff x="3850481" y="1863725"/>
              <a:chExt cx="242888" cy="2254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50481" y="1863725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63975" y="1863725"/>
                <a:ext cx="215901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61925">
                    <a:moveTo>
                      <a:pt x="0" y="0"/>
                    </a:moveTo>
                    <a:lnTo>
                      <a:pt x="0" y="134938"/>
                    </a:lnTo>
                    <a:cubicBezTo>
                      <a:pt x="0" y="149843"/>
                      <a:pt x="12083" y="161925"/>
                      <a:pt x="26988" y="161925"/>
                    </a:cubicBezTo>
                    <a:lnTo>
                      <a:pt x="188913" y="161925"/>
                    </a:lnTo>
                    <a:cubicBezTo>
                      <a:pt x="203818" y="161925"/>
                      <a:pt x="215901" y="149843"/>
                      <a:pt x="215901" y="134938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71925" y="20256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31444" y="2079626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917950" y="1917700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40481" y="13494"/>
                    </a:lnTo>
                    <a:lnTo>
                      <a:pt x="67469" y="40481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7699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262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现场路演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5712" y="26217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6 分钟讲清方法与产品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1562100"/>
              <a:ext cx="238125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707981" y="1850231"/>
              <a:ext cx="242888" cy="242888"/>
              <a:chOff x="6707981" y="18502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15932" y="195818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61956" y="190420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79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27495" y="2136458"/>
              <a:ext cx="8959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40%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3792" y="224266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里程碑预测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3212" y="26217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名单命中与客观题答案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58300" y="1562100"/>
              <a:ext cx="2247900" cy="1447800"/>
            </a:xfrm>
            <a:prstGeom prst="roundRect">
              <a:avLst>
                <a:gd name="adj" fmla="val 92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55933" y="1841094"/>
              <a:ext cx="257304" cy="252025"/>
              <a:chOff x="9555933" y="1841094"/>
              <a:chExt cx="257304" cy="252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555933" y="1841094"/>
                <a:ext cx="257304" cy="251864"/>
              </a:xfrm>
              <a:custGeom>
                <a:avLst/>
                <a:gdLst/>
                <a:ahLst/>
                <a:cxnLst/>
                <a:rect l="l" t="t" r="r" b="b"/>
                <a:pathLst>
                  <a:path w="257304" h="251864">
                    <a:moveTo>
                      <a:pt x="251654" y="144359"/>
                    </a:moveTo>
                    <a:cubicBezTo>
                      <a:pt x="257304" y="94875"/>
                      <a:pt x="232168" y="46958"/>
                      <a:pt x="188244" y="23479"/>
                    </a:cubicBezTo>
                    <a:cubicBezTo>
                      <a:pt x="144320" y="0"/>
                      <a:pt x="90513" y="5720"/>
                      <a:pt x="52507" y="37908"/>
                    </a:cubicBezTo>
                    <a:cubicBezTo>
                      <a:pt x="14500" y="70097"/>
                      <a:pt x="0" y="122228"/>
                      <a:pt x="15927" y="169418"/>
                    </a:cubicBezTo>
                    <a:cubicBezTo>
                      <a:pt x="31854" y="216608"/>
                      <a:pt x="74979" y="249290"/>
                      <a:pt x="124718" y="251864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86925" y="1904206"/>
                <a:ext cx="4048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107950">
                    <a:moveTo>
                      <a:pt x="0" y="0"/>
                    </a:moveTo>
                    <a:lnTo>
                      <a:pt x="0" y="67469"/>
                    </a:lnTo>
                    <a:lnTo>
                      <a:pt x="40481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27407" y="20391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84995" y="21364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24h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7492" y="22426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连续作战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0712" y="2621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变化监控与提交窗口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66800" y="3600450"/>
            <a:ext cx="10265949" cy="1695450"/>
            <a:chOff x="1066800" y="3600450"/>
            <a:chExt cx="10265949" cy="1695450"/>
          </a:xfrm>
        </p:grpSpPr>
        <p:sp>
          <p:nvSpPr>
            <p:cNvPr id="41" name="Rectangle 41"/>
            <p:cNvSpPr/>
            <p:nvPr/>
          </p:nvSpPr>
          <p:spPr>
            <a:xfrm>
              <a:off x="1066800" y="3600450"/>
              <a:ext cx="10058400" cy="1695450"/>
            </a:xfrm>
            <a:prstGeom prst="roundRect">
              <a:avLst>
                <a:gd name="adj" fmla="val 10112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21130" y="38309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四个设计难点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25892" y="4366736"/>
              <a:ext cx="41843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数据来源多，需要先统一成可验证证据。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25892" y="4747736"/>
              <a:ext cx="464439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预测会随签位、名单、伤病和新闻热度变化。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0342" y="4366736"/>
              <a:ext cx="385079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每个 pick 都要能解释风险和备选项。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0342" y="4747736"/>
              <a:ext cx="47824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结果必须由 Agent/脚本生成，不能人工换人。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5312" y="5734050"/>
            <a:ext cx="8605838" cy="792956"/>
            <a:chOff x="595312" y="5734050"/>
            <a:chExt cx="8605838" cy="792956"/>
          </a:xfrm>
        </p:grpSpPr>
        <p:sp>
          <p:nvSpPr>
            <p:cNvPr id="48" name="Rectangle 48"/>
            <p:cNvSpPr/>
            <p:nvPr/>
          </p:nvSpPr>
          <p:spPr>
            <a:xfrm>
              <a:off x="2990850" y="5734050"/>
              <a:ext cx="6210300" cy="457200"/>
            </a:xfrm>
            <a:prstGeom prst="roundRect">
              <a:avLst>
                <a:gd name="adj" fmla="val 20833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95650" y="5867400"/>
              <a:ext cx="53412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所以 PPT 要证明：数据可信、流程可复现、产品能提交。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5312" y="6298406"/>
              <a:ext cx="5311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5259705" cy="844867"/>
            <a:chOff x="569595" y="402908"/>
            <a:chExt cx="525970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49316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数据先可信，预测才可信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2387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原始材料不被直接改写，所有派生产物都进入可追溯链路。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1695450"/>
            <a:ext cx="10407377" cy="1200150"/>
            <a:chOff x="685800" y="1695450"/>
            <a:chExt cx="10407377" cy="1200150"/>
          </a:xfrm>
        </p:grpSpPr>
        <p:sp>
          <p:nvSpPr>
            <p:cNvPr id="6" name="Rectangle 6"/>
            <p:cNvSpPr/>
            <p:nvPr/>
          </p:nvSpPr>
          <p:spPr>
            <a:xfrm>
              <a:off x="685800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50925" y="2007394"/>
              <a:ext cx="241299" cy="271462"/>
              <a:chOff x="1050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50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50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50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82090" y="2015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官方数据包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5360" y="24803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数据/ 只读原始区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762250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295650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29000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779044" y="2007394"/>
              <a:ext cx="271462" cy="271462"/>
              <a:chOff x="3779044" y="20073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3779044" y="22185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90181" y="20073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2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2" y="603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809206" y="2037556"/>
                <a:ext cx="226218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8" h="211137">
                    <a:moveTo>
                      <a:pt x="90487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8" y="187505"/>
                      <a:pt x="226218" y="158353"/>
                    </a:cubicBezTo>
                    <a:cubicBezTo>
                      <a:pt x="226218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225290" y="20154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raw 登记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18560" y="2480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来源、时间、可信度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05450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038850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72200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537325" y="2022475"/>
              <a:ext cx="241300" cy="241300"/>
              <a:chOff x="6537325" y="2022475"/>
              <a:chExt cx="241300" cy="241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97650" y="2022475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7325" y="2082800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  <a:cubicBezTo>
                      <a:pt x="180975" y="167470"/>
                      <a:pt x="167470" y="180975"/>
                      <a:pt x="150812" y="180975"/>
                    </a:cubicBezTo>
                    <a:lnTo>
                      <a:pt x="30162" y="180975"/>
                    </a:lnTo>
                    <a:cubicBezTo>
                      <a:pt x="13504" y="180975"/>
                      <a:pt x="0" y="167470"/>
                      <a:pt x="0" y="150812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968490" y="2015490"/>
              <a:ext cx="13562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normalized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1760" y="2480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名单、字段、口径统一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248650" y="2295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782050" y="22193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915400" y="1695450"/>
              <a:ext cx="20764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95606" y="2007394"/>
              <a:ext cx="211137" cy="271461"/>
              <a:chOff x="9295606" y="2007394"/>
              <a:chExt cx="211137" cy="2714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295606" y="2037556"/>
                <a:ext cx="21113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241299">
                    <a:moveTo>
                      <a:pt x="60325" y="0"/>
                    </a:moveTo>
                    <a:lnTo>
                      <a:pt x="30162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211137"/>
                    </a:lnTo>
                    <a:cubicBezTo>
                      <a:pt x="0" y="227795"/>
                      <a:pt x="13504" y="241299"/>
                      <a:pt x="30162" y="241299"/>
                    </a:cubicBezTo>
                    <a:lnTo>
                      <a:pt x="180975" y="241299"/>
                    </a:lnTo>
                    <a:cubicBezTo>
                      <a:pt x="197633" y="241299"/>
                      <a:pt x="211137" y="227795"/>
                      <a:pt x="211137" y="211137"/>
                    </a:cubicBezTo>
                    <a:lnTo>
                      <a:pt x="211137" y="30162"/>
                    </a:lnTo>
                    <a:cubicBezTo>
                      <a:pt x="211137" y="13504"/>
                      <a:pt x="197633" y="0"/>
                      <a:pt x="180975" y="0"/>
                    </a:cubicBezTo>
                    <a:lnTo>
                      <a:pt x="150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55931" y="2007394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7" y="13504"/>
                      <a:pt x="90487" y="30162"/>
                    </a:cubicBezTo>
                    <a:cubicBezTo>
                      <a:pt x="90487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355931" y="2143125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711690" y="2015490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clean/final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4960" y="2480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质检后进入预测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47750" y="3752850"/>
            <a:ext cx="10096500" cy="1390650"/>
            <a:chOff x="1047750" y="3752850"/>
            <a:chExt cx="10096500" cy="1390650"/>
          </a:xfrm>
        </p:grpSpPr>
        <p:sp>
          <p:nvSpPr>
            <p:cNvPr id="40" name="Rectangle 40"/>
            <p:cNvSpPr/>
            <p:nvPr/>
          </p:nvSpPr>
          <p:spPr>
            <a:xfrm>
              <a:off x="1047750" y="3752850"/>
              <a:ext cx="10096500" cy="1390650"/>
            </a:xfrm>
            <a:prstGeom prst="roundRect">
              <a:avLst>
                <a:gd name="adj" fmla="val 12329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83982" y="39533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当前验证状态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097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2105" y="4578668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30 picks / 0 重复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90525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97655" y="45786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本地候选池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00800" y="4457700"/>
              <a:ext cx="224790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205" y="4578668"/>
              <a:ext cx="11589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124 球员特征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96350" y="4457700"/>
              <a:ext cx="1885950" cy="400050"/>
            </a:xfrm>
            <a:prstGeom prst="roundRect">
              <a:avLst>
                <a:gd name="adj" fmla="val 19048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8755" y="4578668"/>
              <a:ext cx="1187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5 个 RAG 索引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38350" y="5619750"/>
            <a:ext cx="8115300" cy="514350"/>
            <a:chOff x="2038350" y="5619750"/>
            <a:chExt cx="8115300" cy="514350"/>
          </a:xfrm>
        </p:grpSpPr>
        <p:sp>
          <p:nvSpPr>
            <p:cNvPr id="51" name="Rectangle 51"/>
            <p:cNvSpPr/>
            <p:nvPr/>
          </p:nvSpPr>
          <p:spPr>
            <a:xfrm>
              <a:off x="2038350" y="5619750"/>
              <a:ext cx="81153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03145" y="5775008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模型回答前，先有证据结构；预测输出后，还能回到证据结构。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850206" cy="844867"/>
            <a:chOff x="569595" y="402908"/>
            <a:chExt cx="6850206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8502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多 Agent 协作：分工，而不是群聊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6218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每个 Agent 只交付结构化文件，Supervisor 用证据和规则统一验收。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6750" y="1562100"/>
            <a:ext cx="9582150" cy="1200150"/>
            <a:chOff x="666750" y="1562100"/>
            <a:chExt cx="9582150" cy="1200150"/>
          </a:xfrm>
        </p:grpSpPr>
        <p:sp>
          <p:nvSpPr>
            <p:cNvPr id="6" name="Rectangle 6"/>
            <p:cNvSpPr/>
            <p:nvPr/>
          </p:nvSpPr>
          <p:spPr>
            <a:xfrm>
              <a:off x="666750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68375" y="1850231"/>
              <a:ext cx="215901" cy="242888"/>
              <a:chOff x="968375" y="1850231"/>
              <a:chExt cx="215901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68375" y="18502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8375" y="18907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8375" y="19716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95350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A1 采集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1065" y="2496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raw sources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968625" y="1863725"/>
              <a:ext cx="215900" cy="215900"/>
              <a:chOff x="2968625" y="1863725"/>
              <a:chExt cx="215900" cy="2159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022600" y="18637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968625" y="19177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895600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A2/A3 清洗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01315" y="24965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normalized / clean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67250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955381" y="1850231"/>
              <a:ext cx="242888" cy="242888"/>
              <a:chOff x="4955381" y="185023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076825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982369" y="19851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144294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76825" y="18502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55381" y="19311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82369" y="18502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895850" y="218122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A4/A5 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1565" y="24965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球员与球队偏好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67500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969125" y="1863725"/>
              <a:ext cx="215901" cy="215901"/>
              <a:chOff x="6969125" y="1863725"/>
              <a:chExt cx="215901" cy="21590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969125" y="19177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996113" y="18637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96113" y="19716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50088" y="19986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77075" y="18637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77075" y="20526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31051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158038" y="18637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58038" y="19311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896100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A6 参数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1815" y="2496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规则与场景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667750" y="1562100"/>
              <a:ext cx="158115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955881" y="1850231"/>
              <a:ext cx="242888" cy="242888"/>
              <a:chOff x="8955881" y="185023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955881" y="18502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009856" y="19042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144794" y="18772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077325" y="1985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052497" y="19530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118994" y="1927713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896350" y="2181225"/>
              <a:ext cx="752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A7 预测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02065" y="249650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locked board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247900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2533650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4248150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4533900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248400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6534150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8248650" y="21621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8534400" y="20859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00150" y="3562350"/>
            <a:ext cx="10475405" cy="1676400"/>
            <a:chOff x="1200150" y="3562350"/>
            <a:chExt cx="10475405" cy="1676400"/>
          </a:xfrm>
        </p:grpSpPr>
        <p:sp>
          <p:nvSpPr>
            <p:cNvPr id="61" name="Rectangle 61"/>
            <p:cNvSpPr/>
            <p:nvPr/>
          </p:nvSpPr>
          <p:spPr>
            <a:xfrm>
              <a:off x="120015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569251" y="3952875"/>
              <a:ext cx="310011" cy="285751"/>
              <a:chOff x="1569251" y="3952875"/>
              <a:chExt cx="310011" cy="28575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5692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7811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2087880" y="3945255"/>
              <a:ext cx="25673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Supervisor 守边界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2095" y="452723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缺来源、字段不完整、结构不合法，全部退回。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525905" y="48834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预测变化只能来自数据、参数、护栏或完整重跑。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15100" y="3562350"/>
              <a:ext cx="4476750" cy="1676400"/>
            </a:xfrm>
            <a:prstGeom prst="roundRect">
              <a:avLst>
                <a:gd name="adj" fmla="val 9091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937375" y="3952875"/>
              <a:ext cx="254001" cy="301626"/>
              <a:chOff x="6937375" y="3952875"/>
              <a:chExt cx="254001" cy="3016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80250" y="3952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37375" y="3952875"/>
                <a:ext cx="254001" cy="301626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301626">
                    <a:moveTo>
                      <a:pt x="103188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8750"/>
                    </a:lnTo>
                    <a:moveTo>
                      <a:pt x="142875" y="254001"/>
                    </a:moveTo>
                    <a:lnTo>
                      <a:pt x="254001" y="254001"/>
                    </a:lnTo>
                    <a:moveTo>
                      <a:pt x="206375" y="206375"/>
                    </a:moveTo>
                    <a:lnTo>
                      <a:pt x="254001" y="254001"/>
                    </a:lnTo>
                    <a:lnTo>
                      <a:pt x="206375" y="301626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402830" y="39452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前端只展示与导出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37045" y="4527232"/>
              <a:ext cx="48385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查看证据、风险、备选项，导出 JSON 和 brief。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0855" y="4883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不开放人工换人、人工调权、人工重排。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2200" y="5715000"/>
            <a:ext cx="7467600" cy="476250"/>
            <a:chOff x="2362200" y="5715000"/>
            <a:chExt cx="7467600" cy="476250"/>
          </a:xfrm>
        </p:grpSpPr>
        <p:sp>
          <p:nvSpPr>
            <p:cNvPr id="76" name="Rectangle 76"/>
            <p:cNvSpPr/>
            <p:nvPr/>
          </p:nvSpPr>
          <p:spPr>
            <a:xfrm>
              <a:off x="2362200" y="5715000"/>
              <a:ext cx="74676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666048" y="5849779"/>
              <a:ext cx="6677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这套流程把“模型可能胡说”的风险，压回到文件证据和脚本验证里。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6320940" cy="844867"/>
            <a:chOff x="569595" y="402908"/>
            <a:chExt cx="6320940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63209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预测算法：顺位贪心 + 风险校验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3687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对每个“球队-球员”组合打分，再按真实选秀顺序依次选择。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7750" y="1676400"/>
            <a:ext cx="10820400" cy="1333500"/>
            <a:chOff x="1047750" y="1676400"/>
            <a:chExt cx="10820400" cy="1333500"/>
          </a:xfrm>
        </p:grpSpPr>
        <p:sp>
          <p:nvSpPr>
            <p:cNvPr id="6" name="Rectangle 6"/>
            <p:cNvSpPr/>
            <p:nvPr/>
          </p:nvSpPr>
          <p:spPr>
            <a:xfrm>
              <a:off x="1047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431925" y="2007394"/>
              <a:ext cx="241299" cy="271462"/>
              <a:chOff x="1431925" y="2007394"/>
              <a:chExt cx="241299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31925" y="20073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31925" y="20526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31925" y="21431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881188" y="202644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构造候选池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4455" y="252126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球队顺位、球员特征、官方名单与外部信号。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339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672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051425" y="2022475"/>
              <a:ext cx="241299" cy="241300"/>
              <a:chOff x="5051425" y="2022475"/>
              <a:chExt cx="241299" cy="2413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5142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8158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08158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4191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17207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17207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23239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6256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500688" y="2026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逐队逐人打分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39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共识、需求、能力、潜力、热度和风险。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24750" y="23431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53400" y="2266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1676400"/>
              <a:ext cx="2857500" cy="1333500"/>
            </a:xfrm>
            <a:prstGeom prst="roundRect">
              <a:avLst>
                <a:gd name="adj" fmla="val 1142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55844" y="2007394"/>
              <a:ext cx="271462" cy="271462"/>
              <a:chOff x="8655844" y="2007394"/>
              <a:chExt cx="271462" cy="2714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655844" y="2007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6169" y="2067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866981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91575" y="2158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63825" y="2122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838145" y="2093990"/>
                <a:ext cx="42785" cy="69162"/>
              </a:xfrm>
              <a:custGeom>
                <a:avLst/>
                <a:gdLst/>
                <a:ahLst/>
                <a:cxnLst/>
                <a:rect l="l" t="t" r="r" b="b"/>
                <a:pathLst>
                  <a:path w="42785" h="69162">
                    <a:moveTo>
                      <a:pt x="0" y="69162"/>
                    </a:moveTo>
                    <a:lnTo>
                      <a:pt x="4278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20188" y="2026444"/>
              <a:ext cx="22529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输出 locked 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93455" y="25212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30 picks、无重复、含证据和 warning。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43000" y="3638550"/>
            <a:ext cx="9906000" cy="1016794"/>
            <a:chOff x="1143000" y="3638550"/>
            <a:chExt cx="9906000" cy="1016794"/>
          </a:xfrm>
        </p:grpSpPr>
        <p:sp>
          <p:nvSpPr>
            <p:cNvPr id="41" name="Rectangle 41"/>
            <p:cNvSpPr/>
            <p:nvPr/>
          </p:nvSpPr>
          <p:spPr>
            <a:xfrm>
              <a:off x="1143000" y="3638550"/>
              <a:ext cx="9906000" cy="990600"/>
            </a:xfrm>
            <a:prstGeom prst="roundRect">
              <a:avLst>
                <a:gd name="adj" fmla="val 17308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516856" y="3974306"/>
              <a:ext cx="300038" cy="300038"/>
              <a:chOff x="1516856" y="3974306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650206" y="41076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83531" y="40409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16856" y="39743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069782" y="4010501"/>
              <a:ext cx="59773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总分 = 共识 + 需求 + 能力 + 潜力 + 热度 - 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9308" y="4396264"/>
              <a:ext cx="55750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路演只展示影响因素，不暴露内部权重；权重仍由 Agent/脚本内部使用。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76400" y="5219700"/>
            <a:ext cx="9124950" cy="666750"/>
            <a:chOff x="1676400" y="5219700"/>
            <a:chExt cx="9124950" cy="666750"/>
          </a:xfrm>
        </p:grpSpPr>
        <p:sp>
          <p:nvSpPr>
            <p:cNvPr id="49" name="Rectangle 49"/>
            <p:cNvSpPr/>
            <p:nvPr/>
          </p:nvSpPr>
          <p:spPr>
            <a:xfrm>
              <a:off x="16764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983581" y="5438775"/>
              <a:ext cx="178595" cy="202406"/>
              <a:chOff x="1983581" y="5438775"/>
              <a:chExt cx="178595" cy="20240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83581" y="543877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090738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031206" y="54864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031206" y="553402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3241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无重复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07995" y="5441632"/>
              <a:ext cx="6469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30/30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0386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321969" y="5462588"/>
              <a:ext cx="214312" cy="142875"/>
              <a:chOff x="4321969" y="5462588"/>
              <a:chExt cx="214312" cy="1428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405312" y="55102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321969" y="546258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86300" y="5457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低置信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7019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8101" y="5426869"/>
              <a:ext cx="232508" cy="214312"/>
              <a:chOff x="6668101" y="5426869"/>
              <a:chExt cx="232508" cy="2143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8101" y="54268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27044" y="55935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0485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证据承载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1945" y="5441632"/>
              <a:ext cx="5259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2B8FF"/>
                  </a:solidFill>
                  <a:latin typeface="Consolas"/>
                  <a:ea typeface="Consolas"/>
                  <a:cs typeface="Consolas"/>
                </a:rPr>
                <a:t>PASS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63000" y="5219700"/>
              <a:ext cx="2038350" cy="666750"/>
            </a:xfrm>
            <a:prstGeom prst="roundRect">
              <a:avLst>
                <a:gd name="adj" fmla="val 17143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070181" y="5426869"/>
              <a:ext cx="166688" cy="214312"/>
              <a:chOff x="9070181" y="5426869"/>
              <a:chExt cx="166688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070181" y="552211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1619" y="556974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05900" y="5426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410700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人工换人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04145" y="544163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E18A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00050"/>
            <a:ext cx="8897302" cy="828675"/>
            <a:chOff x="571500" y="400050"/>
            <a:chExt cx="8897302" cy="828675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400050"/>
              <a:ext cx="889730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产品界面佐证：预测、证据、导出在同一驾驶舱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23925"/>
              <a:ext cx="57588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真实截图保留为 raster，旁边用可编辑标注解释它证明了什么。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428750"/>
            <a:ext cx="7029450" cy="4724400"/>
            <a:chOff x="590550" y="1428750"/>
            <a:chExt cx="7029450" cy="4724400"/>
          </a:xfrm>
        </p:grpSpPr>
        <p:sp>
          <p:nvSpPr>
            <p:cNvPr id="6" name="Rectangle 6"/>
            <p:cNvSpPr/>
            <p:nvPr/>
          </p:nvSpPr>
          <p:spPr>
            <a:xfrm>
              <a:off x="590550" y="1428750"/>
              <a:ext cx="7029450" cy="4724400"/>
            </a:xfrm>
            <a:prstGeom prst="roundRect">
              <a:avLst>
                <a:gd name="adj" fmla="val 3226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8027" y="1619250"/>
              <a:ext cx="6254496" cy="43434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962900" y="1466850"/>
            <a:ext cx="3505200" cy="1200150"/>
            <a:chOff x="7962900" y="1466850"/>
            <a:chExt cx="350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7962900" y="1466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038" y="1809750"/>
              <a:ext cx="214312" cy="242888"/>
              <a:chOff x="8301038" y="1809750"/>
              <a:chExt cx="214312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01038" y="18097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5" y="19954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58188" y="1866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88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722042" y="1814036"/>
              <a:ext cx="18311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30 顺位直接展开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3408" y="2243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完整性、低置信、锁定状态在顶部可见。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62900" y="2990850"/>
            <a:ext cx="3505200" cy="1200150"/>
            <a:chOff x="7962900" y="2990850"/>
            <a:chExt cx="35052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962900" y="2990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2462" y="3362325"/>
              <a:ext cx="257175" cy="171450"/>
              <a:chOff x="8272462" y="3362325"/>
              <a:chExt cx="25717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72475" y="34194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2462" y="33623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722042" y="3338036"/>
              <a:ext cx="162583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单 pick 可解释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3408" y="37676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证据、风险、适配、备选跟随球员切换。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62900" y="4514850"/>
            <a:ext cx="4159378" cy="1200150"/>
            <a:chOff x="7962900" y="4514850"/>
            <a:chExt cx="4159378" cy="1200150"/>
          </a:xfrm>
        </p:grpSpPr>
        <p:sp>
          <p:nvSpPr>
            <p:cNvPr id="25" name="Rectangle 25"/>
            <p:cNvSpPr/>
            <p:nvPr/>
          </p:nvSpPr>
          <p:spPr>
            <a:xfrm>
              <a:off x="7962900" y="4514850"/>
              <a:ext cx="3505200" cy="1200150"/>
            </a:xfrm>
            <a:prstGeom prst="roundRect">
              <a:avLst>
                <a:gd name="adj" fmla="val 11111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01038" y="4843462"/>
              <a:ext cx="228600" cy="271462"/>
              <a:chOff x="8301038" y="4843462"/>
              <a:chExt cx="228600" cy="27146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429625" y="48434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01038" y="4843462"/>
                <a:ext cx="228600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1462">
                    <a:moveTo>
                      <a:pt x="92869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142875"/>
                    </a:lnTo>
                    <a:moveTo>
                      <a:pt x="128588" y="228600"/>
                    </a:moveTo>
                    <a:lnTo>
                      <a:pt x="228600" y="228600"/>
                    </a:lnTo>
                    <a:moveTo>
                      <a:pt x="185738" y="185738"/>
                    </a:moveTo>
                    <a:lnTo>
                      <a:pt x="228600" y="228600"/>
                    </a:lnTo>
                    <a:lnTo>
                      <a:pt x="185738" y="271462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722042" y="48620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现场可导出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13408" y="5291614"/>
              <a:ext cx="39088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提交 JSON 与路演 brief 都从 locked board 生成。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29500" y="1990725"/>
            <a:ext cx="533400" cy="3200400"/>
            <a:chOff x="7429500" y="1990725"/>
            <a:chExt cx="533400" cy="3200400"/>
          </a:xfrm>
        </p:grpSpPr>
        <p:sp>
          <p:nvSpPr>
            <p:cNvPr id="32" name="Line 32"/>
            <p:cNvSpPr/>
            <p:nvPr/>
          </p:nvSpPr>
          <p:spPr>
            <a:xfrm>
              <a:off x="7429500" y="2066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3E18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429500" y="1990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33E18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7429500" y="3590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429500" y="3514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429500" y="51149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D166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429500" y="50387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D16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9595" y="402908"/>
            <a:ext cx="7158945" cy="844867"/>
            <a:chOff x="569595" y="402908"/>
            <a:chExt cx="7158945" cy="844867"/>
          </a:xfrm>
        </p:grpSpPr>
        <p:sp>
          <p:nvSpPr>
            <p:cNvPr id="3" name="TextBox 3"/>
            <p:cNvSpPr txBox="1"/>
            <p:nvPr/>
          </p:nvSpPr>
          <p:spPr>
            <a:xfrm>
              <a:off x="569595" y="402908"/>
              <a:ext cx="71589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AWS/RAG：可回答、能部署、可追溯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42975"/>
              <a:ext cx="5838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前端展示结果，Lambda/API 和 RAG 层负责只读问答与证据检索。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0100" y="1600200"/>
            <a:ext cx="9467850" cy="1066800"/>
            <a:chOff x="800100" y="1600200"/>
            <a:chExt cx="9467850" cy="1066800"/>
          </a:xfrm>
        </p:grpSpPr>
        <p:sp>
          <p:nvSpPr>
            <p:cNvPr id="6" name="Rectangle 6"/>
            <p:cNvSpPr/>
            <p:nvPr/>
          </p:nvSpPr>
          <p:spPr>
            <a:xfrm>
              <a:off x="800100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88231" y="1901825"/>
              <a:ext cx="242889" cy="225426"/>
              <a:chOff x="1088231" y="1901825"/>
              <a:chExt cx="242889" cy="22542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88231" y="1901825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107950"/>
                    </a:moveTo>
                    <a:lnTo>
                      <a:pt x="242888" y="148432"/>
                    </a:lnTo>
                    <a:cubicBezTo>
                      <a:pt x="242888" y="155884"/>
                      <a:pt x="236847" y="161925"/>
                      <a:pt x="229394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42206" y="2117726"/>
                <a:ext cx="1349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9525">
                    <a:moveTo>
                      <a:pt x="0" y="0"/>
                    </a:move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9194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50157" y="206375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77144" y="190182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0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63651" y="1901825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67469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83995" y="18983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231695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预测板 / 证据 / 导出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09850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219450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52800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654425" y="1955800"/>
              <a:ext cx="225426" cy="107950"/>
              <a:chOff x="3654425" y="1955800"/>
              <a:chExt cx="225426" cy="1079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654425" y="2023269"/>
                <a:ext cx="67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9525">
                    <a:moveTo>
                      <a:pt x="0" y="0"/>
                    </a:move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762375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0" y="107950"/>
                    </a:moveTo>
                    <a:lnTo>
                      <a:pt x="0" y="0"/>
                    </a:lnTo>
                    <a:lnTo>
                      <a:pt x="40481" y="0"/>
                    </a:lnTo>
                    <a:cubicBezTo>
                      <a:pt x="55386" y="0"/>
                      <a:pt x="67469" y="12083"/>
                      <a:pt x="67469" y="26988"/>
                    </a:cubicBezTo>
                    <a:lnTo>
                      <a:pt x="67469" y="40481"/>
                    </a:lnTo>
                    <a:cubicBezTo>
                      <a:pt x="67469" y="55386"/>
                      <a:pt x="55386" y="67469"/>
                      <a:pt x="40481" y="67469"/>
                    </a:cubicBezTo>
                    <a:lnTo>
                      <a:pt x="0" y="67469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870326" y="195580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654425" y="1955800"/>
                <a:ext cx="6746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07950">
                    <a:moveTo>
                      <a:pt x="67469" y="107950"/>
                    </a:moveTo>
                    <a:lnTo>
                      <a:pt x="67469" y="33734"/>
                    </a:lnTo>
                    <a:cubicBezTo>
                      <a:pt x="67469" y="15103"/>
                      <a:pt x="52365" y="0"/>
                      <a:pt x="33734" y="0"/>
                    </a:cubicBezTo>
                    <a:cubicBezTo>
                      <a:pt x="15103" y="0"/>
                      <a:pt x="0" y="15103"/>
                      <a:pt x="0" y="33734"/>
                    </a:cubicBez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036695" y="18983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Agent 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86162" y="231695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Lambda / local proxy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162550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5772150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905500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193631" y="1888331"/>
              <a:ext cx="242888" cy="242888"/>
              <a:chOff x="6193631" y="1888331"/>
              <a:chExt cx="242888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193631" y="20772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382544" y="18883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220619" y="191531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589395" y="1898332"/>
              <a:ext cx="1185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RAG 检索层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38862" y="2316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ranking / MMR / fallback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715250" y="21336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62B8FF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324850" y="2057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2B8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458200" y="1600200"/>
              <a:ext cx="1809750" cy="1066800"/>
            </a:xfrm>
            <a:prstGeom prst="roundRect">
              <a:avLst>
                <a:gd name="adj" fmla="val 125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746331" y="1888331"/>
              <a:ext cx="242888" cy="242888"/>
              <a:chOff x="8746331" y="1888331"/>
              <a:chExt cx="242888" cy="24288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867775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2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73319" y="20232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2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935244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2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867775" y="18883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2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46331" y="19692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73319" y="18883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2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142095" y="18983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91562" y="23169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94A8BC"/>
                  </a:solidFill>
                  <a:latin typeface="Arial"/>
                  <a:ea typeface="Arial"/>
                  <a:cs typeface="Arial"/>
                </a:rPr>
                <a:t>DeepSeek / Bedrock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00150" y="3581400"/>
            <a:ext cx="9999225" cy="1428750"/>
            <a:chOff x="1200150" y="3581400"/>
            <a:chExt cx="9999225" cy="1428750"/>
          </a:xfrm>
        </p:grpSpPr>
        <p:sp>
          <p:nvSpPr>
            <p:cNvPr id="48" name="Rectangle 48"/>
            <p:cNvSpPr/>
            <p:nvPr/>
          </p:nvSpPr>
          <p:spPr>
            <a:xfrm>
              <a:off x="12001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574800" y="397970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62B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9785" y="3961448"/>
              <a:ext cx="1523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S3 索引文件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2095" y="4451032"/>
              <a:ext cx="2675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2B8FF"/>
                  </a:solidFill>
                  <a:latin typeface="Arial"/>
                  <a:ea typeface="Arial"/>
                  <a:cs typeface="Arial"/>
                </a:rPr>
                <a:t>5 indexes / 1336 chunks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8762" y="4774406"/>
              <a:ext cx="37115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board、team、prospect、milestone、architecture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672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057775" y="3968750"/>
              <a:ext cx="285751" cy="254000"/>
              <a:chOff x="5057775" y="3968750"/>
              <a:chExt cx="285751" cy="254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057775" y="3968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57775" y="409575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79375"/>
                    </a:lnTo>
                    <a:cubicBezTo>
                      <a:pt x="285751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121275" y="403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21275" y="4159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556885" y="3961448"/>
              <a:ext cx="13054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7F2FF"/>
                  </a:solidFill>
                  <a:latin typeface="Arial"/>
                  <a:ea typeface="Arial"/>
                  <a:cs typeface="Arial"/>
                </a:rPr>
                <a:t>DynamoDB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89195" y="4451032"/>
              <a:ext cx="23406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3E18A"/>
                  </a:solidFill>
                  <a:latin typeface="Arial"/>
                  <a:ea typeface="Arial"/>
                  <a:cs typeface="Arial"/>
                </a:rPr>
                <a:t>124 feature records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95862" y="477440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球员身体、测量、参考评分和嵌套特征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34350" y="35814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503451" y="3952875"/>
              <a:ext cx="310011" cy="285751"/>
              <a:chOff x="8503451" y="3952875"/>
              <a:chExt cx="310011" cy="2857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3451" y="39528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75" y="41751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023985" y="3961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只读护栏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56295" y="4451032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D166"/>
                  </a:solidFill>
                  <a:latin typeface="Arial"/>
                  <a:ea typeface="Arial"/>
                  <a:cs typeface="Arial"/>
                </a:rPr>
                <a:t>weak evidence aware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2962" y="4774406"/>
              <a:ext cx="27364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不直接改代码、换人、提交或覆盖 board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2057400" y="5619750"/>
            <a:ext cx="8077200" cy="514350"/>
            <a:chOff x="2057400" y="5619750"/>
            <a:chExt cx="8077200" cy="514350"/>
          </a:xfrm>
        </p:grpSpPr>
        <p:sp>
          <p:nvSpPr>
            <p:cNvPr id="70" name="Rectangle 70"/>
            <p:cNvSpPr/>
            <p:nvPr/>
          </p:nvSpPr>
          <p:spPr>
            <a:xfrm>
              <a:off x="2057400" y="5619750"/>
              <a:ext cx="8077200" cy="514350"/>
            </a:xfrm>
            <a:prstGeom prst="roundRect">
              <a:avLst>
                <a:gd name="adj" fmla="val 18519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23148" y="5783104"/>
              <a:ext cx="75379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路演表述：这是可部署 API 层；没有完整 IaC 前，不夸大成全量云原生平台。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0B1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81050" y="685800"/>
              <a:ext cx="10629900" cy="5467350"/>
            </a:xfrm>
            <a:prstGeom prst="roundRect">
              <a:avLst>
                <a:gd name="adj" fmla="val 3833"/>
              </a:avLst>
            </a:prstGeom>
            <a:solidFill>
              <a:srgbClr val="101820"/>
            </a:solidFill>
            <a:ln w="9525">
              <a:solidFill>
                <a:srgbClr val="28455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15390" y="1110615"/>
            <a:ext cx="6071235" cy="2318385"/>
            <a:chOff x="1215390" y="1110615"/>
            <a:chExt cx="6071235" cy="2318385"/>
          </a:xfrm>
        </p:grpSpPr>
        <p:sp>
          <p:nvSpPr>
            <p:cNvPr id="5" name="TextBox 5"/>
            <p:cNvSpPr txBox="1"/>
            <p:nvPr/>
          </p:nvSpPr>
          <p:spPr>
            <a:xfrm>
              <a:off x="1215390" y="1110615"/>
              <a:ext cx="521266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最终交付不是“模型回答”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8725" y="1719262"/>
              <a:ext cx="6057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而是一套可提交、可复核、可演示的资产包。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57300" y="2266950"/>
              <a:ext cx="51435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2B8FF"/>
                </a:gs>
                <a:gs pos="100000">
                  <a:srgbClr val="33E18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2701290"/>
              <a:ext cx="550926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DraftOps 把高不确定的预测题，拆成可信数据工程、</a:t>
              </a:r>
              <a:r>
                <a:rPr lang="zh-CN" sz="1800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可复现 Agent 流程和可演示产品界面。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" y="3810000"/>
            <a:ext cx="9677400" cy="1200150"/>
            <a:chOff x="1257300" y="3810000"/>
            <a:chExt cx="9677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12573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33E18A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41475" y="4140994"/>
              <a:ext cx="241299" cy="271462"/>
              <a:chOff x="1641475" y="4140994"/>
              <a:chExt cx="241299" cy="2714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41475" y="4140994"/>
                <a:ext cx="24129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4186237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1475" y="4276725"/>
                <a:ext cx="241299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33E18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88832" y="41438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33E18A"/>
                  </a:solidFill>
                  <a:latin typeface="Arial"/>
                  <a:ea typeface="Microsoft YaHei"/>
                  <a:cs typeface="Arial"/>
                </a:rPr>
                <a:t>可信数据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5910" y="4594860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官方原始包 + 多层审计产物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0535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62B8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074444" y="4186237"/>
              <a:ext cx="271462" cy="180975"/>
              <a:chOff x="5074444" y="4186237"/>
              <a:chExt cx="271462" cy="1809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80012" y="424656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074444" y="4186237"/>
                <a:ext cx="2714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80975">
                    <a:moveTo>
                      <a:pt x="271462" y="90487"/>
                    </a:moveTo>
                    <a:cubicBezTo>
                      <a:pt x="235267" y="150812"/>
                      <a:pt x="190023" y="180975"/>
                      <a:pt x="135731" y="180975"/>
                    </a:cubicBezTo>
                    <a:cubicBezTo>
                      <a:pt x="81439" y="180975"/>
                      <a:pt x="36195" y="150812"/>
                      <a:pt x="0" y="90487"/>
                    </a:cubicBezTo>
                    <a:cubicBezTo>
                      <a:pt x="36195" y="30162"/>
                      <a:pt x="81439" y="0"/>
                      <a:pt x="135731" y="0"/>
                    </a:cubicBezTo>
                    <a:cubicBezTo>
                      <a:pt x="190023" y="0"/>
                      <a:pt x="235267" y="30162"/>
                      <a:pt x="271462" y="90487"/>
                    </a:cubicBezTo>
                  </a:path>
                </a:pathLst>
              </a:custGeom>
              <a:noFill/>
              <a:ln w="19050">
                <a:solidFill>
                  <a:srgbClr val="62B8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53688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2B8FF"/>
                  </a:solidFill>
                  <a:latin typeface="Arial"/>
                  <a:ea typeface="Microsoft YaHei"/>
                  <a:cs typeface="Arial"/>
                </a:rPr>
                <a:t>可解释预测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13960" y="45948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证据、风险、适配、备选项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3810000"/>
              <a:ext cx="2781300" cy="1200150"/>
            </a:xfrm>
            <a:prstGeom prst="roundRect">
              <a:avLst>
                <a:gd name="adj" fmla="val 12698"/>
              </a:avLst>
            </a:prstGeom>
            <a:solidFill>
              <a:srgbClr val="142231"/>
            </a:solidFill>
            <a:ln w="9525">
              <a:solidFill>
                <a:srgbClr val="FFD16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52656" y="4140994"/>
              <a:ext cx="241299" cy="286543"/>
              <a:chOff x="8552656" y="4140994"/>
              <a:chExt cx="241299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88387" y="4140994"/>
                <a:ext cx="75406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75406" h="75406">
                    <a:moveTo>
                      <a:pt x="0" y="0"/>
                    </a:moveTo>
                    <a:lnTo>
                      <a:pt x="0" y="60325"/>
                    </a:lnTo>
                    <a:cubicBezTo>
                      <a:pt x="0" y="68654"/>
                      <a:pt x="6752" y="75406"/>
                      <a:pt x="15081" y="75406"/>
                    </a:cubicBezTo>
                    <a:lnTo>
                      <a:pt x="75406" y="75406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52656" y="4140994"/>
                <a:ext cx="241299" cy="286543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86543">
                    <a:moveTo>
                      <a:pt x="98028" y="271462"/>
                    </a:moveTo>
                    <a:lnTo>
                      <a:pt x="30162" y="271462"/>
                    </a:lnTo>
                    <a:cubicBezTo>
                      <a:pt x="13504" y="271462"/>
                      <a:pt x="0" y="257958"/>
                      <a:pt x="0" y="241299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35731" y="0"/>
                    </a:lnTo>
                    <a:lnTo>
                      <a:pt x="211137" y="75406"/>
                    </a:lnTo>
                    <a:lnTo>
                      <a:pt x="211137" y="150812"/>
                    </a:lnTo>
                    <a:moveTo>
                      <a:pt x="135731" y="241299"/>
                    </a:moveTo>
                    <a:lnTo>
                      <a:pt x="241299" y="241299"/>
                    </a:lnTo>
                    <a:moveTo>
                      <a:pt x="196056" y="196056"/>
                    </a:moveTo>
                    <a:lnTo>
                      <a:pt x="241299" y="241299"/>
                    </a:lnTo>
                    <a:lnTo>
                      <a:pt x="196056" y="286543"/>
                    </a:lnTo>
                  </a:path>
                </a:pathLst>
              </a:custGeom>
              <a:noFill/>
              <a:ln w="19050">
                <a:solidFill>
                  <a:srgbClr val="FFD16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84932" y="4143851"/>
              <a:ext cx="14691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D166"/>
                  </a:solidFill>
                  <a:latin typeface="Arial"/>
                  <a:ea typeface="Microsoft YaHei"/>
                  <a:cs typeface="Arial"/>
                </a:rPr>
                <a:t>可提交系统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010" y="4594860"/>
              <a:ext cx="2038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PPT、brief、JSON、答题卡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57300" y="5429250"/>
            <a:ext cx="9677400" cy="476250"/>
            <a:chOff x="1257300" y="5429250"/>
            <a:chExt cx="9677400" cy="476250"/>
          </a:xfrm>
        </p:grpSpPr>
        <p:sp>
          <p:nvSpPr>
            <p:cNvPr id="30" name="Rectangle 30"/>
            <p:cNvSpPr/>
            <p:nvPr/>
          </p:nvSpPr>
          <p:spPr>
            <a:xfrm>
              <a:off x="1257300" y="5429250"/>
              <a:ext cx="9677400" cy="476250"/>
            </a:xfrm>
            <a:prstGeom prst="roundRect">
              <a:avLst>
                <a:gd name="adj" fmla="val 20000"/>
              </a:avLst>
            </a:prstGeom>
            <a:solidFill>
              <a:srgbClr val="142231"/>
            </a:solidFill>
            <a:ln w="9525">
              <a:solidFill>
                <a:srgbClr val="284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61148" y="55640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7F2FF"/>
                  </a:solidFill>
                  <a:latin typeface="Arial"/>
                  <a:ea typeface="Microsoft YaHei"/>
                  <a:cs typeface="Arial"/>
                </a:rPr>
                <a:t>一句话总结：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80348" y="556402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4A8BC"/>
                  </a:solidFill>
                  <a:latin typeface="Arial"/>
                  <a:ea typeface="Microsoft YaHei"/>
                  <a:cs typeface="Arial"/>
                </a:rPr>
                <a:t>让预测结果能被解释、被审计，并按比赛要求稳定提交。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95312" y="629840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dirty="0">
                <a:solidFill>
                  <a:srgbClr val="94A8BC"/>
                </a:solidFill>
                <a:latin typeface="Consolas"/>
                <a:ea typeface="Consolas"/>
                <a:cs typeface="Consolas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2026-06-23T16:28:29Z</dcterms:created>
  <dcterms:modified xsi:type="dcterms:W3CDTF">2026-06-23T16:28:29Z</dcterms:modified>
  <cp:category/>
  <cp:contentStatus/>
</cp:coreProperties>
</file>